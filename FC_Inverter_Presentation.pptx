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Today, we'll dive into the design and analysis of an 800-volt three-level flying capacitor traction inverter. This work explores how vehicle architecture drives inverter design choices, focusing on comprehensive loss analysis. We'll see how specific design decisions lead to significant performance improvements. Let's start by understanding why 800V is becoming the new standard in electric vehicles.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Alright, so before we dive into the specifics, let's quickly outline what this project is all about. We're focusing on an EV traction inverter, where the fundamental frequency isn't constant; it changes with vehicle speed. This means we have high current at low fundamental frequencies during city driving, and lower current but higher fundamental frequencies on the highway. We'll explore how we can adapt the switching frequency to these conditions, rather than just keeping it constant. Our main goal is to compare the junction temperature of the semiconductors when using an adaptive switching frequency versus a constant 20 kHz. We'll also be looking at the output current waveforms and ensuring our Total Harmonic Distortion, or THD, meets expectations. This project uses an 800V DC bus and an RL load, and we're specifically working with a three-level inverter.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are we seeing this shift to 800V architectures in electric vehicles? The core reason is simple: it enables ultra-fast charging, cutting typical charge times from 45 minutes down to under 20 minutes. This higher voltage also dramatically reduces I²R losses by 75% across the entire powertrain, because we're halving the current for the same power. And, a big bonus for vehicle manufacturers, it allows for 50% less copper, saving about 10 to 15 kilograms in vehicle weight. Major players like Porsche, Hyundai, and GM are already adopting 800V, but this higher voltage introduces a significant challenge: increased dv/dt stress on motor insulation, which demands advanced inverter topologies.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increased dv/dt stress is a critical problem for 800V systems. A traditional two-level inverter switching 800V in under 50 nanoseconds creates dv/dt spikes exceeding 16 kilovolts per microsecond. This is over 13 times the typical motor insulation rating of 1200 volts per microsecond, leading to rapid insulation breakdown within just 1000 hours. Our solution is a three-level topology, which reduces the voltage step to 400V, effectively halving the dv/dt to around 8 kilovolts per microsecond. This not only protects the motor but also improves output waveform quality, reducing THD and EMI, and allowing for a smaller output filter. Now, let's look at which three-level topology is best suited for this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considering three-level topologies, we often compare the Neutral Point Clamped, or NPC, with the Flying Capacitor, or FC, inverter. For traction applications, the NPC has some key limitations: it suffers from unequal loss distribution, leading to asymmetric heating and complex cooling. Plus, maintaining neutral point balance under dynamic EV loads is a real control challenge. The Flying Capacitor topology, however, offers significant advantages. All four switches block an identical voltage of 400V, ensuring symmetric thermal stress. Crucially, its redundant switching states enable natural capacitor balancing, even with varying power factors. The main trade-off is the need for a bulky capacitor and a pre-charge circuit, but this is generally acceptable in modern EVs. This makes the FC topology a strong candidate, so let's explore its switching states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see the basic structure of a single phase leg of the Flying Capacitor inverter. Each leg uses four switches and a flying capacitor, which bridges the inner junctions. This configuration allows us to synthesize three distinct output voltage levels: positive Vdc, zero, and negative Vdc. A key feature of the FC is its redundant zero states. For example, we can achieve zero volts by either charging or discharging the flying capacitor. We use Phase Disposition PWM, or PD-PWM, to actively select between these redundant zero states based on the phase current direction. This ensures the flying capacitor voltage remains precisely at Vdc/2. Before any active switching, a pre-charge is required to ramp the flying capacitor voltage to 400V. Now, let's move on to the specific component selections for this inverter.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we've established the FC topology, let's talk about the specific components we selected. We chose a 1200V, 450A SiC module from Wolfspeed. This provides a 50% voltage margin and a 3.3x current margin over our operating requirements, ensuring robust performance. We went with SiC over Si IGBTs because it offers ten times lower switching energy and eliminates tail current, which is crucial for efficient 20 kHz operation. For the flying capacitor, our calculations showed we needed 680 microfarads. We picked a polypropylene film capacitor for its low ESR, high ripple current capability, and automotive-grade reliability. Next, we'll see how these components perform under real-world vehicle operating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our component selection, we then mapped the vehicle's architecture to the inverter's operating points. The drivetrain parameters, like the 8.19 gear ratio and 0.315-meter tire radius, directly influence the electrical frequency. We found that urban driving at 40 kilometers per hour results in a 184 Hz electrical frequency and a peak current of 136 amps. This represents the highest thermal stress point for the inverter. Conversely, highway driving at 120 kilometers per hour leads to a 552 Hz electrical frequency and a much lower peak current of 51 amps. This mapping helps us understand the varying demands on the inverter across different driving scenarios, which is critical for optimizing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Understanding these operating points from the previous slide, we then analyzed the switching losses. Using the Graovac-Purschel method, we found that at a fixed 20 kHz switching frequency, urban driving results in 84.3 watts of switching loss per phase, compared to only 51.5 watts of conduction loss. This means switching losses dominate, accounting for 63% of the total. The key insight here is that 20 kHz is simply overkill for urban driving, where the fundamental electrical frequency is only 184 Hz. A carrier ratio of 27, achievable with a 5 kHz switching frequency, is more than enough to maintain excellent THD. This suggests a significant opportunity for loss reduction, which we'll explore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Given the insights from our loss analysis, we developed an adaptive switching frequency schedule. For urban driving below 60 kilometers per hour, we drop the switching frequency to 5 kHz. Between 60 and 90 kilometers per hour, we use 10 kHz, and for highway speeds above 90 kilometers per hour, we maintain 20 kHz. This adaptive approach yields a massive 75% reduction in switching losses during urban driving, dropping from 84.3 watts to just 21.1 watts per phase. This translates to a total 3-phase saving of 190 watts at 40 kilometers per hour, directly extending EV range. Importantly, our THD remains excellent, even at 5 kHz. This intelligent scheduling dramatically improves efficiency, and we'll now look at its thermal implications.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the real-world impact of that adaptive schedule. This intelligent frequency adjustment significantly reduces the junction temperature, especially during urban driving. We see a 9.7 degree Celsius drop in junction temperature, going from 63.2 to 53.5 degrees Celsius, just by switching from a fixed 20 kHz to an adaptive 5 kHz. Even more dramatically, at peak torque, the junction temperature drops by 16.2 degrees Celsius. This reduction in thermal cycling, by 53%, directly translates to a much longer lifespan for our power module, as predicted by the Coffin-Manson model. And importantly, all operating points remain well below the 175 degree Celsius maximum junction temperature, giving us over 100 degrees of thermal margin. This thermal improvement is a critical benefit for reliability, and it's something we've confirmed through detailed simulations, which I'll discuss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know this all works as intended? We've validated our design through extensive time-domain simulations. These simulations confirm that our inverter successfully synthesizes a three-level output voltage, both at urban and highway speeds. The phase currents are clean sinusoids, with a total harmonic distortion below 2 percent, which is excellent. We also see that the flying capacitor voltage is perfectly maintained at 400 volts, with a very small mean error of just plus or minus 0.04 volts. The simulated ripple of 18 volts closely matches our analytical budget of 20 volts, showing strong agreement between theory and practice. We also confirmed the pre-charge transient, with a smooth 20-millisecond linear ramp to 400 volts before active switching begins. This gives us high confidence in the design. Now, let's wrap things up with a summary of our key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our architecture-driven design for an 800-volt three-level flying capacitor traction inverter delivers significant advantages. The 800-volt architecture itself is crucial for ultra-fast charging, reduced cable weight, and overall system efficiency. We chose the flying capacitor topology for its superior thermal symmetry and natural balancing, which is essential for dynamic EV loads. Our adaptive switching frequency schedule is a game-changer, achieving a 75 percent reduction in switching losses during urban driving, saving 190 watts across three phases. This translates directly to a 9.7 degree Celsius reduction in junction temperature and 53 percent less thermal cycling, significantly extending the power module's lifetime. All our metrics are validated: THD is below 2 percent, FC balance error is less than 0.04 volts, and junction temperatures remain well below 54 degrees Celsius, providing over 120 degrees of thermal margin. Our next step is to experimentally validate these findings on a hardware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1581280"/>
            <a:ext cx="8001000" cy="920093"/>
          </a:xfrm>
          <a:prstGeom prst="rect">
            <a:avLst/>
          </a:prstGeom>
          <a:noFill/>
          <a:ln/>
        </p:spPr>
        <p:txBody>
          <a:bodyPr wrap="square" lIns="0" tIns="0" rIns="0" bIns="0" rtlCol="0" anchor="t">
            <a:spAutoFit/>
          </a:bodyPr>
          <a:lstStyle/>
          <a:p>
            <a:pPr algn="l" indent="0" marL="0">
              <a:lnSpc>
                <a:spcPct val="92000"/>
              </a:lnSpc>
              <a:buNone/>
            </a:pPr>
            <a:r>
              <a:rPr lang="en-US" sz="2850" b="1" dirty="0">
                <a:solidFill>
                  <a:srgbClr val="000000"/>
                </a:solidFill>
                <a:latin typeface="Inter Bold" pitchFamily="34" charset="0"/>
                <a:ea typeface="Inter Bold" pitchFamily="34" charset="-122"/>
                <a:cs typeface="Inter Bold" pitchFamily="34" charset="-120"/>
              </a:rPr>
              <a:t>800V Three-Level Flying Capacitor Traction Inverter</a:t>
            </a:r>
            <a:endParaRPr lang="en-US" sz="2850" dirty="0"/>
          </a:p>
        </p:txBody>
      </p:sp>
      <p:sp>
        <p:nvSpPr>
          <p:cNvPr id="5" name="Text 1"/>
          <p:cNvSpPr/>
          <p:nvPr/>
        </p:nvSpPr>
        <p:spPr>
          <a:xfrm>
            <a:off x="571500" y="2672823"/>
            <a:ext cx="8001000" cy="207169"/>
          </a:xfrm>
          <a:prstGeom prst="rect">
            <a:avLst/>
          </a:prstGeom>
          <a:noFill/>
          <a:ln/>
        </p:spPr>
        <p:txBody>
          <a:bodyPr wrap="square" lIns="0" tIns="0" rIns="0" bIns="0" rtlCol="0" anchor="t">
            <a:spAutoFit/>
          </a:bodyPr>
          <a:lstStyle/>
          <a:p>
            <a:pPr algn="l" indent="0" marL="0">
              <a:buNone/>
            </a:pPr>
            <a:r>
              <a:rPr lang="en-US" sz="1250" dirty="0">
                <a:solidFill>
                  <a:srgbClr val="333333"/>
                </a:solidFill>
                <a:latin typeface="Inter" pitchFamily="34" charset="0"/>
                <a:ea typeface="Inter" pitchFamily="34" charset="-122"/>
                <a:cs typeface="Inter" pitchFamily="34" charset="-120"/>
              </a:rPr>
              <a:t>Design and Comprehensive Loss Analysis</a:t>
            </a:r>
            <a:endParaRPr lang="en-US" sz="1250" dirty="0"/>
          </a:p>
        </p:txBody>
      </p:sp>
      <p:sp>
        <p:nvSpPr>
          <p:cNvPr id="6" name="Text 2"/>
          <p:cNvSpPr/>
          <p:nvPr/>
        </p:nvSpPr>
        <p:spPr>
          <a:xfrm>
            <a:off x="571500" y="3222892"/>
            <a:ext cx="8001000" cy="173236"/>
          </a:xfrm>
          <a:prstGeom prst="rect">
            <a:avLst/>
          </a:prstGeom>
          <a:noFill/>
          <a:ln/>
        </p:spPr>
        <p:txBody>
          <a:bodyPr wrap="square" lIns="0" tIns="0" rIns="0" bIns="0" rtlCol="0" anchor="t">
            <a:spAutoFit/>
          </a:bodyPr>
          <a:lstStyle/>
          <a:p>
            <a:pPr algn="l" indent="0" marL="0">
              <a:buNone/>
            </a:pPr>
            <a:r>
              <a:rPr lang="en-US" sz="1000" b="1" dirty="0">
                <a:solidFill>
                  <a:srgbClr val="000000"/>
                </a:solidFill>
                <a:latin typeface="Inter Bold" pitchFamily="34" charset="0"/>
                <a:ea typeface="Inter Bold" pitchFamily="34" charset="-122"/>
                <a:cs typeface="Inter Bold" pitchFamily="34" charset="-120"/>
              </a:rPr>
              <a:t>Hayagreev S.</a:t>
            </a:r>
            <a:endParaRPr lang="en-US" sz="1000" dirty="0"/>
          </a:p>
        </p:txBody>
      </p:sp>
      <p:sp>
        <p:nvSpPr>
          <p:cNvPr id="7" name="Text 3"/>
          <p:cNvSpPr/>
          <p:nvPr/>
        </p:nvSpPr>
        <p:spPr>
          <a:xfrm>
            <a:off x="571500" y="3424703"/>
            <a:ext cx="8001000" cy="137517"/>
          </a:xfrm>
          <a:prstGeom prst="rect">
            <a:avLst/>
          </a:prstGeom>
          <a:noFill/>
          <a:ln/>
        </p:spPr>
        <p:txBody>
          <a:bodyPr wrap="square" lIns="0" tIns="0" rIns="0" bIns="0" rtlCol="0" anchor="t">
            <a:spAutoFit/>
          </a:bodyPr>
          <a:lstStyle/>
          <a:p>
            <a:pPr algn="l" indent="0" marL="0">
              <a:buNone/>
            </a:pPr>
            <a:r>
              <a:rPr lang="en-US" sz="850" dirty="0">
                <a:solidFill>
                  <a:srgbClr val="333333"/>
                </a:solidFill>
                <a:latin typeface="Inter" pitchFamily="34" charset="0"/>
                <a:ea typeface="Inter" pitchFamily="34" charset="-122"/>
                <a:cs typeface="Inter" pitchFamily="34" charset="-120"/>
              </a:rPr>
              <a:t>ECE 595 - Purdue University</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572500" cy="207169"/>
          </a:xfrm>
          <a:prstGeom prst="rect">
            <a:avLst/>
          </a:prstGeom>
          <a:noFill/>
          <a:ln/>
        </p:spPr>
        <p:txBody>
          <a:bodyPr wrap="square" lIns="0" tIns="102108" rIns="0" bIns="0" rtlCol="0" anchor="t">
            <a:spAutoFit/>
          </a:bodyPr>
          <a:lstStyle/>
          <a:p>
            <a:pPr algn="l" indent="0" marL="0">
              <a:buNone/>
            </a:pPr>
            <a:r>
              <a:rPr lang="en-US" sz="700" dirty="0">
                <a:solidFill>
                  <a:srgbClr val="2563EB"/>
                </a:solidFill>
                <a:latin typeface="Inter SemiBold" pitchFamily="34" charset="0"/>
                <a:ea typeface="Inter SemiBold" pitchFamily="34" charset="-122"/>
                <a:cs typeface="Inter SemiBold" pitchFamily="34" charset="-120"/>
              </a:rPr>
              <a:t>ECE 595 — PURDUE UNIVERSITY</a:t>
            </a:r>
            <a:endParaRPr lang="en-US" sz="700" dirty="0"/>
          </a:p>
        </p:txBody>
      </p:sp>
      <p:sp>
        <p:nvSpPr>
          <p:cNvPr id="5" name="Text 1"/>
          <p:cNvSpPr/>
          <p:nvPr/>
        </p:nvSpPr>
        <p:spPr>
          <a:xfrm>
            <a:off x="571500" y="207169"/>
            <a:ext cx="8001000" cy="617209"/>
          </a:xfrm>
          <a:prstGeom prst="rect">
            <a:avLst/>
          </a:prstGeom>
          <a:noFill/>
          <a:ln/>
        </p:spPr>
        <p:txBody>
          <a:bodyPr wrap="square" lIns="0" tIns="42519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Project Overview</a:t>
            </a:r>
            <a:endParaRPr lang="en-US" sz="1400" dirty="0"/>
          </a:p>
        </p:txBody>
      </p:sp>
      <p:sp>
        <p:nvSpPr>
          <p:cNvPr id="6" name="Text 2"/>
          <p:cNvSpPr/>
          <p:nvPr/>
        </p:nvSpPr>
        <p:spPr>
          <a:xfrm>
            <a:off x="571500" y="1158348"/>
            <a:ext cx="1494830"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In an EV traction inverter, the</a:t>
            </a:r>
            <a:endParaRPr lang="en-US" sz="800" dirty="0"/>
          </a:p>
        </p:txBody>
      </p:sp>
      <p:sp>
        <p:nvSpPr>
          <p:cNvPr id="7" name="Text 3"/>
          <p:cNvSpPr/>
          <p:nvPr/>
        </p:nvSpPr>
        <p:spPr>
          <a:xfrm>
            <a:off x="2066330" y="1158348"/>
            <a:ext cx="1828800"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fundamental frequency is not fixed</a:t>
            </a:r>
            <a:endParaRPr lang="en-US" sz="750" dirty="0"/>
          </a:p>
        </p:txBody>
      </p:sp>
      <p:sp>
        <p:nvSpPr>
          <p:cNvPr id="8" name="Text 4"/>
          <p:cNvSpPr/>
          <p:nvPr/>
        </p:nvSpPr>
        <p:spPr>
          <a:xfrm>
            <a:off x="3895130" y="1158348"/>
            <a:ext cx="812602"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 it follows the</a:t>
            </a:r>
            <a:endParaRPr lang="en-US" sz="800" dirty="0"/>
          </a:p>
        </p:txBody>
      </p:sp>
      <p:sp>
        <p:nvSpPr>
          <p:cNvPr id="9" name="Text 5"/>
          <p:cNvSpPr/>
          <p:nvPr/>
        </p:nvSpPr>
        <p:spPr>
          <a:xfrm>
            <a:off x="571500" y="1340514"/>
            <a:ext cx="3689747"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vehicle operating condition because it is directly tied to motor speed via</a:t>
            </a:r>
            <a:endParaRPr lang="en-US" sz="800" dirty="0"/>
          </a:p>
        </p:txBody>
      </p:sp>
      <p:sp>
        <p:nvSpPr>
          <p:cNvPr id="10" name="Text 6"/>
          <p:cNvSpPr/>
          <p:nvPr/>
        </p:nvSpPr>
        <p:spPr>
          <a:xfrm>
            <a:off x="4261247" y="1340514"/>
            <a:ext cx="42863"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f</a:t>
            </a:r>
            <a:endParaRPr lang="en-US" sz="750" dirty="0"/>
          </a:p>
        </p:txBody>
      </p:sp>
      <p:sp>
        <p:nvSpPr>
          <p:cNvPr id="11" name="Text 7"/>
          <p:cNvSpPr/>
          <p:nvPr/>
        </p:nvSpPr>
        <p:spPr>
          <a:xfrm>
            <a:off x="4304109" y="1381590"/>
            <a:ext cx="53578" cy="107156"/>
          </a:xfrm>
          <a:prstGeom prst="rect">
            <a:avLst/>
          </a:prstGeom>
          <a:noFill/>
          <a:ln/>
        </p:spPr>
        <p:txBody>
          <a:bodyPr wrap="none" lIns="0" tIns="0" rIns="0" bIns="0" rtlCol="0" anchor="t">
            <a:spAutoFit/>
          </a:bodyPr>
          <a:lstStyle/>
          <a:p>
            <a:pPr algn="l" indent="0" marL="0">
              <a:lnSpc>
                <a:spcPct val="136000"/>
              </a:lnSpc>
              <a:buNone/>
            </a:pPr>
            <a:r>
              <a:rPr lang="en-US" sz="600" b="1" baseline="-40000" dirty="0">
                <a:solidFill>
                  <a:srgbClr val="000000"/>
                </a:solidFill>
                <a:latin typeface="Inter Bold" pitchFamily="34" charset="0"/>
                <a:ea typeface="Inter Bold" pitchFamily="34" charset="-122"/>
                <a:cs typeface="Inter Bold" pitchFamily="34" charset="-120"/>
              </a:rPr>
              <a:t>e</a:t>
            </a:r>
            <a:endParaRPr lang="en-US" sz="600" dirty="0"/>
          </a:p>
        </p:txBody>
      </p:sp>
      <p:sp>
        <p:nvSpPr>
          <p:cNvPr id="12" name="Text 8"/>
          <p:cNvSpPr/>
          <p:nvPr/>
        </p:nvSpPr>
        <p:spPr>
          <a:xfrm>
            <a:off x="571500" y="1340514"/>
            <a:ext cx="4170164" cy="326827"/>
          </a:xfrm>
          <a:prstGeom prst="rect">
            <a:avLst/>
          </a:prstGeom>
          <a:noFill/>
          <a:ln/>
        </p:spPr>
        <p:txBody>
          <a:bodyPr wrap="squar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 (P/2) · n</a:t>
            </a:r>
            <a:endParaRPr lang="en-US" sz="750" dirty="0"/>
          </a:p>
        </p:txBody>
      </p:sp>
      <p:sp>
        <p:nvSpPr>
          <p:cNvPr id="13" name="Text 9"/>
          <p:cNvSpPr/>
          <p:nvPr/>
        </p:nvSpPr>
        <p:spPr>
          <a:xfrm>
            <a:off x="698302" y="1579829"/>
            <a:ext cx="242888" cy="107156"/>
          </a:xfrm>
          <a:prstGeom prst="rect">
            <a:avLst/>
          </a:prstGeom>
          <a:noFill/>
          <a:ln/>
        </p:spPr>
        <p:txBody>
          <a:bodyPr wrap="none" lIns="0" tIns="0" rIns="0" bIns="0" rtlCol="0" anchor="t">
            <a:spAutoFit/>
          </a:bodyPr>
          <a:lstStyle/>
          <a:p>
            <a:pPr algn="l" indent="0" marL="0">
              <a:lnSpc>
                <a:spcPct val="136000"/>
              </a:lnSpc>
              <a:buNone/>
            </a:pPr>
            <a:r>
              <a:rPr lang="en-US" sz="600" b="1" baseline="-40000" dirty="0">
                <a:solidFill>
                  <a:srgbClr val="000000"/>
                </a:solidFill>
                <a:latin typeface="Inter Bold" pitchFamily="34" charset="0"/>
                <a:ea typeface="Inter Bold" pitchFamily="34" charset="-122"/>
                <a:cs typeface="Inter Bold" pitchFamily="34" charset="-120"/>
              </a:rPr>
              <a:t>mech</a:t>
            </a:r>
            <a:endParaRPr lang="en-US" sz="600" dirty="0"/>
          </a:p>
        </p:txBody>
      </p:sp>
      <p:sp>
        <p:nvSpPr>
          <p:cNvPr id="14" name="Text 10"/>
          <p:cNvSpPr/>
          <p:nvPr/>
        </p:nvSpPr>
        <p:spPr>
          <a:xfrm>
            <a:off x="941189" y="1538753"/>
            <a:ext cx="232172"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 60</a:t>
            </a:r>
            <a:endParaRPr lang="en-US" sz="750" dirty="0"/>
          </a:p>
        </p:txBody>
      </p:sp>
      <p:sp>
        <p:nvSpPr>
          <p:cNvPr id="15" name="Text 11"/>
          <p:cNvSpPr/>
          <p:nvPr/>
        </p:nvSpPr>
        <p:spPr>
          <a:xfrm>
            <a:off x="1173361" y="1538753"/>
            <a:ext cx="30361"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a:t>
            </a:r>
            <a:endParaRPr lang="en-US" sz="800" dirty="0"/>
          </a:p>
        </p:txBody>
      </p:sp>
      <p:sp>
        <p:nvSpPr>
          <p:cNvPr id="16" name="Text 12"/>
          <p:cNvSpPr/>
          <p:nvPr/>
        </p:nvSpPr>
        <p:spPr>
          <a:xfrm>
            <a:off x="571500" y="1837004"/>
            <a:ext cx="342900"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Under</a:t>
            </a:r>
            <a:endParaRPr lang="en-US" sz="800" dirty="0"/>
          </a:p>
        </p:txBody>
      </p:sp>
      <p:sp>
        <p:nvSpPr>
          <p:cNvPr id="17" name="Text 13"/>
          <p:cNvSpPr/>
          <p:nvPr/>
        </p:nvSpPr>
        <p:spPr>
          <a:xfrm>
            <a:off x="914400" y="1837004"/>
            <a:ext cx="587573"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city driving</a:t>
            </a:r>
            <a:endParaRPr lang="en-US" sz="750" dirty="0"/>
          </a:p>
        </p:txBody>
      </p:sp>
      <p:sp>
        <p:nvSpPr>
          <p:cNvPr id="18" name="Text 14"/>
          <p:cNvSpPr/>
          <p:nvPr/>
        </p:nvSpPr>
        <p:spPr>
          <a:xfrm>
            <a:off x="1501973" y="1837004"/>
            <a:ext cx="1523405"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 the inverter operates at low f</a:t>
            </a:r>
            <a:endParaRPr lang="en-US" sz="800" dirty="0"/>
          </a:p>
        </p:txBody>
      </p:sp>
      <p:sp>
        <p:nvSpPr>
          <p:cNvPr id="19" name="Text 15"/>
          <p:cNvSpPr/>
          <p:nvPr/>
        </p:nvSpPr>
        <p:spPr>
          <a:xfrm>
            <a:off x="3025378" y="1878081"/>
            <a:ext cx="51792" cy="107156"/>
          </a:xfrm>
          <a:prstGeom prst="rect">
            <a:avLst/>
          </a:prstGeom>
          <a:noFill/>
          <a:ln/>
        </p:spPr>
        <p:txBody>
          <a:bodyPr wrap="none" lIns="0" tIns="0" rIns="0" bIns="0" rtlCol="0" anchor="t">
            <a:spAutoFit/>
          </a:bodyPr>
          <a:lstStyle/>
          <a:p>
            <a:pPr algn="l" indent="0" marL="0">
              <a:lnSpc>
                <a:spcPct val="136000"/>
              </a:lnSpc>
              <a:buNone/>
            </a:pPr>
            <a:r>
              <a:rPr lang="en-US" sz="650" baseline="-40000" dirty="0">
                <a:solidFill>
                  <a:srgbClr val="333333"/>
                </a:solidFill>
                <a:latin typeface="Inter" pitchFamily="34" charset="0"/>
                <a:ea typeface="Inter" pitchFamily="34" charset="-122"/>
                <a:cs typeface="Inter" pitchFamily="34" charset="-120"/>
              </a:rPr>
              <a:t>e</a:t>
            </a:r>
            <a:endParaRPr lang="en-US" sz="650" dirty="0"/>
          </a:p>
        </p:txBody>
      </p:sp>
      <p:sp>
        <p:nvSpPr>
          <p:cNvPr id="20" name="Text 16"/>
          <p:cNvSpPr/>
          <p:nvPr/>
        </p:nvSpPr>
        <p:spPr>
          <a:xfrm>
            <a:off x="3077170" y="1837004"/>
            <a:ext cx="1260872"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with high current. Under</a:t>
            </a:r>
            <a:endParaRPr lang="en-US" sz="800" dirty="0"/>
          </a:p>
        </p:txBody>
      </p:sp>
      <p:sp>
        <p:nvSpPr>
          <p:cNvPr id="21" name="Text 17"/>
          <p:cNvSpPr/>
          <p:nvPr/>
        </p:nvSpPr>
        <p:spPr>
          <a:xfrm>
            <a:off x="571500" y="2035243"/>
            <a:ext cx="835819"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highway driving</a:t>
            </a:r>
            <a:endParaRPr lang="en-US" sz="750" dirty="0"/>
          </a:p>
        </p:txBody>
      </p:sp>
      <p:sp>
        <p:nvSpPr>
          <p:cNvPr id="22" name="Text 18"/>
          <p:cNvSpPr/>
          <p:nvPr/>
        </p:nvSpPr>
        <p:spPr>
          <a:xfrm>
            <a:off x="1407319" y="2035243"/>
            <a:ext cx="100013"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 f</a:t>
            </a:r>
            <a:endParaRPr lang="en-US" sz="800" dirty="0"/>
          </a:p>
        </p:txBody>
      </p:sp>
      <p:sp>
        <p:nvSpPr>
          <p:cNvPr id="23" name="Text 19"/>
          <p:cNvSpPr/>
          <p:nvPr/>
        </p:nvSpPr>
        <p:spPr>
          <a:xfrm>
            <a:off x="1507331" y="2076320"/>
            <a:ext cx="51792" cy="107156"/>
          </a:xfrm>
          <a:prstGeom prst="rect">
            <a:avLst/>
          </a:prstGeom>
          <a:noFill/>
          <a:ln/>
        </p:spPr>
        <p:txBody>
          <a:bodyPr wrap="none" lIns="0" tIns="0" rIns="0" bIns="0" rtlCol="0" anchor="t">
            <a:spAutoFit/>
          </a:bodyPr>
          <a:lstStyle/>
          <a:p>
            <a:pPr algn="l" indent="0" marL="0">
              <a:lnSpc>
                <a:spcPct val="136000"/>
              </a:lnSpc>
              <a:buNone/>
            </a:pPr>
            <a:r>
              <a:rPr lang="en-US" sz="650" baseline="-40000" dirty="0">
                <a:solidFill>
                  <a:srgbClr val="333333"/>
                </a:solidFill>
                <a:latin typeface="Inter" pitchFamily="34" charset="0"/>
                <a:ea typeface="Inter" pitchFamily="34" charset="-122"/>
                <a:cs typeface="Inter" pitchFamily="34" charset="-120"/>
              </a:rPr>
              <a:t>e</a:t>
            </a:r>
            <a:endParaRPr lang="en-US" sz="650" dirty="0"/>
          </a:p>
        </p:txBody>
      </p:sp>
      <p:sp>
        <p:nvSpPr>
          <p:cNvPr id="24" name="Text 20"/>
          <p:cNvSpPr/>
          <p:nvPr/>
        </p:nvSpPr>
        <p:spPr>
          <a:xfrm>
            <a:off x="1559123" y="2035243"/>
            <a:ext cx="1759148"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is higher but current is lower. The</a:t>
            </a:r>
            <a:endParaRPr lang="en-US" sz="800" dirty="0"/>
          </a:p>
        </p:txBody>
      </p:sp>
      <p:sp>
        <p:nvSpPr>
          <p:cNvPr id="25" name="Text 21"/>
          <p:cNvSpPr/>
          <p:nvPr/>
        </p:nvSpPr>
        <p:spPr>
          <a:xfrm>
            <a:off x="3318272" y="2035243"/>
            <a:ext cx="1289447"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switching frequency can</a:t>
            </a:r>
            <a:endParaRPr lang="en-US" sz="750" dirty="0"/>
          </a:p>
        </p:txBody>
      </p:sp>
      <p:sp>
        <p:nvSpPr>
          <p:cNvPr id="26" name="Text 22"/>
          <p:cNvSpPr/>
          <p:nvPr/>
        </p:nvSpPr>
        <p:spPr>
          <a:xfrm>
            <a:off x="571500" y="2233482"/>
            <a:ext cx="948333"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also be scheduled</a:t>
            </a:r>
            <a:endParaRPr lang="en-US" sz="750" dirty="0"/>
          </a:p>
        </p:txBody>
      </p:sp>
      <p:sp>
        <p:nvSpPr>
          <p:cNvPr id="27" name="Text 23"/>
          <p:cNvSpPr/>
          <p:nvPr/>
        </p:nvSpPr>
        <p:spPr>
          <a:xfrm>
            <a:off x="1519833" y="2233482"/>
            <a:ext cx="3020020"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according to operating condition rather than kept constant,</a:t>
            </a:r>
            <a:endParaRPr lang="en-US" sz="800" dirty="0"/>
          </a:p>
        </p:txBody>
      </p:sp>
      <p:sp>
        <p:nvSpPr>
          <p:cNvPr id="28" name="Text 24"/>
          <p:cNvSpPr/>
          <p:nvPr/>
        </p:nvSpPr>
        <p:spPr>
          <a:xfrm>
            <a:off x="571500" y="2415648"/>
            <a:ext cx="4052292"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balancing efficiency, torque quality, and switching stress across the drive cycle.</a:t>
            </a:r>
            <a:endParaRPr lang="en-US" sz="800" dirty="0"/>
          </a:p>
        </p:txBody>
      </p:sp>
      <p:sp>
        <p:nvSpPr>
          <p:cNvPr id="29" name="Shape 25"/>
          <p:cNvSpPr/>
          <p:nvPr/>
        </p:nvSpPr>
        <p:spPr>
          <a:xfrm>
            <a:off x="571500" y="2713899"/>
            <a:ext cx="4211938" cy="680052"/>
          </a:xfrm>
          <a:prstGeom prst="rect">
            <a:avLst/>
          </a:prstGeom>
          <a:solidFill>
            <a:srgbClr val="F5F5F5"/>
          </a:solidFill>
          <a:ln/>
        </p:spPr>
      </p:sp>
      <p:sp>
        <p:nvSpPr>
          <p:cNvPr id="30" name="Shape 26"/>
          <p:cNvSpPr/>
          <p:nvPr/>
        </p:nvSpPr>
        <p:spPr>
          <a:xfrm>
            <a:off x="571500" y="2713899"/>
            <a:ext cx="28575" cy="680052"/>
          </a:xfrm>
          <a:prstGeom prst="rect">
            <a:avLst/>
          </a:prstGeom>
          <a:solidFill>
            <a:srgbClr val="2563EB"/>
          </a:solidFill>
          <a:ln/>
        </p:spPr>
      </p:sp>
      <p:sp>
        <p:nvSpPr>
          <p:cNvPr id="31" name="Text 27"/>
          <p:cNvSpPr/>
          <p:nvPr/>
        </p:nvSpPr>
        <p:spPr>
          <a:xfrm>
            <a:off x="571500" y="2713899"/>
            <a:ext cx="4211938" cy="680052"/>
          </a:xfrm>
          <a:prstGeom prst="rect">
            <a:avLst/>
          </a:prstGeom>
          <a:noFill/>
          <a:ln/>
        </p:spPr>
        <p:txBody>
          <a:bodyPr wrap="square" lIns="153035" tIns="119126" rIns="153035" bIns="119126" rtlCol="0" anchor="t">
            <a:spAutoFit/>
          </a:bodyPr>
          <a:lstStyle/>
          <a:p>
            <a:pPr algn="l" indent="0" marL="0">
              <a:lnSpc>
                <a:spcPct val="128000"/>
              </a:lnSpc>
              <a:buNone/>
            </a:pPr>
            <a:r>
              <a:rPr lang="en-US" sz="700" b="1" dirty="0">
                <a:solidFill>
                  <a:srgbClr val="000000"/>
                </a:solidFill>
                <a:latin typeface="Inter Bold" pitchFamily="34" charset="0"/>
                <a:ea typeface="Inter Bold" pitchFamily="34" charset="-122"/>
                <a:cs typeface="Inter Bold" pitchFamily="34" charset="-120"/>
              </a:rPr>
              <a:t>Load:</a:t>
            </a:r>
            <a:r>
              <a:rPr lang="en-US" sz="750" dirty="0">
                <a:solidFill>
                  <a:srgbClr val="000000"/>
                </a:solidFill>
                <a:latin typeface="Inter" pitchFamily="34" charset="0"/>
                <a:ea typeface="Inter" pitchFamily="34" charset="-122"/>
                <a:cs typeface="Inter" pitchFamily="34" charset="-120"/>
              </a:rPr>
              <a:t> 3-phase RL — R = 1.3 Ω, L = 2 mH</a:t>
            </a:r>
            <a:r>
              <a:rPr lang="en-US" sz="750" dirty="0">
                <a:solidFill>
                  <a:srgbClr val="000000"/>
                </a:solidFill>
                <a:latin typeface="Inter" pitchFamily="34" charset="0"/>
                <a:ea typeface="Inter" pitchFamily="34" charset="-122"/>
                <a:cs typeface="Inter" pitchFamily="34" charset="-120"/>
              </a:rPr>
              <a:t>
</a:t>
            </a:r>
            <a:r>
              <a:rPr lang="en-US" sz="700" b="1" dirty="0">
                <a:solidFill>
                  <a:srgbClr val="000000"/>
                </a:solidFill>
                <a:latin typeface="Inter Bold" pitchFamily="34" charset="0"/>
                <a:ea typeface="Inter Bold" pitchFamily="34" charset="-122"/>
                <a:cs typeface="Inter Bold" pitchFamily="34" charset="-120"/>
              </a:rPr>
              <a:t>DC Bus:</a:t>
            </a:r>
            <a:r>
              <a:rPr lang="en-US" sz="750" dirty="0">
                <a:solidFill>
                  <a:srgbClr val="000000"/>
                </a:solidFill>
                <a:latin typeface="Inter" pitchFamily="34" charset="0"/>
                <a:ea typeface="Inter" pitchFamily="34" charset="-122"/>
                <a:cs typeface="Inter" pitchFamily="34" charset="-120"/>
              </a:rPr>
              <a:t> 800V battery source</a:t>
            </a:r>
            <a:r>
              <a:rPr lang="en-US" sz="750" dirty="0">
                <a:solidFill>
                  <a:srgbClr val="000000"/>
                </a:solidFill>
                <a:latin typeface="Inter" pitchFamily="34" charset="0"/>
                <a:ea typeface="Inter" pitchFamily="34" charset="-122"/>
                <a:cs typeface="Inter" pitchFamily="34" charset="-120"/>
              </a:rPr>
              <a:t>
</a:t>
            </a:r>
            <a:r>
              <a:rPr lang="en-US" sz="700" b="1" dirty="0">
                <a:solidFill>
                  <a:srgbClr val="000000"/>
                </a:solidFill>
                <a:latin typeface="Inter Bold" pitchFamily="34" charset="0"/>
                <a:ea typeface="Inter Bold" pitchFamily="34" charset="-122"/>
                <a:cs typeface="Inter Bold" pitchFamily="34" charset="-120"/>
              </a:rPr>
              <a:t>Deliverables:</a:t>
            </a:r>
            <a:r>
              <a:rPr lang="en-US" sz="750" dirty="0">
                <a:solidFill>
                  <a:srgbClr val="000000"/>
                </a:solidFill>
                <a:latin typeface="Inter" pitchFamily="34" charset="0"/>
                <a:ea typeface="Inter" pitchFamily="34" charset="-122"/>
                <a:cs typeface="Inter" pitchFamily="34" charset="-120"/>
              </a:rPr>
              <a:t> IEEE conference paper + 10-min presentation</a:t>
            </a:r>
            <a:endParaRPr lang="en-US" sz="750" dirty="0"/>
          </a:p>
        </p:txBody>
      </p:sp>
      <p:sp>
        <p:nvSpPr>
          <p:cNvPr id="32" name="Text 28"/>
          <p:cNvSpPr/>
          <p:nvPr/>
        </p:nvSpPr>
        <p:spPr>
          <a:xfrm>
            <a:off x="5126338" y="1131559"/>
            <a:ext cx="3446162" cy="155377"/>
          </a:xfrm>
          <a:prstGeom prst="rect">
            <a:avLst/>
          </a:prstGeom>
          <a:noFill/>
          <a:ln/>
        </p:spPr>
        <p:txBody>
          <a:bodyPr wrap="square" lIns="0" tIns="0" rIns="0" bIns="0" rtlCol="0" anchor="t">
            <a:spAutoFit/>
          </a:bodyPr>
          <a:lstStyle/>
          <a:p>
            <a:pPr algn="l" indent="0" marL="0">
              <a:buNone/>
            </a:pPr>
            <a:r>
              <a:rPr lang="en-US" sz="900" b="1" dirty="0">
                <a:solidFill>
                  <a:srgbClr val="000000"/>
                </a:solidFill>
                <a:latin typeface="Inter Bold" pitchFamily="34" charset="0"/>
                <a:ea typeface="Inter Bold" pitchFamily="34" charset="-122"/>
                <a:cs typeface="Inter Bold" pitchFamily="34" charset="-120"/>
              </a:rPr>
              <a:t>Project Objectives</a:t>
            </a:r>
            <a:endParaRPr lang="en-US" sz="900" dirty="0"/>
          </a:p>
        </p:txBody>
      </p:sp>
      <p:sp>
        <p:nvSpPr>
          <p:cNvPr id="33" name="Shape 29"/>
          <p:cNvSpPr/>
          <p:nvPr/>
        </p:nvSpPr>
        <p:spPr>
          <a:xfrm>
            <a:off x="5126338" y="1408379"/>
            <a:ext cx="185738" cy="185738"/>
          </a:xfrm>
          <a:prstGeom prst="ellipse">
            <a:avLst/>
          </a:prstGeom>
          <a:solidFill>
            <a:srgbClr val="2563EB"/>
          </a:solidFill>
          <a:ln/>
        </p:spPr>
      </p:sp>
      <p:sp>
        <p:nvSpPr>
          <p:cNvPr id="34" name="Text 30"/>
          <p:cNvSpPr/>
          <p:nvPr/>
        </p:nvSpPr>
        <p:spPr>
          <a:xfrm>
            <a:off x="5126338" y="1408379"/>
            <a:ext cx="185738" cy="185738"/>
          </a:xfrm>
          <a:prstGeom prst="rect">
            <a:avLst/>
          </a:prstGeom>
          <a:noFill/>
          <a:ln/>
        </p:spPr>
        <p:txBody>
          <a:bodyPr wrap="none" lIns="0" tIns="0" rIns="0" bIns="0" rtlCol="0" anchor="ctr">
            <a:spAutoFit/>
          </a:bodyPr>
          <a:lstStyle/>
          <a:p>
            <a:pPr algn="ctr" indent="0" marL="0">
              <a:lnSpc>
                <a:spcPct val="120000"/>
              </a:lnSpc>
              <a:buNone/>
            </a:pPr>
            <a:r>
              <a:rPr lang="en-US" sz="700" b="1" dirty="0">
                <a:solidFill>
                  <a:srgbClr val="FFFFFF"/>
                </a:solidFill>
                <a:latin typeface="Inter Bold" pitchFamily="34" charset="0"/>
                <a:ea typeface="Inter Bold" pitchFamily="34" charset="-122"/>
                <a:cs typeface="Inter Bold" pitchFamily="34" charset="-120"/>
              </a:rPr>
              <a:t>1</a:t>
            </a:r>
            <a:endParaRPr lang="en-US" sz="700" dirty="0"/>
          </a:p>
        </p:txBody>
      </p:sp>
      <p:sp>
        <p:nvSpPr>
          <p:cNvPr id="35" name="Text 31"/>
          <p:cNvSpPr/>
          <p:nvPr/>
        </p:nvSpPr>
        <p:spPr>
          <a:xfrm>
            <a:off x="5397801" y="1401235"/>
            <a:ext cx="3174699" cy="321469"/>
          </a:xfrm>
          <a:prstGeom prst="rect">
            <a:avLst/>
          </a:prstGeom>
          <a:noFill/>
          <a:ln/>
        </p:spPr>
        <p:txBody>
          <a:bodyPr wrap="squar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Research and select a suitable </a:t>
            </a:r>
            <a:r>
              <a:rPr lang="en-US" sz="750" b="1" dirty="0">
                <a:solidFill>
                  <a:srgbClr val="333333"/>
                </a:solidFill>
                <a:latin typeface="Inter Bold" pitchFamily="34" charset="0"/>
                <a:ea typeface="Inter Bold" pitchFamily="34" charset="-122"/>
                <a:cs typeface="Inter Bold" pitchFamily="34" charset="-120"/>
              </a:rPr>
              <a:t>three-level inverter topology</a:t>
            </a:r>
            <a:r>
              <a:rPr lang="en-US" sz="800" dirty="0">
                <a:solidFill>
                  <a:srgbClr val="333333"/>
                </a:solidFill>
                <a:latin typeface="Inter" pitchFamily="34" charset="0"/>
                <a:ea typeface="Inter" pitchFamily="34" charset="-122"/>
                <a:cs typeface="Inter" pitchFamily="34" charset="-120"/>
              </a:rPr>
              <a:t>, </a:t>
            </a:r>
            <a:r>
              <a:rPr lang="en-US" sz="800" dirty="0">
                <a:solidFill>
                  <a:srgbClr val="333333"/>
                </a:solidFill>
                <a:latin typeface="Inter" pitchFamily="34" charset="0"/>
                <a:ea typeface="Inter" pitchFamily="34" charset="-122"/>
                <a:cs typeface="Inter" pitchFamily="34" charset="-120"/>
              </a:rPr>
              <a:t>specifying components (voltage, current, frequency)</a:t>
            </a:r>
            <a:endParaRPr lang="en-US" sz="800" dirty="0"/>
          </a:p>
        </p:txBody>
      </p:sp>
      <p:sp>
        <p:nvSpPr>
          <p:cNvPr id="36" name="Shape 32"/>
          <p:cNvSpPr/>
          <p:nvPr/>
        </p:nvSpPr>
        <p:spPr>
          <a:xfrm>
            <a:off x="5126338" y="1829860"/>
            <a:ext cx="185738" cy="185738"/>
          </a:xfrm>
          <a:prstGeom prst="ellipse">
            <a:avLst/>
          </a:prstGeom>
          <a:solidFill>
            <a:srgbClr val="2563EB"/>
          </a:solidFill>
          <a:ln/>
        </p:spPr>
      </p:sp>
      <p:sp>
        <p:nvSpPr>
          <p:cNvPr id="37" name="Text 33"/>
          <p:cNvSpPr/>
          <p:nvPr/>
        </p:nvSpPr>
        <p:spPr>
          <a:xfrm>
            <a:off x="5126338" y="1829860"/>
            <a:ext cx="185738" cy="185738"/>
          </a:xfrm>
          <a:prstGeom prst="rect">
            <a:avLst/>
          </a:prstGeom>
          <a:noFill/>
          <a:ln/>
        </p:spPr>
        <p:txBody>
          <a:bodyPr wrap="none" lIns="0" tIns="0" rIns="0" bIns="0" rtlCol="0" anchor="ctr">
            <a:spAutoFit/>
          </a:bodyPr>
          <a:lstStyle/>
          <a:p>
            <a:pPr algn="ctr" indent="0" marL="0">
              <a:lnSpc>
                <a:spcPct val="120000"/>
              </a:lnSpc>
              <a:buNone/>
            </a:pPr>
            <a:r>
              <a:rPr lang="en-US" sz="700" b="1" dirty="0">
                <a:solidFill>
                  <a:srgbClr val="FFFFFF"/>
                </a:solidFill>
                <a:latin typeface="Inter Bold" pitchFamily="34" charset="0"/>
                <a:ea typeface="Inter Bold" pitchFamily="34" charset="-122"/>
                <a:cs typeface="Inter Bold" pitchFamily="34" charset="-120"/>
              </a:rPr>
              <a:t>2</a:t>
            </a:r>
            <a:endParaRPr lang="en-US" sz="700" dirty="0"/>
          </a:p>
        </p:txBody>
      </p:sp>
      <p:sp>
        <p:nvSpPr>
          <p:cNvPr id="38" name="Text 34"/>
          <p:cNvSpPr/>
          <p:nvPr/>
        </p:nvSpPr>
        <p:spPr>
          <a:xfrm>
            <a:off x="5397801" y="1822717"/>
            <a:ext cx="3174699" cy="321469"/>
          </a:xfrm>
          <a:prstGeom prst="rect">
            <a:avLst/>
          </a:prstGeom>
          <a:noFill/>
          <a:ln/>
        </p:spPr>
        <p:txBody>
          <a:bodyPr wrap="squar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Develop a detailed </a:t>
            </a:r>
            <a:r>
              <a:rPr lang="en-US" sz="750" b="1" dirty="0">
                <a:solidFill>
                  <a:srgbClr val="333333"/>
                </a:solidFill>
                <a:latin typeface="Inter Bold" pitchFamily="34" charset="0"/>
                <a:ea typeface="Inter Bold" pitchFamily="34" charset="-122"/>
                <a:cs typeface="Inter Bold" pitchFamily="34" charset="-120"/>
              </a:rPr>
              <a:t>simulation model</a:t>
            </a:r>
            <a:r>
              <a:rPr lang="en-US" sz="800" dirty="0">
                <a:solidFill>
                  <a:srgbClr val="333333"/>
                </a:solidFill>
                <a:latin typeface="Inter" pitchFamily="34" charset="0"/>
                <a:ea typeface="Inter" pitchFamily="34" charset="-122"/>
                <a:cs typeface="Inter" pitchFamily="34" charset="-120"/>
              </a:rPr>
              <a:t> including DC source, </a:t>
            </a:r>
            <a:r>
              <a:rPr lang="en-US" sz="800" dirty="0">
                <a:solidFill>
                  <a:srgbClr val="333333"/>
                </a:solidFill>
                <a:latin typeface="Inter" pitchFamily="34" charset="0"/>
                <a:ea typeface="Inter" pitchFamily="34" charset="-122"/>
                <a:cs typeface="Inter" pitchFamily="34" charset="-120"/>
              </a:rPr>
              <a:t>switching devices, and capacitors</a:t>
            </a:r>
            <a:endParaRPr lang="en-US" sz="800" dirty="0"/>
          </a:p>
        </p:txBody>
      </p:sp>
      <p:sp>
        <p:nvSpPr>
          <p:cNvPr id="39" name="Shape 35"/>
          <p:cNvSpPr/>
          <p:nvPr/>
        </p:nvSpPr>
        <p:spPr>
          <a:xfrm>
            <a:off x="5126338" y="2251342"/>
            <a:ext cx="185738" cy="185738"/>
          </a:xfrm>
          <a:prstGeom prst="ellipse">
            <a:avLst/>
          </a:prstGeom>
          <a:solidFill>
            <a:srgbClr val="2563EB"/>
          </a:solidFill>
          <a:ln/>
        </p:spPr>
      </p:sp>
      <p:sp>
        <p:nvSpPr>
          <p:cNvPr id="40" name="Text 36"/>
          <p:cNvSpPr/>
          <p:nvPr/>
        </p:nvSpPr>
        <p:spPr>
          <a:xfrm>
            <a:off x="5126338" y="2251342"/>
            <a:ext cx="185738" cy="185738"/>
          </a:xfrm>
          <a:prstGeom prst="rect">
            <a:avLst/>
          </a:prstGeom>
          <a:noFill/>
          <a:ln/>
        </p:spPr>
        <p:txBody>
          <a:bodyPr wrap="none" lIns="0" tIns="0" rIns="0" bIns="0" rtlCol="0" anchor="ctr">
            <a:spAutoFit/>
          </a:bodyPr>
          <a:lstStyle/>
          <a:p>
            <a:pPr algn="ctr" indent="0" marL="0">
              <a:lnSpc>
                <a:spcPct val="120000"/>
              </a:lnSpc>
              <a:buNone/>
            </a:pPr>
            <a:r>
              <a:rPr lang="en-US" sz="700" b="1" dirty="0">
                <a:solidFill>
                  <a:srgbClr val="FFFFFF"/>
                </a:solidFill>
                <a:latin typeface="Inter Bold" pitchFamily="34" charset="0"/>
                <a:ea typeface="Inter Bold" pitchFamily="34" charset="-122"/>
                <a:cs typeface="Inter Bold" pitchFamily="34" charset="-120"/>
              </a:rPr>
              <a:t>3</a:t>
            </a:r>
            <a:endParaRPr lang="en-US" sz="700" dirty="0"/>
          </a:p>
        </p:txBody>
      </p:sp>
      <p:sp>
        <p:nvSpPr>
          <p:cNvPr id="41" name="Text 37"/>
          <p:cNvSpPr/>
          <p:nvPr/>
        </p:nvSpPr>
        <p:spPr>
          <a:xfrm>
            <a:off x="5397801" y="2260271"/>
            <a:ext cx="1966317" cy="128588"/>
          </a:xfrm>
          <a:prstGeom prst="rect">
            <a:avLst/>
          </a:prstGeom>
          <a:noFill/>
          <a:ln/>
        </p:spPr>
        <p:txBody>
          <a:bodyPr wrap="none" lIns="0" tIns="0" rIns="0" bIns="0" rtlCol="0" anchor="t">
            <a:spAutoFit/>
          </a:bodyPr>
          <a:lstStyle/>
          <a:p>
            <a:pPr algn="l" indent="0" marL="0">
              <a:lnSpc>
                <a:spcPct val="120000"/>
              </a:lnSpc>
              <a:buNone/>
            </a:pPr>
            <a:r>
              <a:rPr lang="en-US" sz="750" b="1" dirty="0">
                <a:solidFill>
                  <a:srgbClr val="333333"/>
                </a:solidFill>
                <a:latin typeface="Inter Bold" pitchFamily="34" charset="0"/>
                <a:ea typeface="Inter Bold" pitchFamily="34" charset="-122"/>
                <a:cs typeface="Inter Bold" pitchFamily="34" charset="-120"/>
              </a:rPr>
              <a:t>Compare semiconductor temperature</a:t>
            </a:r>
            <a:endParaRPr lang="en-US" sz="750" dirty="0"/>
          </a:p>
        </p:txBody>
      </p:sp>
      <p:sp>
        <p:nvSpPr>
          <p:cNvPr id="42" name="Text 38"/>
          <p:cNvSpPr/>
          <p:nvPr/>
        </p:nvSpPr>
        <p:spPr>
          <a:xfrm>
            <a:off x="7364118" y="2260271"/>
            <a:ext cx="862608" cy="128588"/>
          </a:xfrm>
          <a:prstGeom prst="rect">
            <a:avLst/>
          </a:prstGeom>
          <a:noFill/>
          <a:ln/>
        </p:spPr>
        <p:txBody>
          <a:bodyPr wrap="non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under adaptive f</a:t>
            </a:r>
            <a:endParaRPr lang="en-US" sz="800" dirty="0"/>
          </a:p>
        </p:txBody>
      </p:sp>
      <p:sp>
        <p:nvSpPr>
          <p:cNvPr id="43" name="Text 39"/>
          <p:cNvSpPr/>
          <p:nvPr/>
        </p:nvSpPr>
        <p:spPr>
          <a:xfrm>
            <a:off x="8226726" y="2301348"/>
            <a:ext cx="119658" cy="107156"/>
          </a:xfrm>
          <a:prstGeom prst="rect">
            <a:avLst/>
          </a:prstGeom>
          <a:noFill/>
          <a:ln/>
        </p:spPr>
        <p:txBody>
          <a:bodyPr wrap="none" lIns="0" tIns="0" rIns="0" bIns="0" rtlCol="0" anchor="t">
            <a:spAutoFit/>
          </a:bodyPr>
          <a:lstStyle/>
          <a:p>
            <a:pPr algn="l" indent="0" marL="0">
              <a:lnSpc>
                <a:spcPct val="120000"/>
              </a:lnSpc>
              <a:buNone/>
            </a:pPr>
            <a:r>
              <a:rPr lang="en-US" sz="650" baseline="-40000" dirty="0">
                <a:solidFill>
                  <a:srgbClr val="333333"/>
                </a:solidFill>
                <a:latin typeface="Inter" pitchFamily="34" charset="0"/>
                <a:ea typeface="Inter" pitchFamily="34" charset="-122"/>
                <a:cs typeface="Inter" pitchFamily="34" charset="-120"/>
              </a:rPr>
              <a:t>sw</a:t>
            </a:r>
            <a:endParaRPr lang="en-US" sz="650" dirty="0"/>
          </a:p>
        </p:txBody>
      </p:sp>
      <p:sp>
        <p:nvSpPr>
          <p:cNvPr id="44" name="Text 40"/>
          <p:cNvSpPr/>
          <p:nvPr/>
        </p:nvSpPr>
        <p:spPr>
          <a:xfrm>
            <a:off x="8346384" y="2260271"/>
            <a:ext cx="178594" cy="128588"/>
          </a:xfrm>
          <a:prstGeom prst="rect">
            <a:avLst/>
          </a:prstGeom>
          <a:noFill/>
          <a:ln/>
        </p:spPr>
        <p:txBody>
          <a:bodyPr wrap="non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vs.</a:t>
            </a:r>
            <a:endParaRPr lang="en-US" sz="800" dirty="0"/>
          </a:p>
        </p:txBody>
      </p:sp>
      <p:sp>
        <p:nvSpPr>
          <p:cNvPr id="45" name="Text 41"/>
          <p:cNvSpPr/>
          <p:nvPr/>
        </p:nvSpPr>
        <p:spPr>
          <a:xfrm>
            <a:off x="5397801" y="2438865"/>
            <a:ext cx="1289447" cy="128588"/>
          </a:xfrm>
          <a:prstGeom prst="rect">
            <a:avLst/>
          </a:prstGeom>
          <a:noFill/>
          <a:ln/>
        </p:spPr>
        <p:txBody>
          <a:bodyPr wrap="non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constant 20 kHz baseline</a:t>
            </a:r>
            <a:endParaRPr lang="en-US" sz="800" dirty="0"/>
          </a:p>
        </p:txBody>
      </p:sp>
      <p:sp>
        <p:nvSpPr>
          <p:cNvPr id="46" name="Shape 42"/>
          <p:cNvSpPr/>
          <p:nvPr/>
        </p:nvSpPr>
        <p:spPr>
          <a:xfrm>
            <a:off x="5126338" y="2690682"/>
            <a:ext cx="185738" cy="185738"/>
          </a:xfrm>
          <a:prstGeom prst="ellipse">
            <a:avLst/>
          </a:prstGeom>
          <a:solidFill>
            <a:srgbClr val="2563EB"/>
          </a:solidFill>
          <a:ln/>
        </p:spPr>
      </p:sp>
      <p:sp>
        <p:nvSpPr>
          <p:cNvPr id="47" name="Text 43"/>
          <p:cNvSpPr/>
          <p:nvPr/>
        </p:nvSpPr>
        <p:spPr>
          <a:xfrm>
            <a:off x="5126338" y="2690682"/>
            <a:ext cx="185738" cy="185738"/>
          </a:xfrm>
          <a:prstGeom prst="rect">
            <a:avLst/>
          </a:prstGeom>
          <a:noFill/>
          <a:ln/>
        </p:spPr>
        <p:txBody>
          <a:bodyPr wrap="none" lIns="0" tIns="0" rIns="0" bIns="0" rtlCol="0" anchor="ctr">
            <a:spAutoFit/>
          </a:bodyPr>
          <a:lstStyle/>
          <a:p>
            <a:pPr algn="ctr" indent="0" marL="0">
              <a:lnSpc>
                <a:spcPct val="120000"/>
              </a:lnSpc>
              <a:buNone/>
            </a:pPr>
            <a:r>
              <a:rPr lang="en-US" sz="700" b="1" dirty="0">
                <a:solidFill>
                  <a:srgbClr val="FFFFFF"/>
                </a:solidFill>
                <a:latin typeface="Inter Bold" pitchFamily="34" charset="0"/>
                <a:ea typeface="Inter Bold" pitchFamily="34" charset="-122"/>
                <a:cs typeface="Inter Bold" pitchFamily="34" charset="-120"/>
              </a:rPr>
              <a:t>4</a:t>
            </a:r>
            <a:endParaRPr lang="en-US" sz="700" dirty="0"/>
          </a:p>
        </p:txBody>
      </p:sp>
      <p:sp>
        <p:nvSpPr>
          <p:cNvPr id="48" name="Text 44"/>
          <p:cNvSpPr/>
          <p:nvPr/>
        </p:nvSpPr>
        <p:spPr>
          <a:xfrm>
            <a:off x="5397801" y="2683539"/>
            <a:ext cx="3174699" cy="321469"/>
          </a:xfrm>
          <a:prstGeom prst="rect">
            <a:avLst/>
          </a:prstGeom>
          <a:noFill/>
          <a:ln/>
        </p:spPr>
        <p:txBody>
          <a:bodyPr wrap="squar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Analyze output current waveforms and verify expected </a:t>
            </a:r>
            <a:r>
              <a:rPr lang="en-US" sz="750" b="1" dirty="0">
                <a:solidFill>
                  <a:srgbClr val="333333"/>
                </a:solidFill>
                <a:latin typeface="Inter Bold" pitchFamily="34" charset="0"/>
                <a:ea typeface="Inter Bold" pitchFamily="34" charset="-122"/>
                <a:cs typeface="Inter Bold" pitchFamily="34" charset="-120"/>
              </a:rPr>
              <a:t>THD </a:t>
            </a:r>
            <a:r>
              <a:rPr lang="en-US" sz="750" b="1" dirty="0">
                <a:solidFill>
                  <a:srgbClr val="333333"/>
                </a:solidFill>
                <a:latin typeface="Inter Bold" pitchFamily="34" charset="0"/>
                <a:ea typeface="Inter Bold" pitchFamily="34" charset="-122"/>
                <a:cs typeface="Inter Bold" pitchFamily="34" charset="-120"/>
              </a:rPr>
              <a:t>performance</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Why 800V Architecture?</a:t>
            </a:r>
            <a:endParaRPr lang="en-US" sz="1400" dirty="0"/>
          </a:p>
        </p:txBody>
      </p:sp>
      <p:sp>
        <p:nvSpPr>
          <p:cNvPr id="5" name="Text 1"/>
          <p:cNvSpPr/>
          <p:nvPr/>
        </p:nvSpPr>
        <p:spPr>
          <a:xfrm>
            <a:off x="571500" y="1052978"/>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Ultra-fast charging at 350+ kW</a:t>
            </a:r>
            <a:r>
              <a:rPr lang="en-US" sz="850" dirty="0">
                <a:solidFill>
                  <a:srgbClr val="333333"/>
                </a:solidFill>
                <a:latin typeface="Inter" pitchFamily="34" charset="0"/>
                <a:ea typeface="Inter" pitchFamily="34" charset="-122"/>
                <a:cs typeface="Inter" pitchFamily="34" charset="-120"/>
              </a:rPr>
              <a:t> — reduces charge time from ~45 </a:t>
            </a:r>
            <a:r>
              <a:rPr lang="en-US" sz="850" dirty="0">
                <a:solidFill>
                  <a:srgbClr val="333333"/>
                </a:solidFill>
                <a:latin typeface="Inter" pitchFamily="34" charset="0"/>
                <a:ea typeface="Inter" pitchFamily="34" charset="-122"/>
                <a:cs typeface="Inter" pitchFamily="34" charset="-120"/>
              </a:rPr>
              <a:t>min to under 20 min compared to 400V systems.</a:t>
            </a:r>
            <a:endParaRPr lang="en-US" sz="800" dirty="0"/>
          </a:p>
        </p:txBody>
      </p:sp>
      <p:sp>
        <p:nvSpPr>
          <p:cNvPr id="6" name="Text 2"/>
          <p:cNvSpPr/>
          <p:nvPr/>
        </p:nvSpPr>
        <p:spPr>
          <a:xfrm>
            <a:off x="571500" y="1561579"/>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75% reduction in I²R losses</a:t>
            </a:r>
            <a:r>
              <a:rPr lang="en-US" sz="850" dirty="0">
                <a:solidFill>
                  <a:srgbClr val="333333"/>
                </a:solidFill>
                <a:latin typeface="Inter" pitchFamily="34" charset="0"/>
                <a:ea typeface="Inter" pitchFamily="34" charset="-122"/>
                <a:cs typeface="Inter" pitchFamily="34" charset="-120"/>
              </a:rPr>
              <a:t> — halving current for the same power </a:t>
            </a:r>
            <a:r>
              <a:rPr lang="en-US" sz="850" dirty="0">
                <a:solidFill>
                  <a:srgbClr val="333333"/>
                </a:solidFill>
                <a:latin typeface="Inter" pitchFamily="34" charset="0"/>
                <a:ea typeface="Inter" pitchFamily="34" charset="-122"/>
                <a:cs typeface="Inter" pitchFamily="34" charset="-120"/>
              </a:rPr>
              <a:t>output cuts ohmic losses across inverter, motor, and cabling.</a:t>
            </a:r>
            <a:endParaRPr lang="en-US" sz="800" dirty="0"/>
          </a:p>
        </p:txBody>
      </p:sp>
      <p:sp>
        <p:nvSpPr>
          <p:cNvPr id="7" name="Text 3"/>
          <p:cNvSpPr/>
          <p:nvPr/>
        </p:nvSpPr>
        <p:spPr>
          <a:xfrm>
            <a:off x="571500" y="207018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50% less copper</a:t>
            </a:r>
            <a:r>
              <a:rPr lang="en-US" sz="850" dirty="0">
                <a:solidFill>
                  <a:srgbClr val="333333"/>
                </a:solidFill>
                <a:latin typeface="Inter" pitchFamily="34" charset="0"/>
                <a:ea typeface="Inter" pitchFamily="34" charset="-122"/>
                <a:cs typeface="Inter" pitchFamily="34" charset="-120"/>
              </a:rPr>
              <a:t> — smaller conductor cross-section saves </a:t>
            </a:r>
            <a:r>
              <a:rPr lang="en-US" sz="850" dirty="0">
                <a:solidFill>
                  <a:srgbClr val="333333"/>
                </a:solidFill>
                <a:latin typeface="Inter" pitchFamily="34" charset="0"/>
                <a:ea typeface="Inter" pitchFamily="34" charset="-122"/>
                <a:cs typeface="Inter" pitchFamily="34" charset="-120"/>
              </a:rPr>
              <a:t>approximately 10–15 kg of vehicle weight.</a:t>
            </a:r>
            <a:endParaRPr lang="en-US" sz="800" dirty="0"/>
          </a:p>
        </p:txBody>
      </p:sp>
      <p:sp>
        <p:nvSpPr>
          <p:cNvPr id="8" name="Text 4"/>
          <p:cNvSpPr/>
          <p:nvPr/>
        </p:nvSpPr>
        <p:spPr>
          <a:xfrm>
            <a:off x="571500" y="257878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Industry adoption</a:t>
            </a:r>
            <a:r>
              <a:rPr lang="en-US" sz="850" dirty="0">
                <a:solidFill>
                  <a:srgbClr val="333333"/>
                </a:solidFill>
                <a:latin typeface="Inter" pitchFamily="34" charset="0"/>
                <a:ea typeface="Inter" pitchFamily="34" charset="-122"/>
                <a:cs typeface="Inter" pitchFamily="34" charset="-120"/>
              </a:rPr>
              <a:t> — Porsche Taycan, Hyundai E-GMP, and GM </a:t>
            </a:r>
            <a:r>
              <a:rPr lang="en-US" sz="850" dirty="0">
                <a:solidFill>
                  <a:srgbClr val="333333"/>
                </a:solidFill>
                <a:latin typeface="Inter" pitchFamily="34" charset="0"/>
                <a:ea typeface="Inter" pitchFamily="34" charset="-122"/>
                <a:cs typeface="Inter" pitchFamily="34" charset="-120"/>
              </a:rPr>
              <a:t>Ultium all use 800V platforms.</a:t>
            </a:r>
            <a:endParaRPr lang="en-US" sz="800" dirty="0"/>
          </a:p>
        </p:txBody>
      </p:sp>
      <p:sp>
        <p:nvSpPr>
          <p:cNvPr id="9" name="Text 5"/>
          <p:cNvSpPr/>
          <p:nvPr/>
        </p:nvSpPr>
        <p:spPr>
          <a:xfrm>
            <a:off x="571500" y="3087384"/>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Challenge:</a:t>
            </a:r>
            <a:r>
              <a:rPr lang="en-US" sz="850" dirty="0">
                <a:solidFill>
                  <a:srgbClr val="333333"/>
                </a:solidFill>
                <a:latin typeface="Inter" pitchFamily="34" charset="0"/>
                <a:ea typeface="Inter" pitchFamily="34" charset="-122"/>
                <a:cs typeface="Inter" pitchFamily="34" charset="-120"/>
              </a:rPr>
              <a:t> Higher DC-link voltage significantly increases dv/dt </a:t>
            </a:r>
            <a:r>
              <a:rPr lang="en-US" sz="850" dirty="0">
                <a:solidFill>
                  <a:srgbClr val="333333"/>
                </a:solidFill>
                <a:latin typeface="Inter" pitchFamily="34" charset="0"/>
                <a:ea typeface="Inter" pitchFamily="34" charset="-122"/>
                <a:cs typeface="Inter" pitchFamily="34" charset="-120"/>
              </a:rPr>
              <a:t>stress on motor insulation, demanding advanced inverter topologies.</a:t>
            </a:r>
            <a:endParaRPr lang="en-US" sz="800" dirty="0"/>
          </a:p>
        </p:txBody>
      </p:sp>
      <p:sp>
        <p:nvSpPr>
          <p:cNvPr id="10" name="Text 6"/>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156157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571500" y="207018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3" name="Text 9"/>
          <p:cNvSpPr/>
          <p:nvPr/>
        </p:nvSpPr>
        <p:spPr>
          <a:xfrm>
            <a:off x="571500" y="257878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4" name="Text 10"/>
          <p:cNvSpPr/>
          <p:nvPr/>
        </p:nvSpPr>
        <p:spPr>
          <a:xfrm>
            <a:off x="571500" y="308738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5" name="Image 1" descr="preencoded.png">    </p:cNvPr>
          <p:cNvPicPr>
            <a:picLocks noChangeAspect="1"/>
          </p:cNvPicPr>
          <p:nvPr/>
        </p:nvPicPr>
        <p:blipFill>
          <a:blip r:embed="rId2"/>
          <a:stretch>
            <a:fillRect/>
          </a:stretch>
        </p:blipFill>
        <p:spPr>
          <a:xfrm>
            <a:off x="4857750" y="1124415"/>
            <a:ext cx="3571875" cy="2857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The dv/dt Problem and the Multilevel Solution</a:t>
            </a:r>
            <a:endParaRPr lang="en-US" sz="1400" dirty="0"/>
          </a:p>
        </p:txBody>
      </p:sp>
      <p:sp>
        <p:nvSpPr>
          <p:cNvPr id="5" name="Text 1"/>
          <p:cNvSpPr/>
          <p:nvPr/>
        </p:nvSpPr>
        <p:spPr>
          <a:xfrm>
            <a:off x="571500" y="1081553"/>
            <a:ext cx="3786188" cy="198239"/>
          </a:xfrm>
          <a:prstGeom prst="rect">
            <a:avLst/>
          </a:prstGeom>
          <a:noFill/>
          <a:ln/>
        </p:spPr>
        <p:txBody>
          <a:bodyPr wrap="square" lIns="0" tIns="34036" rIns="0" bIns="0" rtlCol="0" anchor="t">
            <a:spAutoFit/>
          </a:bodyPr>
          <a:lstStyle/>
          <a:p>
            <a:pPr algn="l" indent="0" marL="0">
              <a:buNone/>
            </a:pPr>
            <a:r>
              <a:rPr lang="en-US" sz="900" b="1" dirty="0">
                <a:solidFill>
                  <a:srgbClr val="000000"/>
                </a:solidFill>
                <a:latin typeface="Inter Bold" pitchFamily="34" charset="0"/>
                <a:ea typeface="Inter Bold" pitchFamily="34" charset="-122"/>
                <a:cs typeface="Inter Bold" pitchFamily="34" charset="-120"/>
              </a:rPr>
              <a:t>The 800V Challenge</a:t>
            </a:r>
            <a:endParaRPr lang="en-US" sz="900" dirty="0"/>
          </a:p>
        </p:txBody>
      </p:sp>
      <p:sp>
        <p:nvSpPr>
          <p:cNvPr id="6" name="Text 2"/>
          <p:cNvSpPr/>
          <p:nvPr/>
        </p:nvSpPr>
        <p:spPr>
          <a:xfrm>
            <a:off x="571500" y="1422667"/>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 standard 2-level VSI at 800V switches the full bus voltage in </a:t>
            </a:r>
            <a:r>
              <a:rPr lang="en-US" sz="850" dirty="0">
                <a:solidFill>
                  <a:srgbClr val="333333"/>
                </a:solidFill>
                <a:latin typeface="Inter" pitchFamily="34" charset="0"/>
                <a:ea typeface="Inter" pitchFamily="34" charset="-122"/>
                <a:cs typeface="Inter" pitchFamily="34" charset="-120"/>
              </a:rPr>
              <a:t>under 50 ns, generating </a:t>
            </a:r>
            <a:r>
              <a:rPr lang="en-US" sz="800" b="1" dirty="0">
                <a:solidFill>
                  <a:srgbClr val="000000"/>
                </a:solidFill>
                <a:latin typeface="Inter Bold" pitchFamily="34" charset="0"/>
                <a:ea typeface="Inter Bold" pitchFamily="34" charset="-122"/>
                <a:cs typeface="Inter Bold" pitchFamily="34" charset="-120"/>
              </a:rPr>
              <a:t>dv/dt spikes exceeding 16 kV/µs</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7" name="Text 3"/>
          <p:cNvSpPr/>
          <p:nvPr/>
        </p:nvSpPr>
        <p:spPr>
          <a:xfrm>
            <a:off x="571500" y="1931268"/>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Standard motor insulation is rated for ~1200 V/µs maximum — the </a:t>
            </a:r>
            <a:r>
              <a:rPr lang="en-US" sz="800" b="1" dirty="0">
                <a:solidFill>
                  <a:srgbClr val="000000"/>
                </a:solidFill>
                <a:latin typeface="Inter Bold" pitchFamily="34" charset="0"/>
                <a:ea typeface="Inter Bold" pitchFamily="34" charset="-122"/>
                <a:cs typeface="Inter Bold" pitchFamily="34" charset="-120"/>
              </a:rPr>
              <a:t>limit is exceeded by over 13×</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8" name="Text 4"/>
          <p:cNvSpPr/>
          <p:nvPr/>
        </p:nvSpPr>
        <p:spPr>
          <a:xfrm>
            <a:off x="571500" y="2439870"/>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This causes partial discharge and </a:t>
            </a:r>
            <a:r>
              <a:rPr lang="en-US" sz="800" b="1" dirty="0">
                <a:solidFill>
                  <a:srgbClr val="000000"/>
                </a:solidFill>
                <a:latin typeface="Inter Bold" pitchFamily="34" charset="0"/>
                <a:ea typeface="Inter Bold" pitchFamily="34" charset="-122"/>
                <a:cs typeface="Inter Bold" pitchFamily="34" charset="-120"/>
              </a:rPr>
              <a:t>insulation breakdown within </a:t>
            </a:r>
            <a:r>
              <a:rPr lang="en-US" sz="800" b="1" dirty="0">
                <a:solidFill>
                  <a:srgbClr val="000000"/>
                </a:solidFill>
                <a:latin typeface="Inter Bold" pitchFamily="34" charset="0"/>
                <a:ea typeface="Inter Bold" pitchFamily="34" charset="-122"/>
                <a:cs typeface="Inter Bold" pitchFamily="34" charset="-120"/>
              </a:rPr>
              <a:t>1000 hours</a:t>
            </a:r>
            <a:r>
              <a:rPr lang="en-US" sz="850" dirty="0">
                <a:solidFill>
                  <a:srgbClr val="333333"/>
                </a:solidFill>
                <a:latin typeface="Inter" pitchFamily="34" charset="0"/>
                <a:ea typeface="Inter" pitchFamily="34" charset="-122"/>
                <a:cs typeface="Inter" pitchFamily="34" charset="-120"/>
              </a:rPr>
              <a:t> of continuous operation.</a:t>
            </a:r>
            <a:endParaRPr lang="en-US" sz="850" dirty="0"/>
          </a:p>
        </p:txBody>
      </p:sp>
      <p:sp>
        <p:nvSpPr>
          <p:cNvPr id="9" name="Text 5"/>
          <p:cNvSpPr/>
          <p:nvPr/>
        </p:nvSpPr>
        <p:spPr>
          <a:xfrm>
            <a:off x="571500" y="142266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10" name="Text 6"/>
          <p:cNvSpPr/>
          <p:nvPr/>
        </p:nvSpPr>
        <p:spPr>
          <a:xfrm>
            <a:off x="571500" y="193126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2439870"/>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4786313" y="1081553"/>
            <a:ext cx="3786188" cy="198239"/>
          </a:xfrm>
          <a:prstGeom prst="rect">
            <a:avLst/>
          </a:prstGeom>
          <a:noFill/>
          <a:ln/>
        </p:spPr>
        <p:txBody>
          <a:bodyPr wrap="square" lIns="0" tIns="34036" rIns="0" bIns="0" rtlCol="0" anchor="t">
            <a:spAutoFit/>
          </a:bodyPr>
          <a:lstStyle/>
          <a:p>
            <a:pPr algn="l" indent="0" marL="0">
              <a:buNone/>
            </a:pPr>
            <a:r>
              <a:rPr lang="en-US" sz="900" b="1" dirty="0">
                <a:solidFill>
                  <a:srgbClr val="2563EB"/>
                </a:solidFill>
                <a:latin typeface="Inter Bold" pitchFamily="34" charset="0"/>
                <a:ea typeface="Inter Bold" pitchFamily="34" charset="-122"/>
                <a:cs typeface="Inter Bold" pitchFamily="34" charset="-120"/>
              </a:rPr>
              <a:t>The Multilevel Solution</a:t>
            </a:r>
            <a:endParaRPr lang="en-US" sz="900" dirty="0"/>
          </a:p>
        </p:txBody>
      </p:sp>
      <p:sp>
        <p:nvSpPr>
          <p:cNvPr id="13" name="Text 9"/>
          <p:cNvSpPr/>
          <p:nvPr/>
        </p:nvSpPr>
        <p:spPr>
          <a:xfrm>
            <a:off x="4786313" y="1422667"/>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 3-level topology reduces the voltage step to </a:t>
            </a:r>
            <a:r>
              <a:rPr lang="en-US" sz="800" b="1" dirty="0">
                <a:solidFill>
                  <a:srgbClr val="000000"/>
                </a:solidFill>
                <a:latin typeface="Inter Bold" pitchFamily="34" charset="0"/>
                <a:ea typeface="Inter Bold" pitchFamily="34" charset="-122"/>
                <a:cs typeface="Inter Bold" pitchFamily="34" charset="-120"/>
              </a:rPr>
              <a:t>Vdc/2 = 400V</a:t>
            </a:r>
            <a:r>
              <a:rPr lang="en-US" sz="850" dirty="0">
                <a:solidFill>
                  <a:srgbClr val="333333"/>
                </a:solidFill>
                <a:latin typeface="Inter" pitchFamily="34" charset="0"/>
                <a:ea typeface="Inter" pitchFamily="34" charset="-122"/>
                <a:cs typeface="Inter" pitchFamily="34" charset="-120"/>
              </a:rPr>
              <a:t>, </a:t>
            </a:r>
            <a:r>
              <a:rPr lang="en-US" sz="850" dirty="0">
                <a:solidFill>
                  <a:srgbClr val="333333"/>
                </a:solidFill>
                <a:latin typeface="Inter" pitchFamily="34" charset="0"/>
                <a:ea typeface="Inter" pitchFamily="34" charset="-122"/>
                <a:cs typeface="Inter" pitchFamily="34" charset="-120"/>
              </a:rPr>
              <a:t>halving dv/dt to ~8 kV/µs.</a:t>
            </a:r>
            <a:endParaRPr lang="en-US" sz="850" dirty="0"/>
          </a:p>
        </p:txBody>
      </p:sp>
      <p:sp>
        <p:nvSpPr>
          <p:cNvPr id="14" name="Text 10"/>
          <p:cNvSpPr/>
          <p:nvPr/>
        </p:nvSpPr>
        <p:spPr>
          <a:xfrm>
            <a:off x="4786313" y="1931268"/>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The improved waveform </a:t>
            </a:r>
            <a:r>
              <a:rPr lang="en-US" sz="800" b="1" dirty="0">
                <a:solidFill>
                  <a:srgbClr val="000000"/>
                </a:solidFill>
                <a:latin typeface="Inter Bold" pitchFamily="34" charset="0"/>
                <a:ea typeface="Inter Bold" pitchFamily="34" charset="-122"/>
                <a:cs typeface="Inter Bold" pitchFamily="34" charset="-120"/>
              </a:rPr>
              <a:t>reduces output THD</a:t>
            </a:r>
            <a:r>
              <a:rPr lang="en-US" sz="850" dirty="0">
                <a:solidFill>
                  <a:srgbClr val="333333"/>
                </a:solidFill>
                <a:latin typeface="Inter" pitchFamily="34" charset="0"/>
                <a:ea typeface="Inter" pitchFamily="34" charset="-122"/>
                <a:cs typeface="Inter" pitchFamily="34" charset="-120"/>
              </a:rPr>
              <a:t> by synthesizing a </a:t>
            </a:r>
            <a:r>
              <a:rPr lang="en-US" sz="850" dirty="0">
                <a:solidFill>
                  <a:srgbClr val="333333"/>
                </a:solidFill>
                <a:latin typeface="Inter" pitchFamily="34" charset="0"/>
                <a:ea typeface="Inter" pitchFamily="34" charset="-122"/>
                <a:cs typeface="Inter" pitchFamily="34" charset="-120"/>
              </a:rPr>
              <a:t>closer sine approximation.</a:t>
            </a:r>
            <a:endParaRPr lang="en-US" sz="850" dirty="0"/>
          </a:p>
        </p:txBody>
      </p:sp>
      <p:sp>
        <p:nvSpPr>
          <p:cNvPr id="15" name="Text 11"/>
          <p:cNvSpPr/>
          <p:nvPr/>
        </p:nvSpPr>
        <p:spPr>
          <a:xfrm>
            <a:off x="4786313" y="2439870"/>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Lower harmonic content reduces EMI and allows a </a:t>
            </a:r>
            <a:r>
              <a:rPr lang="en-US" sz="800" b="1" dirty="0">
                <a:solidFill>
                  <a:srgbClr val="000000"/>
                </a:solidFill>
                <a:latin typeface="Inter Bold" pitchFamily="34" charset="0"/>
                <a:ea typeface="Inter Bold" pitchFamily="34" charset="-122"/>
                <a:cs typeface="Inter Bold" pitchFamily="34" charset="-120"/>
              </a:rPr>
              <a:t>smaller, lighter </a:t>
            </a:r>
            <a:r>
              <a:rPr lang="en-US" sz="800" b="1" dirty="0">
                <a:solidFill>
                  <a:srgbClr val="000000"/>
                </a:solidFill>
                <a:latin typeface="Inter Bold" pitchFamily="34" charset="0"/>
                <a:ea typeface="Inter Bold" pitchFamily="34" charset="-122"/>
                <a:cs typeface="Inter Bold" pitchFamily="34" charset="-120"/>
              </a:rPr>
              <a:t>output filter</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16" name="Text 12"/>
          <p:cNvSpPr/>
          <p:nvPr/>
        </p:nvSpPr>
        <p:spPr>
          <a:xfrm>
            <a:off x="4786313" y="142266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7" name="Text 13"/>
          <p:cNvSpPr/>
          <p:nvPr/>
        </p:nvSpPr>
        <p:spPr>
          <a:xfrm>
            <a:off x="4786313" y="193126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8" name="Text 14"/>
          <p:cNvSpPr/>
          <p:nvPr/>
        </p:nvSpPr>
        <p:spPr>
          <a:xfrm>
            <a:off x="4786313" y="2439870"/>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Topology Selection: FC vs NPC</a:t>
            </a:r>
            <a:endParaRPr lang="en-US" sz="1400" dirty="0"/>
          </a:p>
        </p:txBody>
      </p:sp>
      <p:sp>
        <p:nvSpPr>
          <p:cNvPr id="5" name="Text 1"/>
          <p:cNvSpPr/>
          <p:nvPr/>
        </p:nvSpPr>
        <p:spPr>
          <a:xfrm>
            <a:off x="571500" y="1110128"/>
            <a:ext cx="8001000" cy="237530"/>
          </a:xfrm>
          <a:prstGeom prst="rect">
            <a:avLst/>
          </a:prstGeom>
          <a:noFill/>
          <a:ln/>
        </p:spPr>
        <p:txBody>
          <a:bodyPr wrap="square" lIns="0" tIns="0" rIns="0" bIns="68072" rtlCol="0" anchor="t">
            <a:spAutoFit/>
          </a:bodyPr>
          <a:lstStyle/>
          <a:p>
            <a:pPr algn="l" indent="0" marL="0">
              <a:buNone/>
            </a:pPr>
            <a:r>
              <a:rPr lang="en-US" sz="1000" b="1" dirty="0">
                <a:solidFill>
                  <a:srgbClr val="000000"/>
                </a:solidFill>
                <a:latin typeface="Inter Bold" pitchFamily="34" charset="0"/>
                <a:ea typeface="Inter Bold" pitchFamily="34" charset="-122"/>
                <a:cs typeface="Inter Bold" pitchFamily="34" charset="-120"/>
              </a:rPr>
              <a:t>Neutral Point Clamped (NPC) Limitations</a:t>
            </a:r>
            <a:endParaRPr lang="en-US" sz="1000" dirty="0"/>
          </a:p>
        </p:txBody>
      </p:sp>
      <p:sp>
        <p:nvSpPr>
          <p:cNvPr id="6" name="Text 2"/>
          <p:cNvSpPr/>
          <p:nvPr/>
        </p:nvSpPr>
        <p:spPr>
          <a:xfrm>
            <a:off x="571500" y="1461957"/>
            <a:ext cx="8001000" cy="182863"/>
          </a:xfrm>
          <a:prstGeom prst="rect">
            <a:avLst/>
          </a:prstGeom>
          <a:noFill/>
          <a:ln/>
        </p:spPr>
        <p:txBody>
          <a:bodyPr wrap="non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Unequal loss distribution</a:t>
            </a:r>
            <a:r>
              <a:rPr lang="en-US" sz="850" dirty="0">
                <a:solidFill>
                  <a:srgbClr val="333333"/>
                </a:solidFill>
                <a:latin typeface="Inter" pitchFamily="34" charset="0"/>
                <a:ea typeface="Inter" pitchFamily="34" charset="-122"/>
                <a:cs typeface="Inter" pitchFamily="34" charset="-120"/>
              </a:rPr>
              <a:t> between inner and outer switches leads to asymmetric heating and complex cooling requirements.</a:t>
            </a:r>
            <a:endParaRPr lang="en-US" sz="800" dirty="0"/>
          </a:p>
        </p:txBody>
      </p:sp>
      <p:sp>
        <p:nvSpPr>
          <p:cNvPr id="7" name="Text 3"/>
          <p:cNvSpPr/>
          <p:nvPr/>
        </p:nvSpPr>
        <p:spPr>
          <a:xfrm>
            <a:off x="571500" y="1730546"/>
            <a:ext cx="8001000" cy="182863"/>
          </a:xfrm>
          <a:prstGeom prst="rect">
            <a:avLst/>
          </a:prstGeom>
          <a:noFill/>
          <a:ln/>
        </p:spPr>
        <p:txBody>
          <a:bodyPr wrap="non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Neutral point balance is notoriously difficult to maintain under </a:t>
            </a:r>
            <a:r>
              <a:rPr lang="en-US" sz="800" b="1" dirty="0">
                <a:solidFill>
                  <a:srgbClr val="000000"/>
                </a:solidFill>
                <a:latin typeface="Inter Bold" pitchFamily="34" charset="0"/>
                <a:ea typeface="Inter Bold" pitchFamily="34" charset="-122"/>
                <a:cs typeface="Inter Bold" pitchFamily="34" charset="-120"/>
              </a:rPr>
              <a:t>transient EV loads</a:t>
            </a:r>
            <a:r>
              <a:rPr lang="en-US" sz="850" dirty="0">
                <a:solidFill>
                  <a:srgbClr val="333333"/>
                </a:solidFill>
                <a:latin typeface="Inter" pitchFamily="34" charset="0"/>
                <a:ea typeface="Inter" pitchFamily="34" charset="-122"/>
                <a:cs typeface="Inter" pitchFamily="34" charset="-120"/>
              </a:rPr>
              <a:t>, requiring complex control algorithms.</a:t>
            </a:r>
            <a:endParaRPr lang="en-US" sz="850" dirty="0"/>
          </a:p>
        </p:txBody>
      </p:sp>
      <p:sp>
        <p:nvSpPr>
          <p:cNvPr id="8" name="Text 4"/>
          <p:cNvSpPr/>
          <p:nvPr/>
        </p:nvSpPr>
        <p:spPr>
          <a:xfrm>
            <a:off x="571500" y="146195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9" name="Text 5"/>
          <p:cNvSpPr/>
          <p:nvPr/>
        </p:nvSpPr>
        <p:spPr>
          <a:xfrm>
            <a:off x="571500" y="1730546"/>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10" name="Text 6"/>
          <p:cNvSpPr/>
          <p:nvPr/>
        </p:nvSpPr>
        <p:spPr>
          <a:xfrm>
            <a:off x="571500" y="2199159"/>
            <a:ext cx="8001000" cy="237530"/>
          </a:xfrm>
          <a:prstGeom prst="rect">
            <a:avLst/>
          </a:prstGeom>
          <a:noFill/>
          <a:ln/>
        </p:spPr>
        <p:txBody>
          <a:bodyPr wrap="square" lIns="0" tIns="0" rIns="0" bIns="68072" rtlCol="0" anchor="t">
            <a:spAutoFit/>
          </a:bodyPr>
          <a:lstStyle/>
          <a:p>
            <a:pPr algn="l" indent="0" marL="0">
              <a:buNone/>
            </a:pPr>
            <a:r>
              <a:rPr lang="en-US" sz="1000" b="1" dirty="0">
                <a:solidFill>
                  <a:srgbClr val="2563EB"/>
                </a:solidFill>
                <a:latin typeface="Inter Bold" pitchFamily="34" charset="0"/>
                <a:ea typeface="Inter Bold" pitchFamily="34" charset="-122"/>
                <a:cs typeface="Inter Bold" pitchFamily="34" charset="-120"/>
              </a:rPr>
              <a:t>Flying Capacitor (FC) Advantages</a:t>
            </a:r>
            <a:endParaRPr lang="en-US" sz="1000" dirty="0"/>
          </a:p>
        </p:txBody>
      </p:sp>
      <p:sp>
        <p:nvSpPr>
          <p:cNvPr id="11" name="Text 7"/>
          <p:cNvSpPr/>
          <p:nvPr/>
        </p:nvSpPr>
        <p:spPr>
          <a:xfrm>
            <a:off x="571500" y="2550988"/>
            <a:ext cx="8001000" cy="182863"/>
          </a:xfrm>
          <a:prstGeom prst="rect">
            <a:avLst/>
          </a:prstGeom>
          <a:noFill/>
          <a:ln/>
        </p:spPr>
        <p:txBody>
          <a:bodyPr wrap="non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All 4 switches block identical voltage (Vdc/2 = 400V), ensuring </a:t>
            </a:r>
            <a:r>
              <a:rPr lang="en-US" sz="800" b="1" dirty="0">
                <a:solidFill>
                  <a:srgbClr val="000000"/>
                </a:solidFill>
                <a:latin typeface="Inter Bold" pitchFamily="34" charset="0"/>
                <a:ea typeface="Inter Bold" pitchFamily="34" charset="-122"/>
                <a:cs typeface="Inter Bold" pitchFamily="34" charset="-120"/>
              </a:rPr>
              <a:t>symmetric thermal stress</a:t>
            </a:r>
            <a:r>
              <a:rPr lang="en-US" sz="850" dirty="0">
                <a:solidFill>
                  <a:srgbClr val="333333"/>
                </a:solidFill>
                <a:latin typeface="Inter" pitchFamily="34" charset="0"/>
                <a:ea typeface="Inter" pitchFamily="34" charset="-122"/>
                <a:cs typeface="Inter" pitchFamily="34" charset="-120"/>
              </a:rPr>
              <a:t> and allowing identical power modules.</a:t>
            </a:r>
            <a:endParaRPr lang="en-US" sz="850" dirty="0"/>
          </a:p>
        </p:txBody>
      </p:sp>
      <p:sp>
        <p:nvSpPr>
          <p:cNvPr id="12" name="Text 8"/>
          <p:cNvSpPr/>
          <p:nvPr/>
        </p:nvSpPr>
        <p:spPr>
          <a:xfrm>
            <a:off x="571500" y="2819577"/>
            <a:ext cx="8001000" cy="182863"/>
          </a:xfrm>
          <a:prstGeom prst="rect">
            <a:avLst/>
          </a:prstGeom>
          <a:noFill/>
          <a:ln/>
        </p:spPr>
        <p:txBody>
          <a:bodyPr wrap="non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Redundant switching states enable </a:t>
            </a:r>
            <a:r>
              <a:rPr lang="en-US" sz="800" b="1" dirty="0">
                <a:solidFill>
                  <a:srgbClr val="000000"/>
                </a:solidFill>
                <a:latin typeface="Inter Bold" pitchFamily="34" charset="0"/>
                <a:ea typeface="Inter Bold" pitchFamily="34" charset="-122"/>
                <a:cs typeface="Inter Bold" pitchFamily="34" charset="-120"/>
              </a:rPr>
              <a:t>natural capacitor balancing</a:t>
            </a:r>
            <a:r>
              <a:rPr lang="en-US" sz="850" dirty="0">
                <a:solidFill>
                  <a:srgbClr val="333333"/>
                </a:solidFill>
                <a:latin typeface="Inter" pitchFamily="34" charset="0"/>
                <a:ea typeface="Inter" pitchFamily="34" charset="-122"/>
                <a:cs typeface="Inter" pitchFamily="34" charset="-120"/>
              </a:rPr>
              <a:t> regardless of the load power factor.</a:t>
            </a:r>
            <a:endParaRPr lang="en-US" sz="850" dirty="0"/>
          </a:p>
        </p:txBody>
      </p:sp>
      <p:sp>
        <p:nvSpPr>
          <p:cNvPr id="13" name="Text 9"/>
          <p:cNvSpPr/>
          <p:nvPr/>
        </p:nvSpPr>
        <p:spPr>
          <a:xfrm>
            <a:off x="571500" y="3088165"/>
            <a:ext cx="8001000" cy="182863"/>
          </a:xfrm>
          <a:prstGeom prst="rect">
            <a:avLst/>
          </a:prstGeom>
          <a:noFill/>
          <a:ln/>
        </p:spPr>
        <p:txBody>
          <a:bodyPr wrap="non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Trade-off:</a:t>
            </a:r>
            <a:r>
              <a:rPr lang="en-US" sz="850" dirty="0">
                <a:solidFill>
                  <a:srgbClr val="333333"/>
                </a:solidFill>
                <a:latin typeface="Inter" pitchFamily="34" charset="0"/>
                <a:ea typeface="Inter" pitchFamily="34" charset="-122"/>
                <a:cs typeface="Inter" pitchFamily="34" charset="-120"/>
              </a:rPr>
              <a:t> Requires a bulky capacitor and pre-charge circuit, which is acceptable in modern EVs where pre-charge contactors already exist.</a:t>
            </a:r>
            <a:endParaRPr lang="en-US" sz="800" dirty="0"/>
          </a:p>
        </p:txBody>
      </p:sp>
      <p:sp>
        <p:nvSpPr>
          <p:cNvPr id="14" name="Text 10"/>
          <p:cNvSpPr/>
          <p:nvPr/>
        </p:nvSpPr>
        <p:spPr>
          <a:xfrm>
            <a:off x="571500" y="255098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5" name="Text 11"/>
          <p:cNvSpPr/>
          <p:nvPr/>
        </p:nvSpPr>
        <p:spPr>
          <a:xfrm>
            <a:off x="571500" y="281957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6" name="Text 12"/>
          <p:cNvSpPr/>
          <p:nvPr/>
        </p:nvSpPr>
        <p:spPr>
          <a:xfrm>
            <a:off x="571500" y="3088165"/>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FC Switching States and PD-PWM</a:t>
            </a:r>
            <a:endParaRPr lang="en-US" sz="1400" dirty="0"/>
          </a:p>
        </p:txBody>
      </p:sp>
      <p:sp>
        <p:nvSpPr>
          <p:cNvPr id="5" name="Text 1"/>
          <p:cNvSpPr/>
          <p:nvPr/>
        </p:nvSpPr>
        <p:spPr>
          <a:xfrm>
            <a:off x="571500" y="1052978"/>
            <a:ext cx="3471863"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3-Phase Structure:</a:t>
            </a:r>
            <a:r>
              <a:rPr lang="en-US" sz="850" dirty="0">
                <a:solidFill>
                  <a:srgbClr val="333333"/>
                </a:solidFill>
                <a:latin typeface="Inter" pitchFamily="34" charset="0"/>
                <a:ea typeface="Inter" pitchFamily="34" charset="-122"/>
                <a:cs typeface="Inter" pitchFamily="34" charset="-120"/>
              </a:rPr>
              <a:t> Each phase leg (a, b, c) utilizes four </a:t>
            </a:r>
            <a:r>
              <a:rPr lang="en-US" sz="850" dirty="0">
                <a:solidFill>
                  <a:srgbClr val="333333"/>
                </a:solidFill>
                <a:latin typeface="Inter" pitchFamily="34" charset="0"/>
                <a:ea typeface="Inter" pitchFamily="34" charset="-122"/>
                <a:cs typeface="Inter" pitchFamily="34" charset="-120"/>
              </a:rPr>
              <a:t>switches (e.g., q1a, q2a, q2a, q1a) with a flying capacitor </a:t>
            </a:r>
            <a:r>
              <a:rPr lang="en-US" sz="850" dirty="0">
                <a:solidFill>
                  <a:srgbClr val="333333"/>
                </a:solidFill>
                <a:latin typeface="Inter" pitchFamily="34" charset="0"/>
                <a:ea typeface="Inter" pitchFamily="34" charset="-122"/>
                <a:cs typeface="Inter" pitchFamily="34" charset="-120"/>
              </a:rPr>
              <a:t>bridging the inner junctions.</a:t>
            </a:r>
            <a:endParaRPr lang="en-US" sz="800" dirty="0"/>
          </a:p>
        </p:txBody>
      </p:sp>
      <p:sp>
        <p:nvSpPr>
          <p:cNvPr id="6" name="Text 2"/>
          <p:cNvSpPr/>
          <p:nvPr/>
        </p:nvSpPr>
        <p:spPr>
          <a:xfrm>
            <a:off x="571500" y="1715867"/>
            <a:ext cx="3471863"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Output voltage levels:</a:t>
            </a:r>
            <a:r>
              <a:rPr lang="en-US" sz="850" dirty="0">
                <a:solidFill>
                  <a:srgbClr val="333333"/>
                </a:solidFill>
                <a:latin typeface="Inter" pitchFamily="34" charset="0"/>
                <a:ea typeface="Inter" pitchFamily="34" charset="-122"/>
                <a:cs typeface="Inter" pitchFamily="34" charset="-120"/>
              </a:rPr>
              <a:t> The topology synthesizes three </a:t>
            </a:r>
            <a:r>
              <a:rPr lang="en-US" sz="850" dirty="0">
                <a:solidFill>
                  <a:srgbClr val="333333"/>
                </a:solidFill>
                <a:latin typeface="Inter" pitchFamily="34" charset="0"/>
                <a:ea typeface="Inter" pitchFamily="34" charset="-122"/>
                <a:cs typeface="Inter" pitchFamily="34" charset="-120"/>
              </a:rPr>
              <a:t>distinct voltage levels per phase relative to the DC midpoint </a:t>
            </a:r>
            <a:r>
              <a:rPr lang="en-US" sz="850" dirty="0">
                <a:solidFill>
                  <a:srgbClr val="333333"/>
                </a:solidFill>
                <a:latin typeface="Inter" pitchFamily="34" charset="0"/>
                <a:ea typeface="Inter" pitchFamily="34" charset="-122"/>
                <a:cs typeface="Inter" pitchFamily="34" charset="-120"/>
              </a:rPr>
              <a:t>(0): +Vdc, 0, and -Vdc.</a:t>
            </a:r>
            <a:endParaRPr lang="en-US" sz="800" dirty="0"/>
          </a:p>
        </p:txBody>
      </p:sp>
      <p:sp>
        <p:nvSpPr>
          <p:cNvPr id="7" name="Text 3"/>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8" name="Text 4"/>
          <p:cNvSpPr/>
          <p:nvPr/>
        </p:nvSpPr>
        <p:spPr>
          <a:xfrm>
            <a:off x="571500" y="171586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9" name="Text 5"/>
          <p:cNvSpPr/>
          <p:nvPr/>
        </p:nvSpPr>
        <p:spPr>
          <a:xfrm>
            <a:off x="571500" y="237875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0" name="Text 6"/>
          <p:cNvSpPr/>
          <p:nvPr/>
        </p:nvSpPr>
        <p:spPr>
          <a:xfrm>
            <a:off x="685800" y="2400188"/>
            <a:ext cx="2678906" cy="137517"/>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Redundant zero states enable natural balancing:</a:t>
            </a:r>
            <a:endParaRPr lang="en-US" sz="800" dirty="0"/>
          </a:p>
        </p:txBody>
      </p:sp>
      <p:sp>
        <p:nvSpPr>
          <p:cNvPr id="11" name="Shape 7"/>
          <p:cNvSpPr/>
          <p:nvPr/>
        </p:nvSpPr>
        <p:spPr>
          <a:xfrm>
            <a:off x="800100" y="2618770"/>
            <a:ext cx="3243263" cy="588634"/>
          </a:xfrm>
          <a:prstGeom prst="rect">
            <a:avLst/>
          </a:prstGeom>
          <a:solidFill>
            <a:srgbClr val="F5F5F5"/>
          </a:solidFill>
          <a:ln/>
        </p:spPr>
      </p:sp>
      <p:sp>
        <p:nvSpPr>
          <p:cNvPr id="12" name="Shape 8"/>
          <p:cNvSpPr/>
          <p:nvPr/>
        </p:nvSpPr>
        <p:spPr>
          <a:xfrm>
            <a:off x="800100" y="2618770"/>
            <a:ext cx="28575" cy="588634"/>
          </a:xfrm>
          <a:prstGeom prst="rect">
            <a:avLst/>
          </a:prstGeom>
          <a:solidFill>
            <a:srgbClr val="000000"/>
          </a:solidFill>
          <a:ln/>
        </p:spPr>
      </p:sp>
      <p:sp>
        <p:nvSpPr>
          <p:cNvPr id="13" name="Text 9"/>
          <p:cNvSpPr/>
          <p:nvPr/>
        </p:nvSpPr>
        <p:spPr>
          <a:xfrm>
            <a:off x="800100" y="2618770"/>
            <a:ext cx="3243263" cy="588634"/>
          </a:xfrm>
          <a:prstGeom prst="rect">
            <a:avLst/>
          </a:prstGeom>
          <a:noFill/>
          <a:ln/>
        </p:spPr>
        <p:txBody>
          <a:bodyPr wrap="square" lIns="170053" tIns="136017" rIns="170053" bIns="136017" rtlCol="0" anchor="t">
            <a:spAutoFit/>
          </a:bodyPr>
          <a:lstStyle/>
          <a:p>
            <a:pPr algn="l" indent="0" marL="0">
              <a:lnSpc>
                <a:spcPct val="144000"/>
              </a:lnSpc>
              <a:buNone/>
            </a:pPr>
            <a:r>
              <a:rPr lang="en-US" sz="700" b="1" dirty="0">
                <a:solidFill>
                  <a:srgbClr val="000000"/>
                </a:solidFill>
                <a:latin typeface="Inter Bold" pitchFamily="34" charset="0"/>
                <a:ea typeface="Inter Bold" pitchFamily="34" charset="-122"/>
                <a:cs typeface="Inter Bold" pitchFamily="34" charset="-120"/>
              </a:rPr>
              <a:t>State 1:</a:t>
            </a:r>
            <a:r>
              <a:rPr lang="en-US" sz="750" dirty="0">
                <a:solidFill>
                  <a:srgbClr val="000000"/>
                </a:solidFill>
                <a:latin typeface="Inter" pitchFamily="34" charset="0"/>
                <a:ea typeface="Inter" pitchFamily="34" charset="-122"/>
                <a:cs typeface="Inter" pitchFamily="34" charset="-120"/>
              </a:rPr>
              <a:t> q1=1, q2=0 → Output = 0V (Charges Cfc)</a:t>
            </a:r>
            <a:r>
              <a:rPr lang="en-US" sz="750" dirty="0">
                <a:solidFill>
                  <a:srgbClr val="000000"/>
                </a:solidFill>
                <a:latin typeface="Inter" pitchFamily="34" charset="0"/>
                <a:ea typeface="Inter" pitchFamily="34" charset="-122"/>
                <a:cs typeface="Inter" pitchFamily="34" charset="-120"/>
              </a:rPr>
              <a:t>
</a:t>
            </a:r>
            <a:r>
              <a:rPr lang="en-US" sz="700" b="1" dirty="0">
                <a:solidFill>
                  <a:srgbClr val="000000"/>
                </a:solidFill>
                <a:latin typeface="Inter Bold" pitchFamily="34" charset="0"/>
                <a:ea typeface="Inter Bold" pitchFamily="34" charset="-122"/>
                <a:cs typeface="Inter Bold" pitchFamily="34" charset="-120"/>
              </a:rPr>
              <a:t>State 2:</a:t>
            </a:r>
            <a:r>
              <a:rPr lang="en-US" sz="750" dirty="0">
                <a:solidFill>
                  <a:srgbClr val="000000"/>
                </a:solidFill>
                <a:latin typeface="Inter" pitchFamily="34" charset="0"/>
                <a:ea typeface="Inter" pitchFamily="34" charset="-122"/>
                <a:cs typeface="Inter" pitchFamily="34" charset="-120"/>
              </a:rPr>
              <a:t> q1=0, q2=1 → Output = 0V (Discharges Cfc)</a:t>
            </a:r>
            <a:endParaRPr lang="en-US" sz="750" dirty="0"/>
          </a:p>
        </p:txBody>
      </p:sp>
      <p:sp>
        <p:nvSpPr>
          <p:cNvPr id="14" name="Text 10"/>
          <p:cNvSpPr/>
          <p:nvPr/>
        </p:nvSpPr>
        <p:spPr>
          <a:xfrm>
            <a:off x="571500" y="3378854"/>
            <a:ext cx="3471863"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PD-PWM modulation:</a:t>
            </a:r>
            <a:r>
              <a:rPr lang="en-US" sz="850" dirty="0">
                <a:solidFill>
                  <a:srgbClr val="333333"/>
                </a:solidFill>
                <a:latin typeface="Inter" pitchFamily="34" charset="0"/>
                <a:ea typeface="Inter" pitchFamily="34" charset="-122"/>
                <a:cs typeface="Inter" pitchFamily="34" charset="-120"/>
              </a:rPr>
              <a:t> Phase Disposition PWM actively </a:t>
            </a:r>
            <a:r>
              <a:rPr lang="en-US" sz="850" dirty="0">
                <a:solidFill>
                  <a:srgbClr val="333333"/>
                </a:solidFill>
                <a:latin typeface="Inter" pitchFamily="34" charset="0"/>
                <a:ea typeface="Inter" pitchFamily="34" charset="-122"/>
                <a:cs typeface="Inter" pitchFamily="34" charset="-120"/>
              </a:rPr>
              <a:t>selects between the redundant zero states based on the </a:t>
            </a:r>
            <a:r>
              <a:rPr lang="en-US" sz="850" dirty="0">
                <a:solidFill>
                  <a:srgbClr val="333333"/>
                </a:solidFill>
                <a:latin typeface="Inter" pitchFamily="34" charset="0"/>
                <a:ea typeface="Inter" pitchFamily="34" charset="-122"/>
                <a:cs typeface="Inter" pitchFamily="34" charset="-120"/>
              </a:rPr>
              <a:t>phase current direction to maintain Vfc at exactly Vdc/2.</a:t>
            </a:r>
            <a:endParaRPr lang="en-US" sz="800" dirty="0"/>
          </a:p>
        </p:txBody>
      </p:sp>
      <p:sp>
        <p:nvSpPr>
          <p:cNvPr id="15" name="Text 11"/>
          <p:cNvSpPr/>
          <p:nvPr/>
        </p:nvSpPr>
        <p:spPr>
          <a:xfrm>
            <a:off x="571500" y="337885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6" name="Image 1" descr="preencoded.png">    </p:cNvPr>
          <p:cNvPicPr>
            <a:picLocks noChangeAspect="1"/>
          </p:cNvPicPr>
          <p:nvPr/>
        </p:nvPicPr>
        <p:blipFill>
          <a:blip r:embed="rId2"/>
          <a:stretch>
            <a:fillRect/>
          </a:stretch>
        </p:blipFill>
        <p:spPr>
          <a:xfrm>
            <a:off x="4329113" y="1052978"/>
            <a:ext cx="4243388" cy="3286125"/>
          </a:xfrm>
          <a:prstGeom prst="rect">
            <a:avLst/>
          </a:prstGeom>
        </p:spPr>
      </p:pic>
      <p:sp>
        <p:nvSpPr>
          <p:cNvPr id="17" name="Text 12"/>
          <p:cNvSpPr/>
          <p:nvPr/>
        </p:nvSpPr>
        <p:spPr>
          <a:xfrm>
            <a:off x="4329113" y="4396253"/>
            <a:ext cx="4243388" cy="105370"/>
          </a:xfrm>
          <a:prstGeom prst="rect">
            <a:avLst/>
          </a:prstGeom>
          <a:noFill/>
          <a:ln/>
        </p:spPr>
        <p:txBody>
          <a:bodyPr wrap="square" lIns="0" tIns="0" rIns="0" bIns="0" rtlCol="0" anchor="t">
            <a:spAutoFit/>
          </a:bodyPr>
          <a:lstStyle/>
          <a:p>
            <a:pPr algn="ctr" indent="0" marL="0">
              <a:buNone/>
            </a:pPr>
            <a:r>
              <a:rPr lang="en-US" sz="600" dirty="0">
                <a:solidFill>
                  <a:srgbClr val="666666"/>
                </a:solidFill>
                <a:latin typeface="Inter" pitchFamily="34" charset="0"/>
                <a:ea typeface="Inter" pitchFamily="34" charset="-122"/>
                <a:cs typeface="Inter" pitchFamily="34" charset="-120"/>
              </a:rPr>
              <a:t>Source: Advanced Power Electronics Converters (E. Cipriano)</a:t>
            </a:r>
            <a:endParaRPr lang="en-US" sz="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Component Selection</a:t>
            </a:r>
            <a:endParaRPr lang="en-US" sz="1400" dirty="0"/>
          </a:p>
        </p:txBody>
      </p:sp>
      <p:sp>
        <p:nvSpPr>
          <p:cNvPr id="5" name="Text 1"/>
          <p:cNvSpPr/>
          <p:nvPr/>
        </p:nvSpPr>
        <p:spPr>
          <a:xfrm>
            <a:off x="571500" y="1052978"/>
            <a:ext cx="3857625"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Switch: Wolfspeed CAB450M12XM3</a:t>
            </a:r>
            <a:r>
              <a:rPr lang="en-US" sz="850" dirty="0">
                <a:solidFill>
                  <a:srgbClr val="333333"/>
                </a:solidFill>
                <a:latin typeface="Inter" pitchFamily="34" charset="0"/>
                <a:ea typeface="Inter" pitchFamily="34" charset="-122"/>
                <a:cs typeface="Inter" pitchFamily="34" charset="-120"/>
              </a:rPr>
              <a:t> — 1200V rating provides a </a:t>
            </a:r>
            <a:r>
              <a:rPr lang="en-US" sz="850" dirty="0">
                <a:solidFill>
                  <a:srgbClr val="333333"/>
                </a:solidFill>
                <a:latin typeface="Inter" pitchFamily="34" charset="0"/>
                <a:ea typeface="Inter" pitchFamily="34" charset="-122"/>
                <a:cs typeface="Inter" pitchFamily="34" charset="-120"/>
              </a:rPr>
              <a:t>50% margin over the 400V/switch stress. 450A rating offers a 3.3× </a:t>
            </a:r>
            <a:r>
              <a:rPr lang="en-US" sz="850" dirty="0">
                <a:solidFill>
                  <a:srgbClr val="333333"/>
                </a:solidFill>
                <a:latin typeface="Inter" pitchFamily="34" charset="0"/>
                <a:ea typeface="Inter" pitchFamily="34" charset="-122"/>
                <a:cs typeface="Inter" pitchFamily="34" charset="-120"/>
              </a:rPr>
              <a:t>margin over the 136A peak current.</a:t>
            </a:r>
            <a:endParaRPr lang="en-US" sz="800" dirty="0"/>
          </a:p>
        </p:txBody>
      </p:sp>
      <p:sp>
        <p:nvSpPr>
          <p:cNvPr id="6" name="Text 2"/>
          <p:cNvSpPr/>
          <p:nvPr/>
        </p:nvSpPr>
        <p:spPr>
          <a:xfrm>
            <a:off x="571500" y="174444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SiC chosen over Si IGBT</a:t>
            </a:r>
            <a:r>
              <a:rPr lang="en-US" sz="850" dirty="0">
                <a:solidFill>
                  <a:srgbClr val="333333"/>
                </a:solidFill>
                <a:latin typeface="Inter" pitchFamily="34" charset="0"/>
                <a:ea typeface="Inter" pitchFamily="34" charset="-122"/>
                <a:cs typeface="Inter" pitchFamily="34" charset="-120"/>
              </a:rPr>
              <a:t> — Delivers 10× lower switching energy, </a:t>
            </a:r>
            <a:r>
              <a:rPr lang="en-US" sz="850" dirty="0">
                <a:solidFill>
                  <a:srgbClr val="333333"/>
                </a:solidFill>
                <a:latin typeface="Inter" pitchFamily="34" charset="0"/>
                <a:ea typeface="Inter" pitchFamily="34" charset="-122"/>
                <a:cs typeface="Inter" pitchFamily="34" charset="-120"/>
              </a:rPr>
              <a:t>eliminates tail current, and enables efficient 20 kHz operation.</a:t>
            </a:r>
            <a:endParaRPr lang="en-US" sz="800" dirty="0"/>
          </a:p>
        </p:txBody>
      </p:sp>
      <p:sp>
        <p:nvSpPr>
          <p:cNvPr id="7" name="Text 3"/>
          <p:cNvSpPr/>
          <p:nvPr/>
        </p:nvSpPr>
        <p:spPr>
          <a:xfrm>
            <a:off x="571500" y="2253044"/>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Capacitor sizing</a:t>
            </a:r>
            <a:r>
              <a:rPr lang="en-US" sz="850" dirty="0">
                <a:solidFill>
                  <a:srgbClr val="333333"/>
                </a:solidFill>
                <a:latin typeface="Inter" pitchFamily="34" charset="0"/>
                <a:ea typeface="Inter" pitchFamily="34" charset="-122"/>
                <a:cs typeface="Inter" pitchFamily="34" charset="-120"/>
              </a:rPr>
              <a:t> — C = Ipk / (2 × fsw_min × ΔVfc) = 136A / (2 × </a:t>
            </a:r>
            <a:r>
              <a:rPr lang="en-US" sz="850" dirty="0">
                <a:solidFill>
                  <a:srgbClr val="333333"/>
                </a:solidFill>
                <a:latin typeface="Inter" pitchFamily="34" charset="0"/>
                <a:ea typeface="Inter" pitchFamily="34" charset="-122"/>
                <a:cs typeface="Inter" pitchFamily="34" charset="-120"/>
              </a:rPr>
              <a:t>5kHz × 20V) = </a:t>
            </a:r>
            <a:r>
              <a:rPr lang="en-US" sz="800" b="1" dirty="0">
                <a:solidFill>
                  <a:srgbClr val="000000"/>
                </a:solidFill>
                <a:latin typeface="Inter Bold" pitchFamily="34" charset="0"/>
                <a:ea typeface="Inter Bold" pitchFamily="34" charset="-122"/>
                <a:cs typeface="Inter Bold" pitchFamily="34" charset="-120"/>
              </a:rPr>
              <a:t>680µF</a:t>
            </a:r>
            <a:r>
              <a:rPr lang="en-US" sz="850" dirty="0">
                <a:solidFill>
                  <a:srgbClr val="333333"/>
                </a:solidFill>
                <a:latin typeface="Inter" pitchFamily="34" charset="0"/>
                <a:ea typeface="Inter" pitchFamily="34" charset="-122"/>
                <a:cs typeface="Inter" pitchFamily="34" charset="-120"/>
              </a:rPr>
              <a:t>.</a:t>
            </a:r>
            <a:endParaRPr lang="en-US" sz="800" dirty="0"/>
          </a:p>
        </p:txBody>
      </p:sp>
      <p:sp>
        <p:nvSpPr>
          <p:cNvPr id="8" name="Text 4"/>
          <p:cNvSpPr/>
          <p:nvPr/>
        </p:nvSpPr>
        <p:spPr>
          <a:xfrm>
            <a:off x="571500" y="2761645"/>
            <a:ext cx="3857625"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Film capacitor (polypropylene)</a:t>
            </a:r>
            <a:r>
              <a:rPr lang="en-US" sz="850" dirty="0">
                <a:solidFill>
                  <a:srgbClr val="333333"/>
                </a:solidFill>
                <a:latin typeface="Inter" pitchFamily="34" charset="0"/>
                <a:ea typeface="Inter" pitchFamily="34" charset="-122"/>
                <a:cs typeface="Inter" pitchFamily="34" charset="-120"/>
              </a:rPr>
              <a:t> — Selected for ESR &lt; 5mΩ, &gt;100A </a:t>
            </a:r>
            <a:r>
              <a:rPr lang="en-US" sz="850" dirty="0">
                <a:solidFill>
                  <a:srgbClr val="333333"/>
                </a:solidFill>
                <a:latin typeface="Inter" pitchFamily="34" charset="0"/>
                <a:ea typeface="Inter" pitchFamily="34" charset="-122"/>
                <a:cs typeface="Inter" pitchFamily="34" charset="-120"/>
              </a:rPr>
              <a:t>RMS ripple capability, self-healing properties, and automotive-grade </a:t>
            </a:r>
            <a:r>
              <a:rPr lang="en-US" sz="850" dirty="0">
                <a:solidFill>
                  <a:srgbClr val="333333"/>
                </a:solidFill>
                <a:latin typeface="Inter" pitchFamily="34" charset="0"/>
                <a:ea typeface="Inter" pitchFamily="34" charset="-122"/>
                <a:cs typeface="Inter" pitchFamily="34" charset="-120"/>
              </a:rPr>
              <a:t>reliability.</a:t>
            </a:r>
            <a:endParaRPr lang="en-US" sz="800" dirty="0"/>
          </a:p>
        </p:txBody>
      </p:sp>
      <p:sp>
        <p:nvSpPr>
          <p:cNvPr id="9" name="Text 5"/>
          <p:cNvSpPr/>
          <p:nvPr/>
        </p:nvSpPr>
        <p:spPr>
          <a:xfrm>
            <a:off x="571500" y="3453110"/>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Thermal modeling</a:t>
            </a:r>
            <a:r>
              <a:rPr lang="en-US" sz="850" dirty="0">
                <a:solidFill>
                  <a:srgbClr val="333333"/>
                </a:solidFill>
                <a:latin typeface="Inter" pitchFamily="34" charset="0"/>
                <a:ea typeface="Inter" pitchFamily="34" charset="-122"/>
                <a:cs typeface="Inter" pitchFamily="34" charset="-120"/>
              </a:rPr>
              <a:t> — Rth_jc = 0.094 °C/W, modeled using a 4-layer </a:t>
            </a:r>
            <a:r>
              <a:rPr lang="en-US" sz="850" dirty="0">
                <a:solidFill>
                  <a:srgbClr val="333333"/>
                </a:solidFill>
                <a:latin typeface="Inter" pitchFamily="34" charset="0"/>
                <a:ea typeface="Inter" pitchFamily="34" charset="-122"/>
                <a:cs typeface="Inter" pitchFamily="34" charset="-120"/>
              </a:rPr>
              <a:t>Foster network for accurate transient thermal analysis.</a:t>
            </a:r>
            <a:endParaRPr lang="en-US" sz="800" dirty="0"/>
          </a:p>
        </p:txBody>
      </p:sp>
      <p:sp>
        <p:nvSpPr>
          <p:cNvPr id="10" name="Text 6"/>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174444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571500" y="225304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3" name="Text 9"/>
          <p:cNvSpPr/>
          <p:nvPr/>
        </p:nvSpPr>
        <p:spPr>
          <a:xfrm>
            <a:off x="571500" y="2761645"/>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4" name="Text 10"/>
          <p:cNvSpPr/>
          <p:nvPr/>
        </p:nvSpPr>
        <p:spPr>
          <a:xfrm>
            <a:off x="571500" y="3453110"/>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5" name="Image 1" descr="preencoded.png">    </p:cNvPr>
          <p:cNvPicPr>
            <a:picLocks noChangeAspect="1"/>
          </p:cNvPicPr>
          <p:nvPr/>
        </p:nvPicPr>
        <p:blipFill>
          <a:blip r:embed="rId2"/>
          <a:stretch>
            <a:fillRect/>
          </a:stretch>
        </p:blipFill>
        <p:spPr>
          <a:xfrm>
            <a:off x="4857750" y="1124415"/>
            <a:ext cx="3571875" cy="2857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Vehicle Architecture Mapping</a:t>
            </a:r>
            <a:endParaRPr lang="en-US" sz="1400" dirty="0"/>
          </a:p>
        </p:txBody>
      </p:sp>
      <p:sp>
        <p:nvSpPr>
          <p:cNvPr id="5" name="Text 1"/>
          <p:cNvSpPr/>
          <p:nvPr/>
        </p:nvSpPr>
        <p:spPr>
          <a:xfrm>
            <a:off x="571500" y="1052978"/>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Drivetrain parameters dictate the operating points: </a:t>
            </a:r>
            <a:r>
              <a:rPr lang="en-US" sz="800" b="1" dirty="0">
                <a:solidFill>
                  <a:srgbClr val="000000"/>
                </a:solidFill>
                <a:latin typeface="Inter Bold" pitchFamily="34" charset="0"/>
                <a:ea typeface="Inter Bold" pitchFamily="34" charset="-122"/>
                <a:cs typeface="Inter Bold" pitchFamily="34" charset="-120"/>
              </a:rPr>
              <a:t>G = 8.19</a:t>
            </a:r>
            <a:r>
              <a:rPr lang="en-US" sz="850" dirty="0">
                <a:solidFill>
                  <a:srgbClr val="333333"/>
                </a:solidFill>
                <a:latin typeface="Inter" pitchFamily="34" charset="0"/>
                <a:ea typeface="Inter" pitchFamily="34" charset="-122"/>
                <a:cs typeface="Inter" pitchFamily="34" charset="-120"/>
              </a:rPr>
              <a:t> gear </a:t>
            </a:r>
            <a:r>
              <a:rPr lang="en-US" sz="850" dirty="0">
                <a:solidFill>
                  <a:srgbClr val="333333"/>
                </a:solidFill>
                <a:latin typeface="Inter" pitchFamily="34" charset="0"/>
                <a:ea typeface="Inter" pitchFamily="34" charset="-122"/>
                <a:cs typeface="Inter" pitchFamily="34" charset="-120"/>
              </a:rPr>
              <a:t>ratio, </a:t>
            </a:r>
            <a:r>
              <a:rPr lang="en-US" sz="800" b="1" dirty="0">
                <a:solidFill>
                  <a:srgbClr val="000000"/>
                </a:solidFill>
                <a:latin typeface="Inter Bold" pitchFamily="34" charset="0"/>
                <a:ea typeface="Inter Bold" pitchFamily="34" charset="-122"/>
                <a:cs typeface="Inter Bold" pitchFamily="34" charset="-120"/>
              </a:rPr>
              <a:t>r = 0.315m</a:t>
            </a:r>
            <a:r>
              <a:rPr lang="en-US" sz="850" dirty="0">
                <a:solidFill>
                  <a:srgbClr val="333333"/>
                </a:solidFill>
                <a:latin typeface="Inter" pitchFamily="34" charset="0"/>
                <a:ea typeface="Inter" pitchFamily="34" charset="-122"/>
                <a:cs typeface="Inter" pitchFamily="34" charset="-120"/>
              </a:rPr>
              <a:t> tyre radius, </a:t>
            </a:r>
            <a:r>
              <a:rPr lang="en-US" sz="800" b="1" dirty="0">
                <a:solidFill>
                  <a:srgbClr val="000000"/>
                </a:solidFill>
                <a:latin typeface="Inter Bold" pitchFamily="34" charset="0"/>
                <a:ea typeface="Inter Bold" pitchFamily="34" charset="-122"/>
                <a:cs typeface="Inter Bold" pitchFamily="34" charset="-120"/>
              </a:rPr>
              <a:t>p = 4</a:t>
            </a:r>
            <a:r>
              <a:rPr lang="en-US" sz="850" dirty="0">
                <a:solidFill>
                  <a:srgbClr val="333333"/>
                </a:solidFill>
                <a:latin typeface="Inter" pitchFamily="34" charset="0"/>
                <a:ea typeface="Inter" pitchFamily="34" charset="-122"/>
                <a:cs typeface="Inter" pitchFamily="34" charset="-120"/>
              </a:rPr>
              <a:t> pole pairs.</a:t>
            </a:r>
            <a:endParaRPr lang="en-US" sz="850" dirty="0"/>
          </a:p>
        </p:txBody>
      </p:sp>
      <p:sp>
        <p:nvSpPr>
          <p:cNvPr id="6" name="Text 2"/>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7" name="Text 3"/>
          <p:cNvSpPr/>
          <p:nvPr/>
        </p:nvSpPr>
        <p:spPr>
          <a:xfrm>
            <a:off x="571500" y="156157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8" name="Text 4"/>
          <p:cNvSpPr/>
          <p:nvPr/>
        </p:nvSpPr>
        <p:spPr>
          <a:xfrm>
            <a:off x="685800" y="1583010"/>
            <a:ext cx="3671888" cy="137517"/>
          </a:xfrm>
          <a:prstGeom prst="rect">
            <a:avLst/>
          </a:prstGeom>
          <a:noFill/>
          <a:ln/>
        </p:spPr>
        <p:txBody>
          <a:bodyPr wrap="none" lIns="0"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Electrical frequency (fe) is directly proportional to vehicle speed (v):</a:t>
            </a:r>
            <a:endParaRPr lang="en-US" sz="850" dirty="0"/>
          </a:p>
        </p:txBody>
      </p:sp>
      <p:sp>
        <p:nvSpPr>
          <p:cNvPr id="9" name="Shape 5"/>
          <p:cNvSpPr/>
          <p:nvPr/>
        </p:nvSpPr>
        <p:spPr>
          <a:xfrm>
            <a:off x="685800" y="1801592"/>
            <a:ext cx="1428750" cy="354313"/>
          </a:xfrm>
          <a:prstGeom prst="rect">
            <a:avLst/>
          </a:prstGeom>
          <a:solidFill>
            <a:srgbClr val="F3F4F6"/>
          </a:solidFill>
          <a:ln/>
        </p:spPr>
      </p:sp>
      <p:sp>
        <p:nvSpPr>
          <p:cNvPr id="10" name="Shape 6"/>
          <p:cNvSpPr/>
          <p:nvPr/>
        </p:nvSpPr>
        <p:spPr>
          <a:xfrm>
            <a:off x="685800" y="1801592"/>
            <a:ext cx="28575" cy="354313"/>
          </a:xfrm>
          <a:prstGeom prst="rect">
            <a:avLst/>
          </a:prstGeom>
          <a:solidFill>
            <a:srgbClr val="2563EB"/>
          </a:solidFill>
          <a:ln/>
        </p:spPr>
      </p:sp>
      <p:sp>
        <p:nvSpPr>
          <p:cNvPr id="11" name="Text 7"/>
          <p:cNvSpPr/>
          <p:nvPr/>
        </p:nvSpPr>
        <p:spPr>
          <a:xfrm>
            <a:off x="685800" y="1801592"/>
            <a:ext cx="1428750" cy="354313"/>
          </a:xfrm>
          <a:prstGeom prst="rect">
            <a:avLst/>
          </a:prstGeom>
          <a:noFill/>
          <a:ln/>
        </p:spPr>
        <p:txBody>
          <a:bodyPr wrap="square" lIns="136017" tIns="102108" rIns="136017" bIns="102108"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fe = (v/r) × (G/2π) × p</a:t>
            </a:r>
            <a:endParaRPr lang="en-US" sz="800" dirty="0"/>
          </a:p>
        </p:txBody>
      </p:sp>
      <p:sp>
        <p:nvSpPr>
          <p:cNvPr id="12" name="Text 8"/>
          <p:cNvSpPr/>
          <p:nvPr/>
        </p:nvSpPr>
        <p:spPr>
          <a:xfrm>
            <a:off x="571500" y="235593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Using an RL load model (R = 1.3Ω, L = 2mH), </a:t>
            </a:r>
            <a:r>
              <a:rPr lang="en-US" sz="800" b="1" dirty="0">
                <a:solidFill>
                  <a:srgbClr val="000000"/>
                </a:solidFill>
                <a:latin typeface="Inter Bold" pitchFamily="34" charset="0"/>
                <a:ea typeface="Inter Bold" pitchFamily="34" charset="-122"/>
                <a:cs typeface="Inter Bold" pitchFamily="34" charset="-120"/>
              </a:rPr>
              <a:t>current decreases with </a:t>
            </a:r>
            <a:r>
              <a:rPr lang="en-US" sz="800" b="1" dirty="0">
                <a:solidFill>
                  <a:srgbClr val="000000"/>
                </a:solidFill>
                <a:latin typeface="Inter Bold" pitchFamily="34" charset="0"/>
                <a:ea typeface="Inter Bold" pitchFamily="34" charset="-122"/>
                <a:cs typeface="Inter Bold" pitchFamily="34" charset="-120"/>
              </a:rPr>
              <a:t>speed</a:t>
            </a:r>
            <a:r>
              <a:rPr lang="en-US" sz="850" dirty="0">
                <a:solidFill>
                  <a:srgbClr val="333333"/>
                </a:solidFill>
                <a:latin typeface="Inter" pitchFamily="34" charset="0"/>
                <a:ea typeface="Inter" pitchFamily="34" charset="-122"/>
                <a:cs typeface="Inter" pitchFamily="34" charset="-120"/>
              </a:rPr>
              <a:t> as load impedance increases.</a:t>
            </a:r>
            <a:endParaRPr lang="en-US" sz="850" dirty="0"/>
          </a:p>
        </p:txBody>
      </p:sp>
      <p:sp>
        <p:nvSpPr>
          <p:cNvPr id="13" name="Text 9"/>
          <p:cNvSpPr/>
          <p:nvPr/>
        </p:nvSpPr>
        <p:spPr>
          <a:xfrm>
            <a:off x="571500" y="2864532"/>
            <a:ext cx="3857625" cy="182863"/>
          </a:xfrm>
          <a:prstGeom prst="rect">
            <a:avLst/>
          </a:prstGeom>
          <a:noFill/>
          <a:ln/>
        </p:spPr>
        <p:txBody>
          <a:bodyPr wrap="non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Urban (40 km/h):</a:t>
            </a:r>
            <a:r>
              <a:rPr lang="en-US" sz="850" dirty="0">
                <a:solidFill>
                  <a:srgbClr val="333333"/>
                </a:solidFill>
                <a:latin typeface="Inter" pitchFamily="34" charset="0"/>
                <a:ea typeface="Inter" pitchFamily="34" charset="-122"/>
                <a:cs typeface="Inter" pitchFamily="34" charset="-120"/>
              </a:rPr>
              <a:t> fe = 184 Hz, Ipk = 136A — highest thermal stress.</a:t>
            </a:r>
            <a:endParaRPr lang="en-US" sz="800" dirty="0"/>
          </a:p>
        </p:txBody>
      </p:sp>
      <p:sp>
        <p:nvSpPr>
          <p:cNvPr id="14" name="Text 10"/>
          <p:cNvSpPr/>
          <p:nvPr/>
        </p:nvSpPr>
        <p:spPr>
          <a:xfrm>
            <a:off x="571500" y="3190270"/>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Highway (120 km/h):</a:t>
            </a:r>
            <a:r>
              <a:rPr lang="en-US" sz="850" dirty="0">
                <a:solidFill>
                  <a:srgbClr val="333333"/>
                </a:solidFill>
                <a:latin typeface="Inter" pitchFamily="34" charset="0"/>
                <a:ea typeface="Inter" pitchFamily="34" charset="-122"/>
                <a:cs typeface="Inter" pitchFamily="34" charset="-120"/>
              </a:rPr>
              <a:t> fe = 552 Hz, Ipk = 51A — lowest loss but </a:t>
            </a:r>
            <a:r>
              <a:rPr lang="en-US" sz="850" dirty="0">
                <a:solidFill>
                  <a:srgbClr val="333333"/>
                </a:solidFill>
                <a:latin typeface="Inter" pitchFamily="34" charset="0"/>
                <a:ea typeface="Inter" pitchFamily="34" charset="-122"/>
                <a:cs typeface="Inter" pitchFamily="34" charset="-120"/>
              </a:rPr>
              <a:t>highest frequency demand.</a:t>
            </a:r>
            <a:endParaRPr lang="en-US" sz="800" dirty="0"/>
          </a:p>
        </p:txBody>
      </p:sp>
      <p:sp>
        <p:nvSpPr>
          <p:cNvPr id="15" name="Text 11"/>
          <p:cNvSpPr/>
          <p:nvPr/>
        </p:nvSpPr>
        <p:spPr>
          <a:xfrm>
            <a:off x="571500" y="235593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6" name="Text 12"/>
          <p:cNvSpPr/>
          <p:nvPr/>
        </p:nvSpPr>
        <p:spPr>
          <a:xfrm>
            <a:off x="571500" y="286453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7" name="Text 13"/>
          <p:cNvSpPr/>
          <p:nvPr/>
        </p:nvSpPr>
        <p:spPr>
          <a:xfrm>
            <a:off x="571500" y="3190270"/>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8" name="Image 1" descr="preencoded.png">    </p:cNvPr>
          <p:cNvPicPr>
            <a:picLocks noChangeAspect="1"/>
          </p:cNvPicPr>
          <p:nvPr/>
        </p:nvPicPr>
        <p:blipFill>
          <a:blip r:embed="rId2"/>
          <a:stretch>
            <a:fillRect/>
          </a:stretch>
        </p:blipFill>
        <p:spPr>
          <a:xfrm>
            <a:off x="4857750" y="1124415"/>
            <a:ext cx="3571875" cy="2857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Switching Loss Analysis</a:t>
            </a:r>
            <a:endParaRPr lang="en-US" sz="1400" dirty="0"/>
          </a:p>
        </p:txBody>
      </p:sp>
      <p:sp>
        <p:nvSpPr>
          <p:cNvPr id="5" name="Text 1"/>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6" name="Text 2"/>
          <p:cNvSpPr/>
          <p:nvPr/>
        </p:nvSpPr>
        <p:spPr>
          <a:xfrm>
            <a:off x="685800" y="1074409"/>
            <a:ext cx="2034183" cy="137517"/>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Graovac-Purschel analytical method</a:t>
            </a:r>
            <a:endParaRPr lang="en-US" sz="800" dirty="0"/>
          </a:p>
        </p:txBody>
      </p:sp>
      <p:sp>
        <p:nvSpPr>
          <p:cNvPr id="7" name="Text 3"/>
          <p:cNvSpPr/>
          <p:nvPr/>
        </p:nvSpPr>
        <p:spPr>
          <a:xfrm>
            <a:off x="2719983" y="1074409"/>
            <a:ext cx="1382316" cy="137517"/>
          </a:xfrm>
          <a:prstGeom prst="rect">
            <a:avLst/>
          </a:prstGeom>
          <a:noFill/>
          <a:ln/>
        </p:spPr>
        <p:txBody>
          <a:bodyPr wrap="none" lIns="0"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used for loss calculation:</a:t>
            </a:r>
            <a:endParaRPr lang="en-US" sz="850" dirty="0"/>
          </a:p>
        </p:txBody>
      </p:sp>
      <p:sp>
        <p:nvSpPr>
          <p:cNvPr id="8" name="Shape 4"/>
          <p:cNvSpPr/>
          <p:nvPr/>
        </p:nvSpPr>
        <p:spPr>
          <a:xfrm>
            <a:off x="685800" y="1292991"/>
            <a:ext cx="3743325" cy="331459"/>
          </a:xfrm>
          <a:prstGeom prst="rect">
            <a:avLst/>
          </a:prstGeom>
          <a:solidFill>
            <a:srgbClr val="F3F4F6"/>
          </a:solidFill>
          <a:ln/>
        </p:spPr>
      </p:sp>
      <p:sp>
        <p:nvSpPr>
          <p:cNvPr id="9" name="Shape 5"/>
          <p:cNvSpPr/>
          <p:nvPr/>
        </p:nvSpPr>
        <p:spPr>
          <a:xfrm>
            <a:off x="685800" y="1292991"/>
            <a:ext cx="21431" cy="331459"/>
          </a:xfrm>
          <a:prstGeom prst="rect">
            <a:avLst/>
          </a:prstGeom>
          <a:solidFill>
            <a:srgbClr val="2563EB"/>
          </a:solidFill>
          <a:ln/>
        </p:spPr>
      </p:sp>
      <p:sp>
        <p:nvSpPr>
          <p:cNvPr id="10" name="Text 6"/>
          <p:cNvSpPr/>
          <p:nvPr/>
        </p:nvSpPr>
        <p:spPr>
          <a:xfrm>
            <a:off x="685800" y="1292991"/>
            <a:ext cx="3743325" cy="331459"/>
          </a:xfrm>
          <a:prstGeom prst="rect">
            <a:avLst/>
          </a:prstGeom>
          <a:noFill/>
          <a:ln/>
        </p:spPr>
        <p:txBody>
          <a:bodyPr wrap="square" lIns="102108" tIns="102108" rIns="102108" bIns="102108" rtlCol="0" anchor="t">
            <a:spAutoFit/>
          </a:bodyPr>
          <a:lstStyle/>
          <a:p>
            <a:pPr algn="l" indent="0" marL="0">
              <a:lnSpc>
                <a:spcPct val="128000"/>
              </a:lnSpc>
              <a:buNone/>
            </a:pPr>
            <a:r>
              <a:rPr lang="en-US" sz="750" dirty="0">
                <a:solidFill>
                  <a:srgbClr val="000000"/>
                </a:solidFill>
                <a:latin typeface="Inter" pitchFamily="34" charset="0"/>
                <a:ea typeface="Inter" pitchFamily="34" charset="-122"/>
                <a:cs typeface="Inter" pitchFamily="34" charset="-120"/>
              </a:rPr>
              <a:t>Psw = Nc × (fsw/π) × Esw_ref × (Ipk/Iref) × (Vdc_sw/Vref)</a:t>
            </a:r>
            <a:endParaRPr lang="en-US" sz="750" dirty="0"/>
          </a:p>
        </p:txBody>
      </p:sp>
      <p:sp>
        <p:nvSpPr>
          <p:cNvPr id="11" name="Text 7"/>
          <p:cNvSpPr/>
          <p:nvPr/>
        </p:nvSpPr>
        <p:spPr>
          <a:xfrm>
            <a:off x="571500" y="1767325"/>
            <a:ext cx="3857625"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Urban driving at 20 kHz:</a:t>
            </a:r>
            <a:r>
              <a:rPr lang="en-US" sz="850" dirty="0">
                <a:solidFill>
                  <a:srgbClr val="333333"/>
                </a:solidFill>
                <a:latin typeface="Inter" pitchFamily="34" charset="0"/>
                <a:ea typeface="Inter" pitchFamily="34" charset="-122"/>
                <a:cs typeface="Inter" pitchFamily="34" charset="-120"/>
              </a:rPr>
              <a:t> P_sw = 84.3 W/phase vs P_cond = 51.5 </a:t>
            </a:r>
            <a:r>
              <a:rPr lang="en-US" sz="850" dirty="0">
                <a:solidFill>
                  <a:srgbClr val="333333"/>
                </a:solidFill>
                <a:latin typeface="Inter" pitchFamily="34" charset="0"/>
                <a:ea typeface="Inter" pitchFamily="34" charset="-122"/>
                <a:cs typeface="Inter" pitchFamily="34" charset="-120"/>
              </a:rPr>
              <a:t>W/phase. Switching losses heavily dominate (63% of total) due to </a:t>
            </a:r>
            <a:r>
              <a:rPr lang="en-US" sz="850" dirty="0">
                <a:solidFill>
                  <a:srgbClr val="333333"/>
                </a:solidFill>
                <a:latin typeface="Inter" pitchFamily="34" charset="0"/>
                <a:ea typeface="Inter" pitchFamily="34" charset="-122"/>
                <a:cs typeface="Inter" pitchFamily="34" charset="-120"/>
              </a:rPr>
              <a:t>high phase currents (136A).</a:t>
            </a:r>
            <a:endParaRPr lang="en-US" sz="800" dirty="0"/>
          </a:p>
        </p:txBody>
      </p:sp>
      <p:sp>
        <p:nvSpPr>
          <p:cNvPr id="12" name="Text 8"/>
          <p:cNvSpPr/>
          <p:nvPr/>
        </p:nvSpPr>
        <p:spPr>
          <a:xfrm>
            <a:off x="571500" y="2458789"/>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Highway driving at 20 kHz:</a:t>
            </a:r>
            <a:r>
              <a:rPr lang="en-US" sz="850" dirty="0">
                <a:solidFill>
                  <a:srgbClr val="333333"/>
                </a:solidFill>
                <a:latin typeface="Inter" pitchFamily="34" charset="0"/>
                <a:ea typeface="Inter" pitchFamily="34" charset="-122"/>
                <a:cs typeface="Inter" pitchFamily="34" charset="-120"/>
              </a:rPr>
              <a:t> P_sw = 31.7 W/phase vs P_cond = 5.6 </a:t>
            </a:r>
            <a:r>
              <a:rPr lang="en-US" sz="850" dirty="0">
                <a:solidFill>
                  <a:srgbClr val="333333"/>
                </a:solidFill>
                <a:latin typeface="Inter" pitchFamily="34" charset="0"/>
                <a:ea typeface="Inter" pitchFamily="34" charset="-122"/>
                <a:cs typeface="Inter" pitchFamily="34" charset="-120"/>
              </a:rPr>
              <a:t>W/phase. Both losses are relatively low due to reduced current (51A).</a:t>
            </a:r>
            <a:endParaRPr lang="en-US" sz="800" dirty="0"/>
          </a:p>
        </p:txBody>
      </p:sp>
      <p:sp>
        <p:nvSpPr>
          <p:cNvPr id="13" name="Text 9"/>
          <p:cNvSpPr/>
          <p:nvPr/>
        </p:nvSpPr>
        <p:spPr>
          <a:xfrm>
            <a:off x="571500" y="296739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Key insight:</a:t>
            </a:r>
            <a:r>
              <a:rPr lang="en-US" sz="850" dirty="0">
                <a:solidFill>
                  <a:srgbClr val="333333"/>
                </a:solidFill>
                <a:latin typeface="Inter" pitchFamily="34" charset="0"/>
                <a:ea typeface="Inter" pitchFamily="34" charset="-122"/>
                <a:cs typeface="Inter" pitchFamily="34" charset="-120"/>
              </a:rPr>
              <a:t> Operating at 20 kHz is unnecessary at 40 km/h where </a:t>
            </a:r>
            <a:r>
              <a:rPr lang="en-US" sz="850" dirty="0">
                <a:solidFill>
                  <a:srgbClr val="333333"/>
                </a:solidFill>
                <a:latin typeface="Inter" pitchFamily="34" charset="0"/>
                <a:ea typeface="Inter" pitchFamily="34" charset="-122"/>
                <a:cs typeface="Inter" pitchFamily="34" charset="-120"/>
              </a:rPr>
              <a:t>the fundamental electrical frequency (fe) is only 184 Hz.</a:t>
            </a:r>
            <a:endParaRPr lang="en-US" sz="800" dirty="0"/>
          </a:p>
        </p:txBody>
      </p:sp>
      <p:sp>
        <p:nvSpPr>
          <p:cNvPr id="14" name="Text 10"/>
          <p:cNvSpPr/>
          <p:nvPr/>
        </p:nvSpPr>
        <p:spPr>
          <a:xfrm>
            <a:off x="571500" y="347599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 minimum carrier ratio (mf = fsw/fe) of 27 at 5 kHz / 184 Hz is </a:t>
            </a:r>
            <a:r>
              <a:rPr lang="en-US" sz="850" dirty="0">
                <a:solidFill>
                  <a:srgbClr val="333333"/>
                </a:solidFill>
                <a:latin typeface="Inter" pitchFamily="34" charset="0"/>
                <a:ea typeface="Inter" pitchFamily="34" charset="-122"/>
                <a:cs typeface="Inter" pitchFamily="34" charset="-120"/>
              </a:rPr>
              <a:t>sufficient to maintain excellent THD while drastically cutting losses.</a:t>
            </a:r>
            <a:endParaRPr lang="en-US" sz="850" dirty="0"/>
          </a:p>
        </p:txBody>
      </p:sp>
      <p:sp>
        <p:nvSpPr>
          <p:cNvPr id="15" name="Text 11"/>
          <p:cNvSpPr/>
          <p:nvPr/>
        </p:nvSpPr>
        <p:spPr>
          <a:xfrm>
            <a:off x="571500" y="1767325"/>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6" name="Text 12"/>
          <p:cNvSpPr/>
          <p:nvPr/>
        </p:nvSpPr>
        <p:spPr>
          <a:xfrm>
            <a:off x="571500" y="245878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7" name="Text 13"/>
          <p:cNvSpPr/>
          <p:nvPr/>
        </p:nvSpPr>
        <p:spPr>
          <a:xfrm>
            <a:off x="571500" y="296739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8" name="Text 14"/>
          <p:cNvSpPr/>
          <p:nvPr/>
        </p:nvSpPr>
        <p:spPr>
          <a:xfrm>
            <a:off x="571500" y="347599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9" name="Image 1" descr="preencoded.png">    </p:cNvPr>
          <p:cNvPicPr>
            <a:picLocks noChangeAspect="1"/>
          </p:cNvPicPr>
          <p:nvPr/>
        </p:nvPicPr>
        <p:blipFill>
          <a:blip r:embed="rId2"/>
          <a:stretch>
            <a:fillRect/>
          </a:stretch>
        </p:blipFill>
        <p:spPr>
          <a:xfrm>
            <a:off x="4714875" y="1052978"/>
            <a:ext cx="3857625" cy="328612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Adaptive Switching Frequency Schedule</a:t>
            </a:r>
            <a:endParaRPr lang="en-US" sz="1400" dirty="0"/>
          </a:p>
        </p:txBody>
      </p:sp>
      <p:pic>
        <p:nvPicPr>
          <p:cNvPr id="5" name="Image 1" descr="preencoded.png">    </p:cNvPr>
          <p:cNvPicPr>
            <a:picLocks noChangeAspect="1"/>
          </p:cNvPicPr>
          <p:nvPr/>
        </p:nvPicPr>
        <p:blipFill>
          <a:blip r:embed="rId2"/>
          <a:stretch>
            <a:fillRect/>
          </a:stretch>
        </p:blipFill>
        <p:spPr>
          <a:xfrm>
            <a:off x="571500" y="1052978"/>
            <a:ext cx="3857625" cy="3286125"/>
          </a:xfrm>
          <a:prstGeom prst="rect">
            <a:avLst/>
          </a:prstGeom>
        </p:spPr>
      </p:pic>
      <p:sp>
        <p:nvSpPr>
          <p:cNvPr id="6" name="Text 1"/>
          <p:cNvSpPr/>
          <p:nvPr/>
        </p:nvSpPr>
        <p:spPr>
          <a:xfrm>
            <a:off x="4714875"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7" name="Text 2"/>
          <p:cNvSpPr/>
          <p:nvPr/>
        </p:nvSpPr>
        <p:spPr>
          <a:xfrm>
            <a:off x="4829175" y="1074409"/>
            <a:ext cx="1980605" cy="137517"/>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Adaptive Schedule Implementation:</a:t>
            </a:r>
            <a:endParaRPr lang="en-US" sz="800" dirty="0"/>
          </a:p>
        </p:txBody>
      </p:sp>
      <p:sp>
        <p:nvSpPr>
          <p:cNvPr id="8" name="Shape 3"/>
          <p:cNvSpPr/>
          <p:nvPr/>
        </p:nvSpPr>
        <p:spPr>
          <a:xfrm>
            <a:off x="4829175" y="1292991"/>
            <a:ext cx="3743325" cy="651477"/>
          </a:xfrm>
          <a:prstGeom prst="rect">
            <a:avLst/>
          </a:prstGeom>
          <a:solidFill>
            <a:srgbClr val="F3F4F6"/>
          </a:solidFill>
          <a:ln/>
        </p:spPr>
      </p:sp>
      <p:sp>
        <p:nvSpPr>
          <p:cNvPr id="9" name="Shape 4"/>
          <p:cNvSpPr/>
          <p:nvPr/>
        </p:nvSpPr>
        <p:spPr>
          <a:xfrm>
            <a:off x="4829175" y="1292991"/>
            <a:ext cx="21431" cy="651477"/>
          </a:xfrm>
          <a:prstGeom prst="rect">
            <a:avLst/>
          </a:prstGeom>
          <a:solidFill>
            <a:srgbClr val="2563EB"/>
          </a:solidFill>
          <a:ln/>
        </p:spPr>
      </p:sp>
      <p:sp>
        <p:nvSpPr>
          <p:cNvPr id="10" name="Text 5"/>
          <p:cNvSpPr/>
          <p:nvPr/>
        </p:nvSpPr>
        <p:spPr>
          <a:xfrm>
            <a:off x="4829175" y="1292991"/>
            <a:ext cx="3743325" cy="651477"/>
          </a:xfrm>
          <a:prstGeom prst="rect">
            <a:avLst/>
          </a:prstGeom>
          <a:noFill/>
          <a:ln/>
        </p:spPr>
        <p:txBody>
          <a:bodyPr wrap="square" lIns="102108" tIns="102108" rIns="102108" bIns="102108" rtlCol="0" anchor="t">
            <a:spAutoFit/>
          </a:bodyPr>
          <a:lstStyle/>
          <a:p>
            <a:pPr algn="l" indent="0" marL="0">
              <a:lnSpc>
                <a:spcPct val="128000"/>
              </a:lnSpc>
              <a:buNone/>
            </a:pPr>
            <a:r>
              <a:rPr lang="en-US" sz="700" b="1" dirty="0">
                <a:solidFill>
                  <a:srgbClr val="000000"/>
                </a:solidFill>
                <a:latin typeface="Inter Bold" pitchFamily="34" charset="0"/>
                <a:ea typeface="Inter Bold" pitchFamily="34" charset="-122"/>
                <a:cs typeface="Inter Bold" pitchFamily="34" charset="-120"/>
              </a:rPr>
              <a:t>5 kHz:</a:t>
            </a:r>
            <a:r>
              <a:rPr lang="en-US" sz="750" dirty="0">
                <a:solidFill>
                  <a:srgbClr val="000000"/>
                </a:solidFill>
                <a:latin typeface="Inter" pitchFamily="34" charset="0"/>
                <a:ea typeface="Inter" pitchFamily="34" charset="-122"/>
                <a:cs typeface="Inter" pitchFamily="34" charset="-120"/>
              </a:rPr>
              <a:t> Urban driving (v &lt; 60 km/h)</a:t>
            </a:r>
            <a:r>
              <a:rPr lang="en-US" sz="750" dirty="0">
                <a:solidFill>
                  <a:srgbClr val="000000"/>
                </a:solidFill>
                <a:latin typeface="Inter" pitchFamily="34" charset="0"/>
                <a:ea typeface="Inter" pitchFamily="34" charset="-122"/>
                <a:cs typeface="Inter" pitchFamily="34" charset="-120"/>
              </a:rPr>
              <a:t>
</a:t>
            </a:r>
            <a:r>
              <a:rPr lang="en-US" sz="700" b="1" dirty="0">
                <a:solidFill>
                  <a:srgbClr val="000000"/>
                </a:solidFill>
                <a:latin typeface="Inter Bold" pitchFamily="34" charset="0"/>
                <a:ea typeface="Inter Bold" pitchFamily="34" charset="-122"/>
                <a:cs typeface="Inter Bold" pitchFamily="34" charset="-120"/>
              </a:rPr>
              <a:t>10 kHz:</a:t>
            </a:r>
            <a:r>
              <a:rPr lang="en-US" sz="750" dirty="0">
                <a:solidFill>
                  <a:srgbClr val="000000"/>
                </a:solidFill>
                <a:latin typeface="Inter" pitchFamily="34" charset="0"/>
                <a:ea typeface="Inter" pitchFamily="34" charset="-122"/>
                <a:cs typeface="Inter" pitchFamily="34" charset="-120"/>
              </a:rPr>
              <a:t> Extra-Urban (60-90 km/h)</a:t>
            </a:r>
            <a:r>
              <a:rPr lang="en-US" sz="750" dirty="0">
                <a:solidFill>
                  <a:srgbClr val="000000"/>
                </a:solidFill>
                <a:latin typeface="Inter" pitchFamily="34" charset="0"/>
                <a:ea typeface="Inter" pitchFamily="34" charset="-122"/>
                <a:cs typeface="Inter" pitchFamily="34" charset="-120"/>
              </a:rPr>
              <a:t>
</a:t>
            </a:r>
            <a:r>
              <a:rPr lang="en-US" sz="700" b="1" dirty="0">
                <a:solidFill>
                  <a:srgbClr val="000000"/>
                </a:solidFill>
                <a:latin typeface="Inter Bold" pitchFamily="34" charset="0"/>
                <a:ea typeface="Inter Bold" pitchFamily="34" charset="-122"/>
                <a:cs typeface="Inter Bold" pitchFamily="34" charset="-120"/>
              </a:rPr>
              <a:t>20 kHz:</a:t>
            </a:r>
            <a:r>
              <a:rPr lang="en-US" sz="750" dirty="0">
                <a:solidFill>
                  <a:srgbClr val="000000"/>
                </a:solidFill>
                <a:latin typeface="Inter" pitchFamily="34" charset="0"/>
                <a:ea typeface="Inter" pitchFamily="34" charset="-122"/>
                <a:cs typeface="Inter" pitchFamily="34" charset="-120"/>
              </a:rPr>
              <a:t> Highway (v &gt; 90 km/h)</a:t>
            </a:r>
            <a:endParaRPr lang="en-US" sz="750" dirty="0"/>
          </a:p>
        </p:txBody>
      </p:sp>
      <p:sp>
        <p:nvSpPr>
          <p:cNvPr id="11" name="Text 6"/>
          <p:cNvSpPr/>
          <p:nvPr/>
        </p:nvSpPr>
        <p:spPr>
          <a:xfrm>
            <a:off x="4714875" y="208734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Urban Saving:</a:t>
            </a:r>
            <a:r>
              <a:rPr lang="en-US" sz="850" dirty="0">
                <a:solidFill>
                  <a:srgbClr val="333333"/>
                </a:solidFill>
                <a:latin typeface="Inter" pitchFamily="34" charset="0"/>
                <a:ea typeface="Inter" pitchFamily="34" charset="-122"/>
                <a:cs typeface="Inter" pitchFamily="34" charset="-120"/>
              </a:rPr>
              <a:t> Switching loss drops from 84.3W to 21.1W per phase, </a:t>
            </a:r>
            <a:r>
              <a:rPr lang="en-US" sz="850" dirty="0">
                <a:solidFill>
                  <a:srgbClr val="333333"/>
                </a:solidFill>
                <a:latin typeface="Inter" pitchFamily="34" charset="0"/>
                <a:ea typeface="Inter" pitchFamily="34" charset="-122"/>
                <a:cs typeface="Inter" pitchFamily="34" charset="-120"/>
              </a:rPr>
              <a:t>representing a massive </a:t>
            </a:r>
            <a:r>
              <a:rPr lang="en-US" sz="800" b="1" dirty="0">
                <a:solidFill>
                  <a:srgbClr val="000000"/>
                </a:solidFill>
                <a:latin typeface="Inter Bold" pitchFamily="34" charset="0"/>
                <a:ea typeface="Inter Bold" pitchFamily="34" charset="-122"/>
                <a:cs typeface="Inter Bold" pitchFamily="34" charset="-120"/>
              </a:rPr>
              <a:t>75% reduction</a:t>
            </a:r>
            <a:r>
              <a:rPr lang="en-US" sz="850" dirty="0">
                <a:solidFill>
                  <a:srgbClr val="333333"/>
                </a:solidFill>
                <a:latin typeface="Inter" pitchFamily="34" charset="0"/>
                <a:ea typeface="Inter" pitchFamily="34" charset="-122"/>
                <a:cs typeface="Inter" pitchFamily="34" charset="-120"/>
              </a:rPr>
              <a:t>.</a:t>
            </a:r>
            <a:endParaRPr lang="en-US" sz="800" dirty="0"/>
          </a:p>
        </p:txBody>
      </p:sp>
      <p:sp>
        <p:nvSpPr>
          <p:cNvPr id="12" name="Text 7"/>
          <p:cNvSpPr/>
          <p:nvPr/>
        </p:nvSpPr>
        <p:spPr>
          <a:xfrm>
            <a:off x="4714875" y="2595944"/>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Total Efficiency Gain:</a:t>
            </a:r>
            <a:r>
              <a:rPr lang="en-US" sz="850" dirty="0">
                <a:solidFill>
                  <a:srgbClr val="333333"/>
                </a:solidFill>
                <a:latin typeface="Inter" pitchFamily="34" charset="0"/>
                <a:ea typeface="Inter" pitchFamily="34" charset="-122"/>
                <a:cs typeface="Inter" pitchFamily="34" charset="-120"/>
              </a:rPr>
              <a:t> The 3-phase total saving at 40 km/h is </a:t>
            </a:r>
            <a:r>
              <a:rPr lang="en-US" sz="800" b="1" dirty="0">
                <a:solidFill>
                  <a:srgbClr val="000000"/>
                </a:solidFill>
                <a:latin typeface="Inter Bold" pitchFamily="34" charset="0"/>
                <a:ea typeface="Inter Bold" pitchFamily="34" charset="-122"/>
                <a:cs typeface="Inter Bold" pitchFamily="34" charset="-120"/>
              </a:rPr>
              <a:t>190W</a:t>
            </a:r>
            <a:r>
              <a:rPr lang="en-US" sz="850" dirty="0">
                <a:solidFill>
                  <a:srgbClr val="333333"/>
                </a:solidFill>
                <a:latin typeface="Inter" pitchFamily="34" charset="0"/>
                <a:ea typeface="Inter" pitchFamily="34" charset="-122"/>
                <a:cs typeface="Inter" pitchFamily="34" charset="-120"/>
              </a:rPr>
              <a:t>, </a:t>
            </a:r>
            <a:r>
              <a:rPr lang="en-US" sz="850" dirty="0">
                <a:solidFill>
                  <a:srgbClr val="333333"/>
                </a:solidFill>
                <a:latin typeface="Inter" pitchFamily="34" charset="0"/>
                <a:ea typeface="Inter" pitchFamily="34" charset="-122"/>
                <a:cs typeface="Inter" pitchFamily="34" charset="-120"/>
              </a:rPr>
              <a:t>directly extending EV range in city driving.</a:t>
            </a:r>
            <a:endParaRPr lang="en-US" sz="800" dirty="0"/>
          </a:p>
        </p:txBody>
      </p:sp>
      <p:sp>
        <p:nvSpPr>
          <p:cNvPr id="13" name="Text 8"/>
          <p:cNvSpPr/>
          <p:nvPr/>
        </p:nvSpPr>
        <p:spPr>
          <a:xfrm>
            <a:off x="4714875" y="3104545"/>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THD Remains Excellent:</a:t>
            </a:r>
            <a:r>
              <a:rPr lang="en-US" sz="850" dirty="0">
                <a:solidFill>
                  <a:srgbClr val="333333"/>
                </a:solidFill>
                <a:latin typeface="Inter" pitchFamily="34" charset="0"/>
                <a:ea typeface="Inter" pitchFamily="34" charset="-122"/>
                <a:cs typeface="Inter" pitchFamily="34" charset="-120"/>
              </a:rPr>
              <a:t> Despite the lower frequency, THD is 1.92% </a:t>
            </a:r>
            <a:r>
              <a:rPr lang="en-US" sz="850" dirty="0">
                <a:solidFill>
                  <a:srgbClr val="333333"/>
                </a:solidFill>
                <a:latin typeface="Inter" pitchFamily="34" charset="0"/>
                <a:ea typeface="Inter" pitchFamily="34" charset="-122"/>
                <a:cs typeface="Inter" pitchFamily="34" charset="-120"/>
              </a:rPr>
              <a:t>at 5 kHz (urban) and 1.13% at 20 kHz (highway).</a:t>
            </a:r>
            <a:endParaRPr lang="en-US" sz="800" dirty="0"/>
          </a:p>
        </p:txBody>
      </p:sp>
      <p:sp>
        <p:nvSpPr>
          <p:cNvPr id="14" name="Text 9"/>
          <p:cNvSpPr/>
          <p:nvPr/>
        </p:nvSpPr>
        <p:spPr>
          <a:xfrm>
            <a:off x="4714875" y="3613147"/>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Highway Performance:</a:t>
            </a:r>
            <a:r>
              <a:rPr lang="en-US" sz="850" dirty="0">
                <a:solidFill>
                  <a:srgbClr val="333333"/>
                </a:solidFill>
                <a:latin typeface="Inter" pitchFamily="34" charset="0"/>
                <a:ea typeface="Inter" pitchFamily="34" charset="-122"/>
                <a:cs typeface="Inter" pitchFamily="34" charset="-120"/>
              </a:rPr>
              <a:t> No change in losses, as both schedules </a:t>
            </a:r>
            <a:r>
              <a:rPr lang="en-US" sz="850" dirty="0">
                <a:solidFill>
                  <a:srgbClr val="333333"/>
                </a:solidFill>
                <a:latin typeface="Inter" pitchFamily="34" charset="0"/>
                <a:ea typeface="Inter" pitchFamily="34" charset="-122"/>
                <a:cs typeface="Inter" pitchFamily="34" charset="-120"/>
              </a:rPr>
              <a:t>utilize 20 kHz to support the high fundamental frequency (552 Hz).</a:t>
            </a:r>
            <a:endParaRPr lang="en-US" sz="800" dirty="0"/>
          </a:p>
        </p:txBody>
      </p:sp>
      <p:sp>
        <p:nvSpPr>
          <p:cNvPr id="15" name="Text 10"/>
          <p:cNvSpPr/>
          <p:nvPr/>
        </p:nvSpPr>
        <p:spPr>
          <a:xfrm>
            <a:off x="4714875" y="208734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6" name="Text 11"/>
          <p:cNvSpPr/>
          <p:nvPr/>
        </p:nvSpPr>
        <p:spPr>
          <a:xfrm>
            <a:off x="4714875" y="259594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7" name="Text 12"/>
          <p:cNvSpPr/>
          <p:nvPr/>
        </p:nvSpPr>
        <p:spPr>
          <a:xfrm>
            <a:off x="4714875" y="3104545"/>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8" name="Text 13"/>
          <p:cNvSpPr/>
          <p:nvPr/>
        </p:nvSpPr>
        <p:spPr>
          <a:xfrm>
            <a:off x="4714875" y="361314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Thermal Impact of Adaptive Schedule</a:t>
            </a:r>
            <a:endParaRPr lang="en-US" sz="1400" dirty="0"/>
          </a:p>
        </p:txBody>
      </p:sp>
      <p:sp>
        <p:nvSpPr>
          <p:cNvPr id="5" name="Text 1"/>
          <p:cNvSpPr/>
          <p:nvPr/>
        </p:nvSpPr>
        <p:spPr>
          <a:xfrm>
            <a:off x="571500" y="1052978"/>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Urban Tj reduction:</a:t>
            </a:r>
            <a:r>
              <a:rPr lang="en-US" sz="850" dirty="0">
                <a:solidFill>
                  <a:srgbClr val="333333"/>
                </a:solidFill>
                <a:latin typeface="Inter" pitchFamily="34" charset="0"/>
                <a:ea typeface="Inter" pitchFamily="34" charset="-122"/>
                <a:cs typeface="Inter" pitchFamily="34" charset="-120"/>
              </a:rPr>
              <a:t> Junction temperature drops from 63.2°C (fixed </a:t>
            </a:r>
            <a:r>
              <a:rPr lang="en-US" sz="850" dirty="0">
                <a:solidFill>
                  <a:srgbClr val="333333"/>
                </a:solidFill>
                <a:latin typeface="Inter" pitchFamily="34" charset="0"/>
                <a:ea typeface="Inter" pitchFamily="34" charset="-122"/>
                <a:cs typeface="Inter" pitchFamily="34" charset="-120"/>
              </a:rPr>
              <a:t>20 kHz) to 53.5°C (adaptive 5 kHz) — a </a:t>
            </a:r>
            <a:r>
              <a:rPr lang="en-US" sz="800" b="1" dirty="0">
                <a:solidFill>
                  <a:srgbClr val="000000"/>
                </a:solidFill>
                <a:latin typeface="Inter Bold" pitchFamily="34" charset="0"/>
                <a:ea typeface="Inter Bold" pitchFamily="34" charset="-122"/>
                <a:cs typeface="Inter Bold" pitchFamily="34" charset="-120"/>
              </a:rPr>
              <a:t>ΔTj of 9.7°C</a:t>
            </a:r>
            <a:r>
              <a:rPr lang="en-US" sz="850" dirty="0">
                <a:solidFill>
                  <a:srgbClr val="333333"/>
                </a:solidFill>
                <a:latin typeface="Inter" pitchFamily="34" charset="0"/>
                <a:ea typeface="Inter" pitchFamily="34" charset="-122"/>
                <a:cs typeface="Inter" pitchFamily="34" charset="-120"/>
              </a:rPr>
              <a:t>.</a:t>
            </a:r>
            <a:endParaRPr lang="en-US" sz="800" dirty="0"/>
          </a:p>
        </p:txBody>
      </p:sp>
      <p:sp>
        <p:nvSpPr>
          <p:cNvPr id="6" name="Text 2"/>
          <p:cNvSpPr/>
          <p:nvPr/>
        </p:nvSpPr>
        <p:spPr>
          <a:xfrm>
            <a:off x="571500" y="1561579"/>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Peak torque Tj reduction:</a:t>
            </a:r>
            <a:r>
              <a:rPr lang="en-US" sz="850" dirty="0">
                <a:solidFill>
                  <a:srgbClr val="333333"/>
                </a:solidFill>
                <a:latin typeface="Inter" pitchFamily="34" charset="0"/>
                <a:ea typeface="Inter" pitchFamily="34" charset="-122"/>
                <a:cs typeface="Inter" pitchFamily="34" charset="-120"/>
              </a:rPr>
              <a:t> At 20 km/h, the temperature drops from </a:t>
            </a:r>
            <a:r>
              <a:rPr lang="en-US" sz="850" dirty="0">
                <a:solidFill>
                  <a:srgbClr val="333333"/>
                </a:solidFill>
                <a:latin typeface="Inter" pitchFamily="34" charset="0"/>
                <a:ea typeface="Inter" pitchFamily="34" charset="-122"/>
                <a:cs typeface="Inter" pitchFamily="34" charset="-120"/>
              </a:rPr>
              <a:t>87.4°C to 71.3°C — a massive </a:t>
            </a:r>
            <a:r>
              <a:rPr lang="en-US" sz="800" b="1" dirty="0">
                <a:solidFill>
                  <a:srgbClr val="000000"/>
                </a:solidFill>
                <a:latin typeface="Inter Bold" pitchFamily="34" charset="0"/>
                <a:ea typeface="Inter Bold" pitchFamily="34" charset="-122"/>
                <a:cs typeface="Inter Bold" pitchFamily="34" charset="-120"/>
              </a:rPr>
              <a:t>ΔTj of 16.2°C</a:t>
            </a:r>
            <a:r>
              <a:rPr lang="en-US" sz="850" dirty="0">
                <a:solidFill>
                  <a:srgbClr val="333333"/>
                </a:solidFill>
                <a:latin typeface="Inter" pitchFamily="34" charset="0"/>
                <a:ea typeface="Inter" pitchFamily="34" charset="-122"/>
                <a:cs typeface="Inter" pitchFamily="34" charset="-120"/>
              </a:rPr>
              <a:t>.</a:t>
            </a:r>
            <a:endParaRPr lang="en-US" sz="800" dirty="0"/>
          </a:p>
        </p:txBody>
      </p:sp>
      <p:sp>
        <p:nvSpPr>
          <p:cNvPr id="7" name="Text 3"/>
          <p:cNvSpPr/>
          <p:nvPr/>
        </p:nvSpPr>
        <p:spPr>
          <a:xfrm>
            <a:off x="571500" y="207018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Thermal cycling amplitude</a:t>
            </a:r>
            <a:r>
              <a:rPr lang="en-US" sz="850" dirty="0">
                <a:solidFill>
                  <a:srgbClr val="333333"/>
                </a:solidFill>
                <a:latin typeface="Inter" pitchFamily="34" charset="0"/>
                <a:ea typeface="Inter" pitchFamily="34" charset="-122"/>
                <a:cs typeface="Inter" pitchFamily="34" charset="-120"/>
              </a:rPr>
              <a:t> over a mixed drive cycle is reduced by </a:t>
            </a:r>
            <a:r>
              <a:rPr lang="en-US" sz="850" dirty="0">
                <a:solidFill>
                  <a:srgbClr val="333333"/>
                </a:solidFill>
                <a:latin typeface="Inter" pitchFamily="34" charset="0"/>
                <a:ea typeface="Inter" pitchFamily="34" charset="-122"/>
                <a:cs typeface="Inter" pitchFamily="34" charset="-120"/>
              </a:rPr>
              <a:t>53% (from 16.4°C to 7.7°C).</a:t>
            </a:r>
            <a:endParaRPr lang="en-US" sz="800" dirty="0"/>
          </a:p>
        </p:txBody>
      </p:sp>
      <p:sp>
        <p:nvSpPr>
          <p:cNvPr id="8" name="Text 4"/>
          <p:cNvSpPr/>
          <p:nvPr/>
        </p:nvSpPr>
        <p:spPr>
          <a:xfrm>
            <a:off x="571500" y="257878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Per the Coffin-Manson fatigue model, this reduced thermal cycling </a:t>
            </a:r>
            <a:r>
              <a:rPr lang="en-US" sz="850" dirty="0">
                <a:solidFill>
                  <a:srgbClr val="333333"/>
                </a:solidFill>
                <a:latin typeface="Inter" pitchFamily="34" charset="0"/>
                <a:ea typeface="Inter" pitchFamily="34" charset="-122"/>
                <a:cs typeface="Inter" pitchFamily="34" charset="-120"/>
              </a:rPr>
              <a:t>directly and significantly </a:t>
            </a:r>
            <a:r>
              <a:rPr lang="en-US" sz="800" b="1" dirty="0">
                <a:solidFill>
                  <a:srgbClr val="000000"/>
                </a:solidFill>
                <a:latin typeface="Inter Bold" pitchFamily="34" charset="0"/>
                <a:ea typeface="Inter Bold" pitchFamily="34" charset="-122"/>
                <a:cs typeface="Inter Bold" pitchFamily="34" charset="-120"/>
              </a:rPr>
              <a:t>extends solder fatigue lifetime</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9" name="Text 5"/>
          <p:cNvSpPr/>
          <p:nvPr/>
        </p:nvSpPr>
        <p:spPr>
          <a:xfrm>
            <a:off x="571500" y="3087384"/>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All operating points remain well below the module's Tj_max of 175°C, </a:t>
            </a:r>
            <a:r>
              <a:rPr lang="en-US" sz="850" dirty="0">
                <a:solidFill>
                  <a:srgbClr val="333333"/>
                </a:solidFill>
                <a:latin typeface="Inter" pitchFamily="34" charset="0"/>
                <a:ea typeface="Inter" pitchFamily="34" charset="-122"/>
                <a:cs typeface="Inter" pitchFamily="34" charset="-120"/>
              </a:rPr>
              <a:t>providing </a:t>
            </a:r>
            <a:r>
              <a:rPr lang="en-US" sz="800" b="1" dirty="0">
                <a:solidFill>
                  <a:srgbClr val="000000"/>
                </a:solidFill>
                <a:latin typeface="Inter Bold" pitchFamily="34" charset="0"/>
                <a:ea typeface="Inter Bold" pitchFamily="34" charset="-122"/>
                <a:cs typeface="Inter Bold" pitchFamily="34" charset="-120"/>
              </a:rPr>
              <a:t>&gt;100°C of thermal margin</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10" name="Text 6"/>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156157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571500" y="207018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3" name="Text 9"/>
          <p:cNvSpPr/>
          <p:nvPr/>
        </p:nvSpPr>
        <p:spPr>
          <a:xfrm>
            <a:off x="571500" y="257878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4" name="Text 10"/>
          <p:cNvSpPr/>
          <p:nvPr/>
        </p:nvSpPr>
        <p:spPr>
          <a:xfrm>
            <a:off x="571500" y="308738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5" name="Image 1" descr="preencoded.png">    </p:cNvPr>
          <p:cNvPicPr>
            <a:picLocks noChangeAspect="1"/>
          </p:cNvPicPr>
          <p:nvPr/>
        </p:nvPicPr>
        <p:blipFill>
          <a:blip r:embed="rId2"/>
          <a:stretch>
            <a:fillRect/>
          </a:stretch>
        </p:blipFill>
        <p:spPr>
          <a:xfrm>
            <a:off x="4714875" y="1052978"/>
            <a:ext cx="3857625" cy="328612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Simulation Results</a:t>
            </a:r>
            <a:endParaRPr lang="en-US" sz="1400" dirty="0"/>
          </a:p>
        </p:txBody>
      </p:sp>
      <p:sp>
        <p:nvSpPr>
          <p:cNvPr id="5" name="Text 1"/>
          <p:cNvSpPr/>
          <p:nvPr/>
        </p:nvSpPr>
        <p:spPr>
          <a:xfrm>
            <a:off x="571500" y="1052978"/>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Time-domain simulation confirms proper </a:t>
            </a:r>
            <a:r>
              <a:rPr lang="en-US" sz="800" b="1" dirty="0">
                <a:solidFill>
                  <a:srgbClr val="000000"/>
                </a:solidFill>
                <a:latin typeface="Inter Bold" pitchFamily="34" charset="0"/>
                <a:ea typeface="Inter Bold" pitchFamily="34" charset="-122"/>
                <a:cs typeface="Inter Bold" pitchFamily="34" charset="-120"/>
              </a:rPr>
              <a:t>3-level output voltage</a:t>
            </a:r>
            <a:r>
              <a:rPr lang="en-US" sz="850" dirty="0">
                <a:solidFill>
                  <a:srgbClr val="333333"/>
                </a:solidFill>
                <a:latin typeface="Inter" pitchFamily="34" charset="0"/>
                <a:ea typeface="Inter" pitchFamily="34" charset="-122"/>
                <a:cs typeface="Inter" pitchFamily="34" charset="-120"/>
              </a:rPr>
              <a:t> synthesis at both urban and highway speeds.</a:t>
            </a:r>
            <a:endParaRPr lang="en-US" sz="850" dirty="0"/>
          </a:p>
        </p:txBody>
      </p:sp>
      <p:sp>
        <p:nvSpPr>
          <p:cNvPr id="6" name="Text 2"/>
          <p:cNvSpPr/>
          <p:nvPr/>
        </p:nvSpPr>
        <p:spPr>
          <a:xfrm>
            <a:off x="571500" y="1561579"/>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Phase currents are clean sinusoids with </a:t>
            </a:r>
            <a:r>
              <a:rPr lang="en-US" sz="800" b="1" dirty="0">
                <a:solidFill>
                  <a:srgbClr val="000000"/>
                </a:solidFill>
                <a:latin typeface="Inter Bold" pitchFamily="34" charset="0"/>
                <a:ea typeface="Inter Bold" pitchFamily="34" charset="-122"/>
                <a:cs typeface="Inter Bold" pitchFamily="34" charset="-120"/>
              </a:rPr>
              <a:t>THD &lt; 2%</a:t>
            </a:r>
            <a:r>
              <a:rPr lang="en-US" sz="850" dirty="0">
                <a:solidFill>
                  <a:srgbClr val="333333"/>
                </a:solidFill>
                <a:latin typeface="Inter" pitchFamily="34" charset="0"/>
                <a:ea typeface="Inter" pitchFamily="34" charset="-122"/>
                <a:cs typeface="Inter" pitchFamily="34" charset="-120"/>
              </a:rPr>
              <a:t> (1.92% at 5 kHz </a:t>
            </a:r>
            <a:r>
              <a:rPr lang="en-US" sz="850" dirty="0">
                <a:solidFill>
                  <a:srgbClr val="333333"/>
                </a:solidFill>
                <a:latin typeface="Inter" pitchFamily="34" charset="0"/>
                <a:ea typeface="Inter" pitchFamily="34" charset="-122"/>
                <a:cs typeface="Inter" pitchFamily="34" charset="-120"/>
              </a:rPr>
              <a:t>urban, 1.13% at 20 kHz highway).</a:t>
            </a:r>
            <a:endParaRPr lang="en-US" sz="850" dirty="0"/>
          </a:p>
        </p:txBody>
      </p:sp>
      <p:sp>
        <p:nvSpPr>
          <p:cNvPr id="7" name="Text 3"/>
          <p:cNvSpPr/>
          <p:nvPr/>
        </p:nvSpPr>
        <p:spPr>
          <a:xfrm>
            <a:off x="571500" y="207018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FC voltage is successfully maintained at 400V with </a:t>
            </a:r>
            <a:r>
              <a:rPr lang="en-US" sz="800" b="1" dirty="0">
                <a:solidFill>
                  <a:srgbClr val="000000"/>
                </a:solidFill>
                <a:latin typeface="Inter Bold" pitchFamily="34" charset="0"/>
                <a:ea typeface="Inter Bold" pitchFamily="34" charset="-122"/>
                <a:cs typeface="Inter Bold" pitchFamily="34" charset="-120"/>
              </a:rPr>
              <a:t>± 0.04V mean </a:t>
            </a:r>
            <a:r>
              <a:rPr lang="en-US" sz="800" b="1" dirty="0">
                <a:solidFill>
                  <a:srgbClr val="000000"/>
                </a:solidFill>
                <a:latin typeface="Inter Bold" pitchFamily="34" charset="0"/>
                <a:ea typeface="Inter Bold" pitchFamily="34" charset="-122"/>
                <a:cs typeface="Inter Bold" pitchFamily="34" charset="-120"/>
              </a:rPr>
              <a:t>error</a:t>
            </a:r>
            <a:r>
              <a:rPr lang="en-US" sz="850" dirty="0">
                <a:solidFill>
                  <a:srgbClr val="333333"/>
                </a:solidFill>
                <a:latin typeface="Inter" pitchFamily="34" charset="0"/>
                <a:ea typeface="Inter" pitchFamily="34" charset="-122"/>
                <a:cs typeface="Inter" pitchFamily="34" charset="-120"/>
              </a:rPr>
              <a:t> using PD-PWM active state selection.</a:t>
            </a:r>
            <a:endParaRPr lang="en-US" sz="850" dirty="0"/>
          </a:p>
        </p:txBody>
      </p:sp>
      <p:sp>
        <p:nvSpPr>
          <p:cNvPr id="8" name="Text 4"/>
          <p:cNvSpPr/>
          <p:nvPr/>
        </p:nvSpPr>
        <p:spPr>
          <a:xfrm>
            <a:off x="571500" y="257878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FC ripple: </a:t>
            </a:r>
            <a:r>
              <a:rPr lang="en-US" sz="800" b="1" dirty="0">
                <a:solidFill>
                  <a:srgbClr val="000000"/>
                </a:solidFill>
                <a:latin typeface="Inter Bold" pitchFamily="34" charset="0"/>
                <a:ea typeface="Inter Bold" pitchFamily="34" charset="-122"/>
                <a:cs typeface="Inter Bold" pitchFamily="34" charset="-120"/>
              </a:rPr>
              <a:t>18V simulated</a:t>
            </a:r>
            <a:r>
              <a:rPr lang="en-US" sz="850" dirty="0">
                <a:solidFill>
                  <a:srgbClr val="333333"/>
                </a:solidFill>
                <a:latin typeface="Inter" pitchFamily="34" charset="0"/>
                <a:ea typeface="Inter" pitchFamily="34" charset="-122"/>
                <a:cs typeface="Inter" pitchFamily="34" charset="-120"/>
              </a:rPr>
              <a:t> vs 20V analytical budget — excellent </a:t>
            </a:r>
            <a:r>
              <a:rPr lang="en-US" sz="850" dirty="0">
                <a:solidFill>
                  <a:srgbClr val="333333"/>
                </a:solidFill>
                <a:latin typeface="Inter" pitchFamily="34" charset="0"/>
                <a:ea typeface="Inter" pitchFamily="34" charset="-122"/>
                <a:cs typeface="Inter" pitchFamily="34" charset="-120"/>
              </a:rPr>
              <a:t>agreement with design calculations.</a:t>
            </a:r>
            <a:endParaRPr lang="en-US" sz="850" dirty="0"/>
          </a:p>
        </p:txBody>
      </p:sp>
      <p:sp>
        <p:nvSpPr>
          <p:cNvPr id="9" name="Text 5"/>
          <p:cNvSpPr/>
          <p:nvPr/>
        </p:nvSpPr>
        <p:spPr>
          <a:xfrm>
            <a:off x="571500" y="3087384"/>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Pre-charge transient:</a:t>
            </a:r>
            <a:r>
              <a:rPr lang="en-US" sz="850" dirty="0">
                <a:solidFill>
                  <a:srgbClr val="333333"/>
                </a:solidFill>
                <a:latin typeface="Inter" pitchFamily="34" charset="0"/>
                <a:ea typeface="Inter" pitchFamily="34" charset="-122"/>
                <a:cs typeface="Inter" pitchFamily="34" charset="-120"/>
              </a:rPr>
              <a:t> 20ms linear ramp from 0V to 400V </a:t>
            </a:r>
            <a:r>
              <a:rPr lang="en-US" sz="850" dirty="0">
                <a:solidFill>
                  <a:srgbClr val="333333"/>
                </a:solidFill>
                <a:latin typeface="Inter" pitchFamily="34" charset="0"/>
                <a:ea typeface="Inter" pitchFamily="34" charset="-122"/>
                <a:cs typeface="Inter" pitchFamily="34" charset="-120"/>
              </a:rPr>
              <a:t>successfully executed before active switching commences.</a:t>
            </a:r>
            <a:endParaRPr lang="en-US" sz="800" dirty="0"/>
          </a:p>
        </p:txBody>
      </p:sp>
      <p:sp>
        <p:nvSpPr>
          <p:cNvPr id="10" name="Text 6"/>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156157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571500" y="207018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3" name="Text 9"/>
          <p:cNvSpPr/>
          <p:nvPr/>
        </p:nvSpPr>
        <p:spPr>
          <a:xfrm>
            <a:off x="571500" y="257878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4" name="Text 10"/>
          <p:cNvSpPr/>
          <p:nvPr/>
        </p:nvSpPr>
        <p:spPr>
          <a:xfrm>
            <a:off x="571500" y="308738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5" name="Image 1" descr="preencoded.png">    </p:cNvPr>
          <p:cNvPicPr>
            <a:picLocks noChangeAspect="1"/>
          </p:cNvPicPr>
          <p:nvPr/>
        </p:nvPicPr>
        <p:blipFill>
          <a:blip r:embed="rId2"/>
          <a:stretch>
            <a:fillRect/>
          </a:stretch>
        </p:blipFill>
        <p:spPr>
          <a:xfrm>
            <a:off x="4714875" y="1052978"/>
            <a:ext cx="3857625" cy="328612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Conclusion</a:t>
            </a:r>
            <a:endParaRPr lang="en-US" sz="1400" dirty="0"/>
          </a:p>
        </p:txBody>
      </p:sp>
      <p:sp>
        <p:nvSpPr>
          <p:cNvPr id="5" name="Text 1"/>
          <p:cNvSpPr/>
          <p:nvPr/>
        </p:nvSpPr>
        <p:spPr>
          <a:xfrm>
            <a:off x="571500" y="1110128"/>
            <a:ext cx="8001000" cy="228600"/>
          </a:xfrm>
          <a:prstGeom prst="rect">
            <a:avLst/>
          </a:prstGeom>
          <a:noFill/>
          <a:ln/>
        </p:spPr>
        <p:txBody>
          <a:bodyPr wrap="non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800V architecture</a:t>
            </a:r>
            <a:r>
              <a:rPr lang="en-US" sz="1050" dirty="0">
                <a:solidFill>
                  <a:srgbClr val="333333"/>
                </a:solidFill>
                <a:latin typeface="Inter" pitchFamily="34" charset="0"/>
                <a:ea typeface="Inter" pitchFamily="34" charset="-122"/>
                <a:cs typeface="Inter" pitchFamily="34" charset="-120"/>
              </a:rPr>
              <a:t> is justified by ultra-fast charging speed, reduced cable weight, and overall efficiency gains.</a:t>
            </a:r>
            <a:endParaRPr lang="en-US" sz="1000" dirty="0"/>
          </a:p>
        </p:txBody>
      </p:sp>
      <p:sp>
        <p:nvSpPr>
          <p:cNvPr id="6" name="Text 2"/>
          <p:cNvSpPr/>
          <p:nvPr/>
        </p:nvSpPr>
        <p:spPr>
          <a:xfrm>
            <a:off x="571500" y="1538753"/>
            <a:ext cx="8001000" cy="457200"/>
          </a:xfrm>
          <a:prstGeom prst="rect">
            <a:avLst/>
          </a:prstGeom>
          <a:noFill/>
          <a:ln/>
        </p:spPr>
        <p:txBody>
          <a:bodyPr wrap="squar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FC topology</a:t>
            </a:r>
            <a:r>
              <a:rPr lang="en-US" sz="1050" dirty="0">
                <a:solidFill>
                  <a:srgbClr val="333333"/>
                </a:solidFill>
                <a:latin typeface="Inter" pitchFamily="34" charset="0"/>
                <a:ea typeface="Inter" pitchFamily="34" charset="-122"/>
                <a:cs typeface="Inter" pitchFamily="34" charset="-120"/>
              </a:rPr>
              <a:t> was selected over NPC for its superior thermal symmetry and natural balancing capabilities under </a:t>
            </a:r>
            <a:r>
              <a:rPr lang="en-US" sz="1050" dirty="0">
                <a:solidFill>
                  <a:srgbClr val="333333"/>
                </a:solidFill>
                <a:latin typeface="Inter" pitchFamily="34" charset="0"/>
                <a:ea typeface="Inter" pitchFamily="34" charset="-122"/>
                <a:cs typeface="Inter" pitchFamily="34" charset="-120"/>
              </a:rPr>
              <a:t>dynamic EV loads.</a:t>
            </a:r>
            <a:endParaRPr lang="en-US" sz="1000" dirty="0"/>
          </a:p>
        </p:txBody>
      </p:sp>
      <p:sp>
        <p:nvSpPr>
          <p:cNvPr id="7" name="Text 3"/>
          <p:cNvSpPr/>
          <p:nvPr/>
        </p:nvSpPr>
        <p:spPr>
          <a:xfrm>
            <a:off x="571500" y="2195978"/>
            <a:ext cx="8001000" cy="457200"/>
          </a:xfrm>
          <a:prstGeom prst="rect">
            <a:avLst/>
          </a:prstGeom>
          <a:noFill/>
          <a:ln/>
        </p:spPr>
        <p:txBody>
          <a:bodyPr wrap="squar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Adaptive fsw schedule:</a:t>
            </a:r>
            <a:r>
              <a:rPr lang="en-US" sz="1050" dirty="0">
                <a:solidFill>
                  <a:srgbClr val="333333"/>
                </a:solidFill>
                <a:latin typeface="Inter" pitchFamily="34" charset="0"/>
                <a:ea typeface="Inter" pitchFamily="34" charset="-122"/>
                <a:cs typeface="Inter" pitchFamily="34" charset="-120"/>
              </a:rPr>
              <a:t> Achieved a </a:t>
            </a:r>
            <a:r>
              <a:rPr lang="en-US" sz="1000" b="1" dirty="0">
                <a:solidFill>
                  <a:srgbClr val="2563EB"/>
                </a:solidFill>
                <a:latin typeface="Inter Bold" pitchFamily="34" charset="0"/>
                <a:ea typeface="Inter Bold" pitchFamily="34" charset="-122"/>
                <a:cs typeface="Inter Bold" pitchFamily="34" charset="-120"/>
              </a:rPr>
              <a:t>75% switching loss reduction</a:t>
            </a:r>
            <a:r>
              <a:rPr lang="en-US" sz="1050" dirty="0">
                <a:solidFill>
                  <a:srgbClr val="333333"/>
                </a:solidFill>
                <a:latin typeface="Inter" pitchFamily="34" charset="0"/>
                <a:ea typeface="Inter" pitchFamily="34" charset="-122"/>
                <a:cs typeface="Inter" pitchFamily="34" charset="-120"/>
              </a:rPr>
              <a:t> in urban driving, saving 190W (3-phase) </a:t>
            </a:r>
            <a:r>
              <a:rPr lang="en-US" sz="1050" dirty="0">
                <a:solidFill>
                  <a:srgbClr val="333333"/>
                </a:solidFill>
                <a:latin typeface="Inter" pitchFamily="34" charset="0"/>
                <a:ea typeface="Inter" pitchFamily="34" charset="-122"/>
                <a:cs typeface="Inter" pitchFamily="34" charset="-120"/>
              </a:rPr>
              <a:t>compared to a fixed 20 kHz baseline.</a:t>
            </a:r>
            <a:endParaRPr lang="en-US" sz="1000" dirty="0"/>
          </a:p>
        </p:txBody>
      </p:sp>
      <p:sp>
        <p:nvSpPr>
          <p:cNvPr id="8" name="Text 4"/>
          <p:cNvSpPr/>
          <p:nvPr/>
        </p:nvSpPr>
        <p:spPr>
          <a:xfrm>
            <a:off x="571500" y="2853203"/>
            <a:ext cx="8001000" cy="457200"/>
          </a:xfrm>
          <a:prstGeom prst="rect">
            <a:avLst/>
          </a:prstGeom>
          <a:noFill/>
          <a:ln/>
        </p:spPr>
        <p:txBody>
          <a:bodyPr wrap="squar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Thermal benefit:</a:t>
            </a:r>
            <a:r>
              <a:rPr lang="en-US" sz="1050" dirty="0">
                <a:solidFill>
                  <a:srgbClr val="333333"/>
                </a:solidFill>
                <a:latin typeface="Inter" pitchFamily="34" charset="0"/>
                <a:ea typeface="Inter" pitchFamily="34" charset="-122"/>
                <a:cs typeface="Inter" pitchFamily="34" charset="-120"/>
              </a:rPr>
              <a:t> Delivered a </a:t>
            </a:r>
            <a:r>
              <a:rPr lang="en-US" sz="1000" b="1" dirty="0">
                <a:solidFill>
                  <a:srgbClr val="2563EB"/>
                </a:solidFill>
                <a:latin typeface="Inter Bold" pitchFamily="34" charset="0"/>
                <a:ea typeface="Inter Bold" pitchFamily="34" charset="-122"/>
                <a:cs typeface="Inter Bold" pitchFamily="34" charset="-120"/>
              </a:rPr>
              <a:t>9.7°C Tj reduction</a:t>
            </a:r>
            <a:r>
              <a:rPr lang="en-US" sz="1050" dirty="0">
                <a:solidFill>
                  <a:srgbClr val="333333"/>
                </a:solidFill>
                <a:latin typeface="Inter" pitchFamily="34" charset="0"/>
                <a:ea typeface="Inter" pitchFamily="34" charset="-122"/>
                <a:cs typeface="Inter" pitchFamily="34" charset="-120"/>
              </a:rPr>
              <a:t> and 53% less thermal cycling, directly extending the power </a:t>
            </a:r>
            <a:r>
              <a:rPr lang="en-US" sz="1050" dirty="0">
                <a:solidFill>
                  <a:srgbClr val="333333"/>
                </a:solidFill>
                <a:latin typeface="Inter" pitchFamily="34" charset="0"/>
                <a:ea typeface="Inter" pitchFamily="34" charset="-122"/>
                <a:cs typeface="Inter" pitchFamily="34" charset="-120"/>
              </a:rPr>
              <a:t>module's fatigue lifetime.</a:t>
            </a:r>
            <a:endParaRPr lang="en-US" sz="1000" dirty="0"/>
          </a:p>
        </p:txBody>
      </p:sp>
      <p:sp>
        <p:nvSpPr>
          <p:cNvPr id="9" name="Text 5"/>
          <p:cNvSpPr/>
          <p:nvPr/>
        </p:nvSpPr>
        <p:spPr>
          <a:xfrm>
            <a:off x="571500" y="3510428"/>
            <a:ext cx="8001000" cy="457200"/>
          </a:xfrm>
          <a:prstGeom prst="rect">
            <a:avLst/>
          </a:prstGeom>
          <a:noFill/>
          <a:ln/>
        </p:spPr>
        <p:txBody>
          <a:bodyPr wrap="squar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All metrics validated:</a:t>
            </a:r>
            <a:r>
              <a:rPr lang="en-US" sz="1050" dirty="0">
                <a:solidFill>
                  <a:srgbClr val="333333"/>
                </a:solidFill>
                <a:latin typeface="Inter" pitchFamily="34" charset="0"/>
                <a:ea typeface="Inter" pitchFamily="34" charset="-122"/>
                <a:cs typeface="Inter" pitchFamily="34" charset="-120"/>
              </a:rPr>
              <a:t> Time-domain simulation confirmed THD &lt; 2%, FC balance &lt; 0.04V error, and Tj &lt; 54°C with </a:t>
            </a:r>
            <a:r>
              <a:rPr lang="en-US" sz="1050" dirty="0">
                <a:solidFill>
                  <a:srgbClr val="333333"/>
                </a:solidFill>
                <a:latin typeface="Inter" pitchFamily="34" charset="0"/>
                <a:ea typeface="Inter" pitchFamily="34" charset="-122"/>
                <a:cs typeface="Inter" pitchFamily="34" charset="-120"/>
              </a:rPr>
              <a:t>&gt;120°C thermal margin.</a:t>
            </a:r>
            <a:endParaRPr lang="en-US" sz="1000" dirty="0"/>
          </a:p>
        </p:txBody>
      </p:sp>
      <p:sp>
        <p:nvSpPr>
          <p:cNvPr id="10" name="Text 6"/>
          <p:cNvSpPr/>
          <p:nvPr/>
        </p:nvSpPr>
        <p:spPr>
          <a:xfrm>
            <a:off x="571500" y="4167653"/>
            <a:ext cx="8001000" cy="228600"/>
          </a:xfrm>
          <a:prstGeom prst="rect">
            <a:avLst/>
          </a:prstGeom>
          <a:noFill/>
          <a:ln/>
        </p:spPr>
        <p:txBody>
          <a:bodyPr wrap="non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Future work:</a:t>
            </a:r>
            <a:r>
              <a:rPr lang="en-US" sz="1050" dirty="0">
                <a:solidFill>
                  <a:srgbClr val="333333"/>
                </a:solidFill>
                <a:latin typeface="Inter" pitchFamily="34" charset="0"/>
                <a:ea typeface="Inter" pitchFamily="34" charset="-122"/>
                <a:cs typeface="Inter" pitchFamily="34" charset="-120"/>
              </a:rPr>
              <a:t> Experimental validation of the adaptive schedule and thermal models on a hardware prototype.</a:t>
            </a:r>
            <a:endParaRPr lang="en-US" sz="1000" dirty="0"/>
          </a:p>
        </p:txBody>
      </p:sp>
      <p:sp>
        <p:nvSpPr>
          <p:cNvPr id="11" name="Text 7"/>
          <p:cNvSpPr/>
          <p:nvPr/>
        </p:nvSpPr>
        <p:spPr>
          <a:xfrm>
            <a:off x="571500" y="1095840"/>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2" name="Text 8"/>
          <p:cNvSpPr/>
          <p:nvPr/>
        </p:nvSpPr>
        <p:spPr>
          <a:xfrm>
            <a:off x="571500" y="1524465"/>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3" name="Text 9"/>
          <p:cNvSpPr/>
          <p:nvPr/>
        </p:nvSpPr>
        <p:spPr>
          <a:xfrm>
            <a:off x="571500" y="2181690"/>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4" name="Text 10"/>
          <p:cNvSpPr/>
          <p:nvPr/>
        </p:nvSpPr>
        <p:spPr>
          <a:xfrm>
            <a:off x="571500" y="2838915"/>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5" name="Text 11"/>
          <p:cNvSpPr/>
          <p:nvPr/>
        </p:nvSpPr>
        <p:spPr>
          <a:xfrm>
            <a:off x="571500" y="3496140"/>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6" name="Text 12"/>
          <p:cNvSpPr/>
          <p:nvPr/>
        </p:nvSpPr>
        <p:spPr>
          <a:xfrm>
            <a:off x="571500" y="4153365"/>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2026-05-04T14:01:22Z</dcterms:created>
  <dcterms:modified xsi:type="dcterms:W3CDTF">2026-05-04T14:01:22Z</dcterms:modified>
</cp:coreProperties>
</file>