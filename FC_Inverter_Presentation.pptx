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285750"/>
            <a:ext cx="17948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ECE 595 — PURDUE UNIVERSITY</a:t>
            </a:r>
            <a:endParaRPr lang="en-US" sz="700" dirty="0"/>
          </a:p>
        </p:txBody>
      </p:sp>
      <p:sp>
        <p:nvSpPr>
          <p:cNvPr id="4" name="Shape 1"/>
          <p:cNvSpPr/>
          <p:nvPr/>
        </p:nvSpPr>
        <p:spPr>
          <a:xfrm>
            <a:off x="857250" y="1380027"/>
            <a:ext cx="7429500" cy="2383445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857250" y="1380027"/>
            <a:ext cx="42863" cy="2383445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3"/>
          <p:cNvSpPr/>
          <p:nvPr/>
        </p:nvSpPr>
        <p:spPr>
          <a:xfrm>
            <a:off x="1143000" y="1380027"/>
            <a:ext cx="7143750" cy="16458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24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Vehicle Architecture-Driven Design and Comprehensive Loss Analysis of an 800V Three-Level Flying Capacitor Traction Inverter</a:t>
            </a:r>
            <a:endParaRPr lang="en-US" sz="2450" dirty="0"/>
          </a:p>
        </p:txBody>
      </p:sp>
      <p:sp>
        <p:nvSpPr>
          <p:cNvPr id="7" name="Text 4"/>
          <p:cNvSpPr/>
          <p:nvPr/>
        </p:nvSpPr>
        <p:spPr>
          <a:xfrm>
            <a:off x="1143000" y="3311630"/>
            <a:ext cx="7143750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Hayagreev S.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143000" y="3590237"/>
            <a:ext cx="7143750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ECE 595 - Purdue University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285750"/>
            <a:ext cx="17948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ECE 595 — PURDUE UNIVERSITY</a:t>
            </a:r>
            <a:endParaRPr lang="en-US" sz="700" dirty="0"/>
          </a:p>
        </p:txBody>
      </p:sp>
      <p:sp>
        <p:nvSpPr>
          <p:cNvPr id="4" name="Text 1"/>
          <p:cNvSpPr/>
          <p:nvPr/>
        </p:nvSpPr>
        <p:spPr>
          <a:xfrm>
            <a:off x="571500" y="714375"/>
            <a:ext cx="2152055" cy="412552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Project Overview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1500" y="1412677"/>
            <a:ext cx="3786188" cy="1005818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Core Problem: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Traction inverter design requires balancing efficiency, torque quality, and thermal stress across highly variable driving conditions.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71500" y="1384102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71500" y="2561369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85813" y="2620305"/>
            <a:ext cx="1535906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Variable Frequency: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85813" y="2620305"/>
            <a:ext cx="3250406" cy="4407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required electrical fundamental frequency (f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2671763" y="2929970"/>
            <a:ext cx="76795" cy="1589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23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5813" y="2871760"/>
            <a:ext cx="3548658" cy="7138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is not fixed; it is directly proportional to the vehicle's mechanical speed.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71500" y="3788839"/>
            <a:ext cx="3786188" cy="1005818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Load Profile: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Urban driving demands low frequency but high phase currents for acceleration. Highway driving demands high frequency but lower sustained currents.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71500" y="3760264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786313" y="1555552"/>
            <a:ext cx="3786188" cy="2293144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5" name="Shape 12"/>
          <p:cNvSpPr/>
          <p:nvPr/>
        </p:nvSpPr>
        <p:spPr>
          <a:xfrm>
            <a:off x="4786313" y="1555552"/>
            <a:ext cx="42863" cy="229314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6" name="Text 13"/>
          <p:cNvSpPr/>
          <p:nvPr/>
        </p:nvSpPr>
        <p:spPr>
          <a:xfrm>
            <a:off x="5072063" y="1841302"/>
            <a:ext cx="3214688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Project Objective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072063" y="2191345"/>
            <a:ext cx="32146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model a traction inverter across a full spectrum of operating conditions (urban to highway), evaluate comprehensive conduction and switching losses, and optimize the design for maximum drivetrain efficiency and thermal reliability.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285750"/>
            <a:ext cx="17948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ECE 595 — PURDUE UNIVERSITY</a:t>
            </a:r>
            <a:endParaRPr lang="en-US" sz="700" dirty="0"/>
          </a:p>
        </p:txBody>
      </p:sp>
      <p:sp>
        <p:nvSpPr>
          <p:cNvPr id="4" name="Text 1"/>
          <p:cNvSpPr/>
          <p:nvPr/>
        </p:nvSpPr>
        <p:spPr>
          <a:xfrm>
            <a:off x="571500" y="714375"/>
            <a:ext cx="4307681" cy="412552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Design Choice: 800V Architecture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1500" y="1412677"/>
            <a:ext cx="4543425" cy="1005818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Baseline Decision: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 address the performance demands of modern EVs, an 800V DC bus architecture was explicitly chosen as the baseline for this design project.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71500" y="2589944"/>
            <a:ext cx="4543425" cy="754363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Current Reduction: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Adopting an 800V architecture halves the required phase current for a given power level compared to traditional 400V systems.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71500" y="3515757"/>
            <a:ext cx="4543425" cy="1005818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Efficiency Gains: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This drastic reduction in current significantly lowers I²R ohmic losses in the inverter semiconductors, motor windings, and high-voltage cabling.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71500" y="4693025"/>
            <a:ext cx="4543425" cy="754363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System Benefits: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Enables faster DC fast charging, reduces cable weight (copper), and improves overall powertrain efficiency.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1500" y="1384102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71500" y="2561369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71500" y="3487182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571500" y="4664450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629275" y="1872695"/>
            <a:ext cx="2857500" cy="1571625"/>
          </a:xfrm>
          <a:prstGeom prst="rect">
            <a:avLst/>
          </a:prstGeom>
          <a:solidFill>
            <a:srgbClr val="F8F9FA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0713" y="1989423"/>
            <a:ext cx="2714625" cy="133814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629275" y="3587195"/>
            <a:ext cx="2857500" cy="1571625"/>
          </a:xfrm>
          <a:prstGeom prst="rect">
            <a:avLst/>
          </a:prstGeom>
          <a:solidFill>
            <a:srgbClr val="F8F9FA"/>
          </a:solidFill>
          <a:ln w="9144">
            <a:solidFill>
              <a:srgbClr val="E5E7E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8586" y="3658632"/>
            <a:ext cx="2538878" cy="142872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285750"/>
            <a:ext cx="17948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ECE 595 — PURDUE UNIVERSITY</a:t>
            </a:r>
            <a:endParaRPr lang="en-US" sz="700" dirty="0"/>
          </a:p>
        </p:txBody>
      </p:sp>
      <p:sp>
        <p:nvSpPr>
          <p:cNvPr id="4" name="Text 1"/>
          <p:cNvSpPr/>
          <p:nvPr/>
        </p:nvSpPr>
        <p:spPr>
          <a:xfrm>
            <a:off x="571500" y="714375"/>
            <a:ext cx="5232797" cy="412552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dv/dt Problem and Multilevel Solution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1500" y="1412677"/>
            <a:ext cx="3786188" cy="1005818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1200V Requirement: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Traditional two-level voltage source inverters (2L-VSI) require 1200V-class semiconductors to operate on an 800V DC bus.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71500" y="2589944"/>
            <a:ext cx="3786188" cy="1257272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SiC Trade-off: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While Silicon Carbide (SiC) devices easily meet this voltage requirement and offer low losses, their extremely fast switching transitions generate severe </a:t>
            </a: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dv/dt stress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71500" y="4018666"/>
            <a:ext cx="3786188" cy="1005818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Motor Degradation: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This high rate of voltage change over time leads to premature motor winding insulation failure and bearing degradation.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71500" y="1384102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71500" y="2561369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71500" y="3990091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786313" y="1484114"/>
            <a:ext cx="3786188" cy="3207544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2" name="Shape 9"/>
          <p:cNvSpPr/>
          <p:nvPr/>
        </p:nvSpPr>
        <p:spPr>
          <a:xfrm>
            <a:off x="4786313" y="1484114"/>
            <a:ext cx="42863" cy="320754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3" name="Text 10"/>
          <p:cNvSpPr/>
          <p:nvPr/>
        </p:nvSpPr>
        <p:spPr>
          <a:xfrm>
            <a:off x="5072063" y="1769864"/>
            <a:ext cx="3214688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 Multilevel Solution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072063" y="2119908"/>
            <a:ext cx="3214688" cy="457200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mitigate dv/dt stress, a </a:t>
            </a: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multilevel inverter topology</a:t>
            </a: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is required.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072063" y="2691408"/>
            <a:ext cx="3214688" cy="914400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synthesizes the output voltage from multiple discrete levels, inherently reducing the voltage step size (e.g., 400V steps instead of 800V steps).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072063" y="3720108"/>
            <a:ext cx="3214688" cy="685800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cuts the dv/dt stress in half and significantly improves the harmonic profile of the output waveform.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5072063" y="2091333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072063" y="2662833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072063" y="3691533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285750"/>
            <a:ext cx="17948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ECE 595 — PURDUE UNIVERSITY</a:t>
            </a:r>
            <a:endParaRPr lang="en-US" sz="700" dirty="0"/>
          </a:p>
        </p:txBody>
      </p:sp>
      <p:sp>
        <p:nvSpPr>
          <p:cNvPr id="4" name="Text 1"/>
          <p:cNvSpPr/>
          <p:nvPr/>
        </p:nvSpPr>
        <p:spPr>
          <a:xfrm>
            <a:off x="571500" y="714375"/>
            <a:ext cx="3875484" cy="412552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Topology Selection: FC vs NPC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1500" y="1412677"/>
            <a:ext cx="3786188" cy="225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Thermal Symmetry &amp; Component Count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71500" y="1780580"/>
            <a:ext cx="3786188" cy="1005818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Asymmetric Stress in NPC: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NPC suffers from unequal loss distribution between inner and outer switches, complicating cooling system design.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71500" y="2957847"/>
            <a:ext cx="3786188" cy="1005818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Symmetric Stress in FC: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FC distributes voltage and current stresses symmetrically across all four switches. Every switch blocks exactly half the DC bus voltage (Vdc/2).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71500" y="4135115"/>
            <a:ext cx="3786188" cy="1005818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Reduced Conduction Loss: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FC eliminates the need for clamping diodes required in the NPC, removing components from the conduction path.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1500" y="1752005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71500" y="2929272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71500" y="4106540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786313" y="1412677"/>
            <a:ext cx="3786188" cy="225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Dynamic Load Balancing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786313" y="1780580"/>
            <a:ext cx="3786188" cy="1005818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Transient Instability in NPC: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NPC neutral point is notoriously difficult to keep balanced under highly dynamic, rapidly fluctuating EV loads.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786313" y="2957847"/>
            <a:ext cx="3786188" cy="754363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Natural Balancing in FC: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FC utilizes redundant switching states to naturally balance the flying capacitor voltage.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786313" y="3883661"/>
            <a:ext cx="3786188" cy="1257272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Power Factor Independence: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By actively selecting between redundant states based on the phase current direction, the FC remains balanced at Vdc/2 regardless of the load power factor.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786313" y="1752005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4786313" y="2929272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786313" y="3855086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285750"/>
            <a:ext cx="17948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ECE 595 — PURDUE UNIVERSITY</a:t>
            </a:r>
            <a:endParaRPr lang="en-US" sz="700" dirty="0"/>
          </a:p>
        </p:txBody>
      </p:sp>
      <p:sp>
        <p:nvSpPr>
          <p:cNvPr id="4" name="Text 1"/>
          <p:cNvSpPr/>
          <p:nvPr/>
        </p:nvSpPr>
        <p:spPr>
          <a:xfrm>
            <a:off x="571500" y="714375"/>
            <a:ext cx="4261247" cy="412552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FC Switching States and PD-PWM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1500" y="1384102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85813" y="1443038"/>
            <a:ext cx="1200150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3-Level Output: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985963" y="1443038"/>
            <a:ext cx="1189434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Synthesizes +V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3175397" y="1501248"/>
            <a:ext cx="155377" cy="1589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23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dc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3330773" y="1443038"/>
            <a:ext cx="923330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/2, 0, and -V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4254103" y="1501248"/>
            <a:ext cx="155377" cy="1589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23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dc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5813" y="1443038"/>
            <a:ext cx="3777258" cy="7138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/2 using four switches per phase, reducing voltage steps and dv/dt stress.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71500" y="2260104"/>
            <a:ext cx="4143375" cy="754363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Redundant Zero States: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'0' voltage level can be achieved by two different switch combinations, providing a degree of freedom in control.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71500" y="3085905"/>
            <a:ext cx="4143375" cy="754363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Natural Balancing: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Phase-Disposition PWM (PD-PWM) naturally balances the flying capacitor voltage without complex closed-loop control.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71500" y="2231529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71500" y="3057330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71500" y="3883130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85813" y="3942066"/>
            <a:ext cx="944761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Mechanism: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85813" y="3942066"/>
            <a:ext cx="3875484" cy="9436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alternating between redundant zero states based on the phase current direction, the capacitor charges or discharges to maintain exactly V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94755" y="4754640"/>
            <a:ext cx="155377" cy="1589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23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dc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50131" y="4696430"/>
            <a:ext cx="198239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/2.</a:t>
            </a:r>
            <a:endParaRPr lang="en-US" sz="115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25" y="1547906"/>
            <a:ext cx="3571875" cy="2229827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000625" y="3984427"/>
            <a:ext cx="3571875" cy="420002"/>
          </a:xfrm>
          <a:prstGeom prst="rect">
            <a:avLst/>
          </a:prstGeom>
          <a:noFill/>
          <a:ln/>
        </p:spPr>
        <p:txBody>
          <a:bodyPr wrap="square" lIns="170053" tIns="0" rIns="170053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Fig. 1. Three-phase schematic diagram of the 3-level flying capacitor </a:t>
            </a:r>
            <a:r>
              <a:rPr lang="en-US" sz="7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traction inverter.</a:t>
            </a:r>
            <a:r>
              <a:rPr lang="en-US" sz="7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7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Advanced Power Electronics Converters (E. Cipriano).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285750"/>
            <a:ext cx="17948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ECE 595 — PURDUE UNIVERSITY</a:t>
            </a:r>
            <a:endParaRPr lang="en-US" sz="700" dirty="0"/>
          </a:p>
        </p:txBody>
      </p:sp>
      <p:sp>
        <p:nvSpPr>
          <p:cNvPr id="4" name="Text 1"/>
          <p:cNvSpPr/>
          <p:nvPr/>
        </p:nvSpPr>
        <p:spPr>
          <a:xfrm>
            <a:off x="571500" y="714375"/>
            <a:ext cx="2711053" cy="412552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Component Selection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1500" y="1298377"/>
            <a:ext cx="385762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Active Switch: SiC Module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71500" y="1626989"/>
            <a:ext cx="3857625" cy="45574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Wolfspeed CAB450M12XM3: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1200V, 450A SiC half-bridge module.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71500" y="2211325"/>
            <a:ext cx="3857625" cy="683623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Voltage Margin (1200V):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Large safety margin over 400V stress; meets IPC-9592B derating at 33% use.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71500" y="3023536"/>
            <a:ext cx="3857625" cy="45574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Current Margin (450A):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~3.3x margin vs. 136A peak phase current.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1500" y="3607873"/>
            <a:ext cx="3857625" cy="683623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Thermal Stability: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Positive temp. coeff. of Rds_on (3.3→6.6mΩ) helps prevent thermal runaway.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71500" y="1626989"/>
            <a:ext cx="105370" cy="2692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71500" y="2211325"/>
            <a:ext cx="105370" cy="2692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71500" y="3023536"/>
            <a:ext cx="105370" cy="2692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71500" y="3607873"/>
            <a:ext cx="105370" cy="2692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714875" y="1298377"/>
            <a:ext cx="3857625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Flying Capacitor: Film Tech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4714875" y="1626989"/>
            <a:ext cx="3857625" cy="45574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Capacitance (680 µF):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Keeps ripple within 5% (20V on 400V) at 5 kHz min switching.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714875" y="2211325"/>
            <a:ext cx="3857625" cy="45574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Film vs. Electrolytic: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Automotive-grade metallized polypropylene chosen.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714875" y="2795662"/>
            <a:ext cx="3857625" cy="45574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Key Advantages: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Very low ESR (&lt;5 mΩ), long life, handles high-frequency ripple.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714875" y="1626989"/>
            <a:ext cx="105370" cy="2692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714875" y="2211325"/>
            <a:ext cx="105370" cy="2692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714875" y="2795662"/>
            <a:ext cx="105370" cy="2692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285750"/>
            <a:ext cx="17948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ECE 595 — PURDUE UNIVERSITY</a:t>
            </a:r>
            <a:endParaRPr lang="en-US" sz="700" dirty="0"/>
          </a:p>
        </p:txBody>
      </p:sp>
      <p:sp>
        <p:nvSpPr>
          <p:cNvPr id="4" name="Text 1"/>
          <p:cNvSpPr/>
          <p:nvPr/>
        </p:nvSpPr>
        <p:spPr>
          <a:xfrm>
            <a:off x="571500" y="714375"/>
            <a:ext cx="3743325" cy="412552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Vehicle Architecture Mapping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1500" y="1412677"/>
            <a:ext cx="4000500" cy="707231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Drivetrain Parameters: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Single-speed reduction gear (G = 8.19), tyre radius (r = 0.315 m), and 8-pole PMSM (p = 4).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71500" y="1384102"/>
            <a:ext cx="121444" cy="3214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71500" y="2177058"/>
            <a:ext cx="121444" cy="3214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85813" y="2228850"/>
            <a:ext cx="2009180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Fundamental Frequency (f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794992" y="2287060"/>
            <a:ext cx="78581" cy="1589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22"/>
              </a:lnSpc>
              <a:buNone/>
            </a:pPr>
            <a:r>
              <a:rPr lang="en-US" sz="900" b="1" baseline="-40000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873573" y="2228850"/>
            <a:ext cx="110728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):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85813" y="2228850"/>
            <a:ext cx="3755827" cy="4493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Directly proportional to vehicle speed.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5813" y="2787095"/>
            <a:ext cx="3786188" cy="500732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3" name="Shape 10"/>
          <p:cNvSpPr/>
          <p:nvPr/>
        </p:nvSpPr>
        <p:spPr>
          <a:xfrm>
            <a:off x="785813" y="2787095"/>
            <a:ext cx="42863" cy="50073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1"/>
          <p:cNvSpPr/>
          <p:nvPr/>
        </p:nvSpPr>
        <p:spPr>
          <a:xfrm>
            <a:off x="1667145" y="2912111"/>
            <a:ext cx="5558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722732" y="2984246"/>
            <a:ext cx="74005" cy="18395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ct val="120017"/>
              </a:lnSpc>
              <a:buNone/>
            </a:pPr>
            <a:r>
              <a:rPr lang="en-US" sz="12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1796737" y="2912111"/>
            <a:ext cx="189390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= (v / r) × (G / 2π) × p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71500" y="3373552"/>
            <a:ext cx="4000500" cy="707231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Urban Driving (40 km/h):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Low frequency (184 Hz) but high phase current (136 A) for acceleration. Represents the highest current stress.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71500" y="4166508"/>
            <a:ext cx="4000500" cy="707231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Highway Cruising (120 km/h):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High frequency (552 Hz) but significantly lower sustained current (51 A) due to increased load impedance.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71500" y="3344977"/>
            <a:ext cx="121444" cy="3214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71500" y="4137933"/>
            <a:ext cx="121444" cy="3214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25" y="1614041"/>
            <a:ext cx="3571875" cy="228329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285750"/>
            <a:ext cx="17948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ECE 595 — PURDUE UNIVERSITY</a:t>
            </a:r>
            <a:endParaRPr lang="en-US" sz="700" dirty="0"/>
          </a:p>
        </p:txBody>
      </p:sp>
      <p:sp>
        <p:nvSpPr>
          <p:cNvPr id="4" name="Text 1"/>
          <p:cNvSpPr/>
          <p:nvPr/>
        </p:nvSpPr>
        <p:spPr>
          <a:xfrm>
            <a:off x="571500" y="714375"/>
            <a:ext cx="3055739" cy="412552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Switching Loss Analysis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571500" y="1269802"/>
            <a:ext cx="4143375" cy="62932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6" name="Shape 3"/>
          <p:cNvSpPr/>
          <p:nvPr/>
        </p:nvSpPr>
        <p:spPr>
          <a:xfrm>
            <a:off x="571500" y="1269802"/>
            <a:ext cx="42863" cy="629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4"/>
          <p:cNvSpPr/>
          <p:nvPr/>
        </p:nvSpPr>
        <p:spPr>
          <a:xfrm>
            <a:off x="786929" y="1359098"/>
            <a:ext cx="104728" cy="1910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91657" y="1423727"/>
            <a:ext cx="15091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sw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042569" y="1359098"/>
            <a:ext cx="315776" cy="1910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= N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358345" y="1423727"/>
            <a:ext cx="6342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421774" y="1359098"/>
            <a:ext cx="306149" cy="1910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× (f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727922" y="1423727"/>
            <a:ext cx="15091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sw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878834" y="1359098"/>
            <a:ext cx="582495" cy="1910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 π) × 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2461329" y="1423727"/>
            <a:ext cx="37574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sw_ref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837073" y="1359098"/>
            <a:ext cx="315609" cy="1910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× (I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3152682" y="1423727"/>
            <a:ext cx="134866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pk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87548" y="1359098"/>
            <a:ext cx="190453" cy="1910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 I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3478002" y="1423727"/>
            <a:ext cx="15342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3631425" y="1359098"/>
            <a:ext cx="420337" cy="1910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× (V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4051762" y="1423727"/>
            <a:ext cx="357188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dc_sw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408949" y="1359098"/>
            <a:ext cx="90497" cy="1910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2485551" y="1588033"/>
            <a:ext cx="104728" cy="1910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2590279" y="1652662"/>
            <a:ext cx="15342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050" i="1" baseline="-400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2743702" y="1588033"/>
            <a:ext cx="57094" cy="19109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571500" y="1984846"/>
            <a:ext cx="4143375" cy="5029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Graovac-Purschel Method: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Analytical method to capture drive-frequency effects.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71500" y="2573480"/>
            <a:ext cx="4143375" cy="502909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Applicability to SiC: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Topology-dependent math; works for SiC by using device curves.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71500" y="3162114"/>
            <a:ext cx="4143375" cy="754363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Datasheet Calibration: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Uses CAB450M12XM3 parameters (Eon = 25.4 mJ, Eoff = 7.51 mJ @ 450A/600V).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71500" y="4002202"/>
            <a:ext cx="4143375" cy="754363"/>
          </a:xfrm>
          <a:prstGeom prst="rect">
            <a:avLst/>
          </a:prstGeom>
          <a:noFill/>
          <a:ln/>
        </p:spPr>
        <p:txBody>
          <a:bodyPr wrap="square" lIns="255143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Fixed 20 kHz Issue:</a:t>
            </a: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At 20 kHz switching losses dominate at low speeds due to high phase currents (~136A).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71500" y="1956271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71500" y="2544905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71500" y="3133539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71500" y="3973627"/>
            <a:ext cx="12144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600" dirty="0"/>
          </a:p>
        </p:txBody>
      </p:sp>
      <p:pic>
        <p:nvPicPr>
          <p:cNvPr id="3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25" y="1328570"/>
            <a:ext cx="3571875" cy="20255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285750"/>
            <a:ext cx="17948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ECE 595 — PURDUE UNIVERSITY</a:t>
            </a:r>
            <a:endParaRPr lang="en-US" sz="700" dirty="0"/>
          </a:p>
        </p:txBody>
      </p:sp>
      <p:sp>
        <p:nvSpPr>
          <p:cNvPr id="4" name="Text 1"/>
          <p:cNvSpPr/>
          <p:nvPr/>
        </p:nvSpPr>
        <p:spPr>
          <a:xfrm>
            <a:off x="571500" y="714375"/>
            <a:ext cx="5163145" cy="412552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Simulated Adaptive Switching Frequency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1500" y="1357313"/>
            <a:ext cx="3489722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adaptive switching frequency schedule was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71500" y="1608767"/>
            <a:ext cx="3659386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developed and fully implemented within the time-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71500" y="1860221"/>
            <a:ext cx="3787973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domain simulation. The core methodology relies on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71500" y="2111676"/>
            <a:ext cx="3996928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maintaining a sufficient frequency modulation ratio (m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68428" y="2169886"/>
            <a:ext cx="48220" cy="1589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23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1500" y="2384757"/>
            <a:ext cx="207169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f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78669" y="2442967"/>
            <a:ext cx="176808" cy="1589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23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955477" y="2384757"/>
            <a:ext cx="116086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/f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071563" y="2442967"/>
            <a:ext cx="76795" cy="1589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23"/>
              </a:lnSpc>
              <a:buNone/>
            </a:pPr>
            <a:r>
              <a:rPr lang="en-US" sz="950" baseline="-40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148358" y="2384757"/>
            <a:ext cx="3389709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to ensure waveform quality while minimizing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71500" y="2657838"/>
            <a:ext cx="514350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losses.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71500" y="3007519"/>
            <a:ext cx="4143375" cy="1638765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17" name="Shape 14"/>
          <p:cNvSpPr/>
          <p:nvPr/>
        </p:nvSpPr>
        <p:spPr>
          <a:xfrm>
            <a:off x="571500" y="3007519"/>
            <a:ext cx="42863" cy="1638765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8" name="Text 15"/>
          <p:cNvSpPr/>
          <p:nvPr/>
        </p:nvSpPr>
        <p:spPr>
          <a:xfrm>
            <a:off x="728663" y="3121819"/>
            <a:ext cx="1578769" cy="189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Urban Driving (Low f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307431" y="3180029"/>
            <a:ext cx="78581" cy="15894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baseline="-40000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2386013" y="3121819"/>
            <a:ext cx="58936" cy="1893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28663" y="3415773"/>
            <a:ext cx="678656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Because f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407319" y="3469351"/>
            <a:ext cx="69652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9976"/>
              </a:lnSpc>
              <a:buNone/>
            </a:pPr>
            <a:r>
              <a:rPr lang="en-US" sz="850" baseline="-40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476970" y="3415773"/>
            <a:ext cx="2859286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low (184 Hz), the controller dynamically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728663" y="3651517"/>
            <a:ext cx="642938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reduces f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1371600" y="3705095"/>
            <a:ext cx="160734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9976"/>
              </a:lnSpc>
              <a:buNone/>
            </a:pPr>
            <a:r>
              <a:rPr lang="en-US" sz="850" baseline="-40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1532334" y="3651517"/>
            <a:ext cx="2259211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5 kHz while maintaining a high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728663" y="3887260"/>
            <a:ext cx="1305520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modulation ratio (m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2034183" y="3940839"/>
            <a:ext cx="44648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9976"/>
              </a:lnSpc>
              <a:buNone/>
            </a:pPr>
            <a:r>
              <a:rPr lang="en-US" sz="850" baseline="-40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2078831" y="3887260"/>
            <a:ext cx="1816131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≈ 27). This yields massive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28663" y="3887260"/>
            <a:ext cx="3807451" cy="408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switching loss savings exactly when the phase current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3762970" y="4123004"/>
            <a:ext cx="685800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highest.</a:t>
            </a:r>
            <a:endParaRPr lang="en-US" sz="1050" dirty="0"/>
          </a:p>
        </p:txBody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625" y="2005608"/>
            <a:ext cx="3571875" cy="17859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285750"/>
            <a:ext cx="17948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ECE 595 — PURDUE UNIVERSITY</a:t>
            </a:r>
            <a:endParaRPr lang="en-US" sz="700" dirty="0"/>
          </a:p>
        </p:txBody>
      </p:sp>
      <p:sp>
        <p:nvSpPr>
          <p:cNvPr id="4" name="Text 1"/>
          <p:cNvSpPr/>
          <p:nvPr/>
        </p:nvSpPr>
        <p:spPr>
          <a:xfrm>
            <a:off x="571500" y="714375"/>
            <a:ext cx="4723805" cy="412552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Thermal Impact of Adaptive Schedule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1500" y="1269802"/>
            <a:ext cx="11251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1525" y="1318022"/>
            <a:ext cx="1319808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Thermal Modeling: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2091333" y="1318022"/>
            <a:ext cx="1675209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Junction temperature (T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766542" y="1371600"/>
            <a:ext cx="28575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9976"/>
              </a:lnSpc>
              <a:buNone/>
            </a:pPr>
            <a:r>
              <a:rPr lang="en-US" sz="850" baseline="-40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71525" y="1318022"/>
            <a:ext cx="3862983" cy="6232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was evaluated using a 4-layer Foster thermal network derived directly from the CAB450M12XM3 datasheet.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71500" y="2048470"/>
            <a:ext cx="11251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71525" y="2096691"/>
            <a:ext cx="1703784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Steady-State Reduction: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2475309" y="2096691"/>
            <a:ext cx="2298502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adaptive schedule reduces T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773811" y="2150269"/>
            <a:ext cx="28575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9976"/>
              </a:lnSpc>
              <a:buNone/>
            </a:pPr>
            <a:r>
              <a:rPr lang="en-US" sz="850" baseline="-40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771525" y="2332434"/>
            <a:ext cx="3907631" cy="6018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16.2°C during peak torque conditions (20 km/h) and by 9.7°C during urban driving compared to a fixed 20 kHz baseline.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71500" y="3041452"/>
            <a:ext cx="11251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71525" y="3089672"/>
            <a:ext cx="1891308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Transient Thermal Cycling: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71525" y="3089672"/>
            <a:ext cx="3807619" cy="6018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 a dynamic drive cycle, the adaptive schedule reduces the thermal cycling amplitude (ΔT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718072" y="3571875"/>
            <a:ext cx="28575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9976"/>
              </a:lnSpc>
              <a:buNone/>
            </a:pPr>
            <a:r>
              <a:rPr lang="en-US" sz="850" baseline="-40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1746647" y="3518297"/>
            <a:ext cx="2153841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by 53% (from 16.4°C to 7.7°C).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71500" y="3848695"/>
            <a:ext cx="4243388" cy="857250"/>
          </a:xfrm>
          <a:prstGeom prst="rect">
            <a:avLst/>
          </a:prstGeom>
          <a:noFill/>
          <a:ln/>
        </p:spPr>
        <p:txBody>
          <a:bodyPr wrap="squar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Reliability Gain:</a:t>
            </a: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According to the Coffin-Manson fatigue model, this massive reduction in thermal cycling amplitude directly and significantly extends the power module's operational lifetime.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571500" y="3820120"/>
            <a:ext cx="11251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5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2069" y="1729206"/>
            <a:ext cx="3429000" cy="156721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100638" y="3741539"/>
            <a:ext cx="3471863" cy="280002"/>
          </a:xfrm>
          <a:prstGeom prst="rect">
            <a:avLst/>
          </a:prstGeom>
          <a:noFill/>
          <a:ln/>
        </p:spPr>
        <p:txBody>
          <a:bodyPr wrap="square" lIns="170053" tIns="0" rIns="170053" bIns="0" rtlCol="0" anchor="t">
            <a:spAutoFit/>
          </a:bodyPr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750" dirty="0">
                <a:solidFill>
                  <a:srgbClr val="4B556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Fig. 4. Time-domain simulation validating FC voltage balancing, a prerequisite for stable thermal operation.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285750"/>
            <a:ext cx="17948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ECE 595 — PURDUE UNIVERSITY</a:t>
            </a:r>
            <a:endParaRPr lang="en-US" sz="700" dirty="0"/>
          </a:p>
        </p:txBody>
      </p:sp>
      <p:sp>
        <p:nvSpPr>
          <p:cNvPr id="4" name="Text 1"/>
          <p:cNvSpPr/>
          <p:nvPr/>
        </p:nvSpPr>
        <p:spPr>
          <a:xfrm>
            <a:off x="571500" y="714375"/>
            <a:ext cx="2330648" cy="412552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Simulation Results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1500" y="1412677"/>
            <a:ext cx="2428875" cy="225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FC Voltage Balancing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71500" y="1780580"/>
            <a:ext cx="2428875" cy="857250"/>
          </a:xfrm>
          <a:prstGeom prst="rect">
            <a:avLst/>
          </a:prstGeom>
          <a:noFill/>
          <a:ln/>
        </p:spPr>
        <p:txBody>
          <a:bodyPr wrap="squar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Pre-charge Sequence:</a:t>
            </a: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20ms linear ramp is implemented to prevent inrush currents during startup.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1500" y="2780705"/>
            <a:ext cx="2428875" cy="857250"/>
          </a:xfrm>
          <a:prstGeom prst="rect">
            <a:avLst/>
          </a:prstGeom>
          <a:noFill/>
          <a:ln/>
        </p:spPr>
        <p:txBody>
          <a:bodyPr wrap="squar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Natural Balancing:</a:t>
            </a: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PD-PWM successfully keeps the flying capacitor voltage tightly regulated at exactly 400V.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1500" y="3780830"/>
            <a:ext cx="2428875" cy="857250"/>
          </a:xfrm>
          <a:prstGeom prst="rect">
            <a:avLst/>
          </a:prstGeom>
          <a:noFill/>
          <a:ln/>
        </p:spPr>
        <p:txBody>
          <a:bodyPr wrap="squar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Ripple Budget:</a:t>
            </a: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peak-to-peak voltage ripple is 18.0V, successfully meeting the strict 5% (20V) design constraint.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1500" y="1752005"/>
            <a:ext cx="11251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71500" y="2752130"/>
            <a:ext cx="11251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71500" y="3752255"/>
            <a:ext cx="11251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357563" y="1412677"/>
            <a:ext cx="2428875" cy="225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THD Validation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357563" y="1780580"/>
            <a:ext cx="2428875" cy="1071563"/>
          </a:xfrm>
          <a:prstGeom prst="rect">
            <a:avLst/>
          </a:prstGeom>
          <a:noFill/>
          <a:ln/>
        </p:spPr>
        <p:txBody>
          <a:bodyPr wrap="squar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Harmonic Performance:</a:t>
            </a: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3-level output inherently reduces the voltage step size, significantly improving power quality.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57563" y="2995017"/>
            <a:ext cx="2428875" cy="857250"/>
          </a:xfrm>
          <a:prstGeom prst="rect">
            <a:avLst/>
          </a:prstGeom>
          <a:noFill/>
          <a:ln/>
        </p:spPr>
        <p:txBody>
          <a:bodyPr wrap="squar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Urban Driving:</a:t>
            </a: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At a 5 kHz switching frequency, the output Total Harmonic Distortion (THD) is 1.92%.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357563" y="3995142"/>
            <a:ext cx="2428875" cy="642938"/>
          </a:xfrm>
          <a:prstGeom prst="rect">
            <a:avLst/>
          </a:prstGeom>
          <a:noFill/>
          <a:ln/>
        </p:spPr>
        <p:txBody>
          <a:bodyPr wrap="squar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Highway Driving:</a:t>
            </a: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At a 20 kHz switching frequency, the output THD is 1.13%.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3357563" y="1752005"/>
            <a:ext cx="11251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357563" y="2966442"/>
            <a:ext cx="11251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3357563" y="3966567"/>
            <a:ext cx="11251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143625" y="1412677"/>
            <a:ext cx="2428875" cy="2250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Thermal Analysis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143625" y="1780580"/>
            <a:ext cx="2428875" cy="857250"/>
          </a:xfrm>
          <a:prstGeom prst="rect">
            <a:avLst/>
          </a:prstGeom>
          <a:noFill/>
          <a:ln/>
        </p:spPr>
        <p:txBody>
          <a:bodyPr wrap="squar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Foster Network:</a:t>
            </a: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 4-layer thermal model accurately captures the transient junction temperature dynamics.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6143625" y="1752005"/>
            <a:ext cx="11251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143625" y="2752130"/>
            <a:ext cx="11251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343650" y="2800350"/>
            <a:ext cx="1321594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Peak Temperature: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343650" y="2800350"/>
            <a:ext cx="2198489" cy="3875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junction temperature (T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7354491" y="3068241"/>
            <a:ext cx="28575" cy="1446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19976"/>
              </a:lnSpc>
              <a:buNone/>
            </a:pPr>
            <a:r>
              <a:rPr lang="en-US" sz="850" baseline="-400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6343650" y="3014663"/>
            <a:ext cx="2032397" cy="6232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) peaks at only 50.1°C under the adaptive schedule.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143625" y="3802261"/>
            <a:ext cx="2428875" cy="642938"/>
          </a:xfrm>
          <a:prstGeom prst="rect">
            <a:avLst/>
          </a:prstGeom>
          <a:noFill/>
          <a:ln/>
        </p:spPr>
        <p:txBody>
          <a:bodyPr wrap="squar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Safety Margin:</a:t>
            </a: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This provides a massive 124.9°C safety margin to the 175°C semiconductor limit.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143625" y="3773686"/>
            <a:ext cx="11251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71500" y="285750"/>
            <a:ext cx="1794867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00" b="1" spc="1" kern="0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ECE 595 — PURDUE UNIVERSITY</a:t>
            </a:r>
            <a:endParaRPr lang="en-US" sz="700" dirty="0"/>
          </a:p>
        </p:txBody>
      </p:sp>
      <p:sp>
        <p:nvSpPr>
          <p:cNvPr id="4" name="Text 1"/>
          <p:cNvSpPr/>
          <p:nvPr/>
        </p:nvSpPr>
        <p:spPr>
          <a:xfrm>
            <a:off x="571500" y="714375"/>
            <a:ext cx="1423392" cy="412552"/>
          </a:xfrm>
          <a:prstGeom prst="rect">
            <a:avLst/>
          </a:prstGeom>
          <a:noFill/>
          <a:ln/>
        </p:spPr>
        <p:txBody>
          <a:bodyPr wrap="square" lIns="0" tIns="0" rIns="0" bIns="85090" rtlCol="0" anchor="t">
            <a:sp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Conclusion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1500" y="1341239"/>
            <a:ext cx="3786188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Key Findings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71500" y="1662708"/>
            <a:ext cx="3786188" cy="857250"/>
          </a:xfrm>
          <a:prstGeom prst="rect">
            <a:avLst/>
          </a:prstGeom>
          <a:noFill/>
          <a:ln/>
        </p:spPr>
        <p:txBody>
          <a:bodyPr wrap="squar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Topology Validation:</a:t>
            </a: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800V 3-Level Flying Capacitor topology successfully mitigates dv/dt stress and improves harmonic performance compared to 2L-VSI.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1500" y="2634258"/>
            <a:ext cx="3786188" cy="642938"/>
          </a:xfrm>
          <a:prstGeom prst="rect">
            <a:avLst/>
          </a:prstGeom>
          <a:noFill/>
          <a:ln/>
        </p:spPr>
        <p:txBody>
          <a:bodyPr wrap="squar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Loss Reduction:</a:t>
            </a: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simulated adaptive switching frequency schedule reduces urban switching losses by </a:t>
            </a: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75%</a:t>
            </a: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(from 84.3W to 21.1W per phase).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1500" y="3391495"/>
            <a:ext cx="3786188" cy="857250"/>
          </a:xfrm>
          <a:prstGeom prst="rect">
            <a:avLst/>
          </a:prstGeom>
          <a:noFill/>
          <a:ln/>
        </p:spPr>
        <p:txBody>
          <a:bodyPr wrap="squar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Thermal Improvement:</a:t>
            </a: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adaptive schedule reduces thermal cycling amplitude by </a:t>
            </a: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53%</a:t>
            </a: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significantly extending the lifetime of the SiC power modules.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1500" y="1634133"/>
            <a:ext cx="11251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71500" y="2605683"/>
            <a:ext cx="11251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71500" y="3362920"/>
            <a:ext cx="11251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786313" y="1341239"/>
            <a:ext cx="3786188" cy="207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Limitations &amp; Future Work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786313" y="1662708"/>
            <a:ext cx="3786188" cy="428625"/>
          </a:xfrm>
          <a:prstGeom prst="rect">
            <a:avLst/>
          </a:prstGeom>
          <a:noFill/>
          <a:ln/>
        </p:spPr>
        <p:txBody>
          <a:bodyPr wrap="squar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Ideal Switching:</a:t>
            </a: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current time-domain simulation employs ideal switching transitions.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786313" y="2205633"/>
            <a:ext cx="3786188" cy="857250"/>
          </a:xfrm>
          <a:prstGeom prst="rect">
            <a:avLst/>
          </a:prstGeom>
          <a:noFill/>
          <a:ln/>
        </p:spPr>
        <p:txBody>
          <a:bodyPr wrap="squar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Unmodeled Parasitics:</a:t>
            </a: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The model does not currently account for device voltage drops, discrete dead-time distortion, DC bus ripple, or stray inductance.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786313" y="3177183"/>
            <a:ext cx="3786188" cy="857250"/>
          </a:xfrm>
          <a:prstGeom prst="rect">
            <a:avLst/>
          </a:prstGeom>
          <a:noFill/>
          <a:ln/>
        </p:spPr>
        <p:txBody>
          <a:bodyPr wrap="square" lIns="238125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Future Enhancements:</a:t>
            </a: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Incorporating these non-idealities in future iterations would yield more conservative and hardware-accurate THD and loss estimates.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786313" y="1634133"/>
            <a:ext cx="11251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786313" y="2177058"/>
            <a:ext cx="11251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4786313" y="3148608"/>
            <a:ext cx="11251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2026-05-04T15:09:07Z</dcterms:created>
  <dcterms:modified xsi:type="dcterms:W3CDTF">2026-05-04T15:09:07Z</dcterms:modified>
</cp:coreProperties>
</file>