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1581280"/>
            <a:ext cx="8001000" cy="9200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8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800V Three-Level Flying Capacitor Traction Inverter</a:t>
            </a:r>
            <a:endParaRPr lang="en-US" sz="2850" dirty="0"/>
          </a:p>
        </p:txBody>
      </p:sp>
      <p:sp>
        <p:nvSpPr>
          <p:cNvPr id="4" name="Text 1"/>
          <p:cNvSpPr/>
          <p:nvPr/>
        </p:nvSpPr>
        <p:spPr>
          <a:xfrm>
            <a:off x="571500" y="2672823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and Comprehensive Loss Analysis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71500" y="3222892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Hayagreev S.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71500" y="3424703"/>
            <a:ext cx="8001000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ECE 595 - Purdue University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0"/>
            <a:ext cx="8001000" cy="688646"/>
          </a:xfrm>
          <a:prstGeom prst="rect">
            <a:avLst/>
          </a:prstGeom>
          <a:noFill/>
          <a:ln/>
        </p:spPr>
        <p:txBody>
          <a:bodyPr wrap="square" lIns="0" tIns="510286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Why 800V Architecture?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71500" y="1052978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Ultra-fast charging at 350+ kW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reduces charge time from ~45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 to under 20 min compared to 400V systems.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571500" y="1561579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75% reduction in I²R losses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halving current for the same power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 cuts ohmic losses across inverter, motor, and cabling.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71500" y="2070181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50% less copper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smaller conductor cross-section saves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approximately 10–15 kg of vehicle weight.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71500" y="2578782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Industry adoption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Porsche Taycan, Hyundai E-GMP, and GM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Ultium all use 800V platforms.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71500" y="3087384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Challenge: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Higher DC-link voltage significantly increases dv/dt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stress on motor insulation, demanding advanced inverter topologies.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71500" y="1052978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71500" y="1561579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71500" y="2070181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71500" y="2578782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71500" y="3087384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0" y="1124415"/>
            <a:ext cx="3571875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0"/>
            <a:ext cx="8001000" cy="688646"/>
          </a:xfrm>
          <a:prstGeom prst="rect">
            <a:avLst/>
          </a:prstGeom>
          <a:noFill/>
          <a:ln/>
        </p:spPr>
        <p:txBody>
          <a:bodyPr wrap="square" lIns="0" tIns="510286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dv/dt Problem and the Multilevel Solution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71500" y="1081553"/>
            <a:ext cx="3786188" cy="198239"/>
          </a:xfrm>
          <a:prstGeom prst="rect">
            <a:avLst/>
          </a:prstGeom>
          <a:noFill/>
          <a:ln/>
        </p:spPr>
        <p:txBody>
          <a:bodyPr wrap="square" lIns="0" tIns="34036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800V Challenge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71500" y="1422667"/>
            <a:ext cx="3786188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standard 2-level VSI at 800V switches the full bus voltage in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 50 ns, generating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dv/dt spikes exceeding 16 kV/µs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71500" y="1931268"/>
            <a:ext cx="3786188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motor insulation is rated for ~1200 V/µs maximum — the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limit is exceeded by over 13×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71500" y="2439870"/>
            <a:ext cx="3786188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causes partial discharge and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insulation breakdown within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1000 hours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of continuous operation.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71500" y="1422667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71500" y="1931268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71500" y="2439870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86313" y="1081553"/>
            <a:ext cx="3786188" cy="198239"/>
          </a:xfrm>
          <a:prstGeom prst="rect">
            <a:avLst/>
          </a:prstGeom>
          <a:noFill/>
          <a:ln/>
        </p:spPr>
        <p:txBody>
          <a:bodyPr wrap="square" lIns="0" tIns="34036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Multilevel Solution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786313" y="1422667"/>
            <a:ext cx="3786188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3-level topology reduces the voltage step to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Vdc/2 = 400V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halving dv/dt to ~8 kV/µs.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786313" y="1931268"/>
            <a:ext cx="3786188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improved waveform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reduces output THD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by synthesizing a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closer sine approximation.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786313" y="2439870"/>
            <a:ext cx="3786188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Lower harmonic content reduces EMI and allows a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smaller, lighter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output filter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786313" y="1422667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786313" y="1931268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786313" y="2439870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0"/>
            <a:ext cx="8001000" cy="688646"/>
          </a:xfrm>
          <a:prstGeom prst="rect">
            <a:avLst/>
          </a:prstGeom>
          <a:noFill/>
          <a:ln/>
        </p:spPr>
        <p:txBody>
          <a:bodyPr wrap="square" lIns="0" tIns="510286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Topology Selection: FC vs NPC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71500" y="1110128"/>
            <a:ext cx="8001000" cy="237530"/>
          </a:xfrm>
          <a:prstGeom prst="rect">
            <a:avLst/>
          </a:prstGeom>
          <a:noFill/>
          <a:ln/>
        </p:spPr>
        <p:txBody>
          <a:bodyPr wrap="square" lIns="0" tIns="0" rIns="0" bIns="68072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Neutral Point Clamped (NPC) Limitations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71500" y="1461957"/>
            <a:ext cx="8001000" cy="182863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Unequal loss distribution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between inner and outer switches leads to asymmetric heating and complex cooling requirements.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71500" y="1730546"/>
            <a:ext cx="8001000" cy="182863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Neutral point balance is notoriously difficult to maintain under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transient EV loads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requiring complex control algorithms.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71500" y="1461957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71500" y="1730546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71500" y="2199159"/>
            <a:ext cx="8001000" cy="237530"/>
          </a:xfrm>
          <a:prstGeom prst="rect">
            <a:avLst/>
          </a:prstGeom>
          <a:noFill/>
          <a:ln/>
        </p:spPr>
        <p:txBody>
          <a:bodyPr wrap="square" lIns="0" tIns="0" rIns="0" bIns="68072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Flying Capacitor (FC) Advantages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71500" y="2550988"/>
            <a:ext cx="8001000" cy="182863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4 switches block identical voltage (Vdc/2 = 400V), ensuring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symmetric thermal stress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allowing identical power modules.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71500" y="2819577"/>
            <a:ext cx="8001000" cy="182863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Redundant switching states enable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natural capacitor balancing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regardless of the load power factor.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71500" y="3088165"/>
            <a:ext cx="8001000" cy="182863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Trade-off: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Requires a bulky capacitor and pre-charge circuit, which is acceptable in modern EVs where pre-charge contactors already exist.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71500" y="2550988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71500" y="2819577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71500" y="3088165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0"/>
            <a:ext cx="8001000" cy="688646"/>
          </a:xfrm>
          <a:prstGeom prst="rect">
            <a:avLst/>
          </a:prstGeom>
          <a:noFill/>
          <a:ln/>
        </p:spPr>
        <p:txBody>
          <a:bodyPr wrap="square" lIns="0" tIns="510286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FC Switching States and PD-PWM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71500" y="1052978"/>
            <a:ext cx="3471863" cy="548590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3-Phase Structure: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Each phase leg (a, b, c) utilizes four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switches (e.g., q1a, q2a, q2a, q1a) with a flying capacitor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the inner junctions.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571500" y="1715867"/>
            <a:ext cx="3471863" cy="548590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Output voltage levels: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topology synthesizes three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distinct voltage levels per phase relative to the DC midpoint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(0): +Vdc, 0, and -Vdc.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71500" y="1052978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71500" y="1715867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71500" y="2378757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685800" y="2400188"/>
            <a:ext cx="2678906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Redundant zero states enable natural balancing: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00100" y="2618770"/>
            <a:ext cx="3243263" cy="58863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1" name="Shape 8"/>
          <p:cNvSpPr/>
          <p:nvPr/>
        </p:nvSpPr>
        <p:spPr>
          <a:xfrm>
            <a:off x="800100" y="2618770"/>
            <a:ext cx="28575" cy="58863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800100" y="2618770"/>
            <a:ext cx="3243263" cy="588634"/>
          </a:xfrm>
          <a:prstGeom prst="rect">
            <a:avLst/>
          </a:prstGeom>
          <a:noFill/>
          <a:ln/>
        </p:spPr>
        <p:txBody>
          <a:bodyPr wrap="square" lIns="170053" tIns="136017" rIns="170053" bIns="136017" rtlCol="0" anchor="t">
            <a:spAutoFit/>
          </a:bodyPr>
          <a:lstStyle/>
          <a:p>
            <a:pPr algn="l" indent="0" marL="0">
              <a:lnSpc>
                <a:spcPct val="144000"/>
              </a:lnSpc>
              <a:buNone/>
            </a:pPr>
            <a:r>
              <a:rPr lang="en-US" sz="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State 1:</a:t>
            </a:r>
            <a:r>
              <a:rPr lang="en-US" sz="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q1=1, q2=0 → Output = 0V (Charges Cfc)</a:t>
            </a:r>
            <a:r>
              <a:rPr lang="en-US" sz="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State 2:</a:t>
            </a:r>
            <a:r>
              <a:rPr lang="en-US" sz="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q1=0, q2=1 → Output = 0V (Discharges Cfc)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571500" y="3378854"/>
            <a:ext cx="3471863" cy="548590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PD-PWM modulation: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Phase Disposition PWM actively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selects between the redundant zero states based on the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current direction to maintain Vfc at exactly Vdc/2.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71500" y="3378854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9113" y="1052978"/>
            <a:ext cx="4243388" cy="328612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329113" y="4396253"/>
            <a:ext cx="4243388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Advanced Power Electronics Converters (E. Cipriano)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0"/>
            <a:ext cx="8001000" cy="688646"/>
          </a:xfrm>
          <a:prstGeom prst="rect">
            <a:avLst/>
          </a:prstGeom>
          <a:noFill/>
          <a:ln/>
        </p:spPr>
        <p:txBody>
          <a:bodyPr wrap="square" lIns="0" tIns="510286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Component Selection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71500" y="1052978"/>
            <a:ext cx="3857625" cy="548590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Switch: Wolfspeed CAB450M12XM3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1200V rating provides a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50% margin over the 400V/switch stress. 450A rating offers a 3.3×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margin over the 136A peak current.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571500" y="1744442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SiC chosen over Si IGBT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Delivers 10× lower switching energy,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eliminates tail current, and enables efficient 20 kHz operation.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71500" y="2253044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Capacitor sizing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C = Ipk / (2 × fsw_min × ΔVfc) = 136A / (2 ×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5kHz × 20V) =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680µF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71500" y="2761645"/>
            <a:ext cx="3857625" cy="548590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Film capacitor (polypropylene)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Selected for ESR &lt; 5mΩ, &gt;100A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RMS ripple capability, self-healing properties, and automotive-grade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reliability.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71500" y="3453110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Thermal modeling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Rth_jc = 0.094 °C/W, modeled using a 4-layer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network for accurate transient thermal analysis.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71500" y="1052978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71500" y="1744442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71500" y="2253044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71500" y="2761645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71500" y="3453110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0" y="1124415"/>
            <a:ext cx="3571875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0"/>
            <a:ext cx="8001000" cy="688646"/>
          </a:xfrm>
          <a:prstGeom prst="rect">
            <a:avLst/>
          </a:prstGeom>
          <a:noFill/>
          <a:ln/>
        </p:spPr>
        <p:txBody>
          <a:bodyPr wrap="square" lIns="0" tIns="510286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Vehicle Architecture Mapping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71500" y="1052978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Drivetrain parameters dictate the operating points: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 = 8.19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gear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ratio,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 = 0.315m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tyre radius,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 = 4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pole pairs.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71500" y="1052978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71500" y="1561579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685800" y="1583010"/>
            <a:ext cx="3671888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Electrical frequency (fe) is directly proportional to vehicle speed (v):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85800" y="1801592"/>
            <a:ext cx="1428750" cy="354313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9" name="Shape 6"/>
          <p:cNvSpPr/>
          <p:nvPr/>
        </p:nvSpPr>
        <p:spPr>
          <a:xfrm>
            <a:off x="685800" y="1801592"/>
            <a:ext cx="28575" cy="354313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1801592"/>
            <a:ext cx="1428750" cy="354313"/>
          </a:xfrm>
          <a:prstGeom prst="rect">
            <a:avLst/>
          </a:prstGeom>
          <a:noFill/>
          <a:ln/>
        </p:spPr>
        <p:txBody>
          <a:bodyPr wrap="square" lIns="136017" tIns="102108" rIns="136017" bIns="102108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 = (v/r) × (G/2π) × p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71500" y="2355931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Using an RL load model (R = 1.3Ω, L = 2mH),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current decreases with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speed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as load impedance increases.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71500" y="2864532"/>
            <a:ext cx="3857625" cy="182863"/>
          </a:xfrm>
          <a:prstGeom prst="rect">
            <a:avLst/>
          </a:prstGeom>
          <a:noFill/>
          <a:ln/>
        </p:spPr>
        <p:txBody>
          <a:bodyPr wrap="non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Urban (40 km/h):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fe = 184 Hz, Ipk = 136A — highest thermal stress.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71500" y="3190270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Highway (120 km/h):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fe = 552 Hz, Ipk = 51A — lowest loss but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highest frequency demand.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71500" y="2355931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71500" y="2864532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71500" y="3190270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0" y="1124415"/>
            <a:ext cx="3571875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0"/>
            <a:ext cx="8001000" cy="688646"/>
          </a:xfrm>
          <a:prstGeom prst="rect">
            <a:avLst/>
          </a:prstGeom>
          <a:noFill/>
          <a:ln/>
        </p:spPr>
        <p:txBody>
          <a:bodyPr wrap="square" lIns="0" tIns="510286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Switching Loss Analysis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71500" y="1052978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85800" y="1074409"/>
            <a:ext cx="2034183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Graovac-Purschel analytical method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2719983" y="1074409"/>
            <a:ext cx="1382316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for loss calculation: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85800" y="1292991"/>
            <a:ext cx="3743325" cy="331459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Shape 5"/>
          <p:cNvSpPr/>
          <p:nvPr/>
        </p:nvSpPr>
        <p:spPr>
          <a:xfrm>
            <a:off x="685800" y="1292991"/>
            <a:ext cx="21431" cy="331459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292991"/>
            <a:ext cx="3743325" cy="331459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Psw = Nc × (fsw/π) × Esw_ref × (Ipk/Iref) × (Vdc_sw/Vref)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571500" y="1767325"/>
            <a:ext cx="3857625" cy="548590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Urban driving at 20 kHz: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P_sw = 84.3 W/phase vs P_cond = 51.5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W/phase. Switching losses heavily dominate (63% of total) due to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phase currents (136A).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71500" y="2458789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Highway driving at 20 kHz: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P_sw = 31.7 W/phase vs P_cond = 5.6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W/phase. Both losses are relatively low due to reduced current (51A).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71500" y="2967391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insight: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Operating at 20 kHz is unnecessary at 40 km/h where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fundamental electrical frequency (fe) is only 184 Hz.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71500" y="3475992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minimum carrier ratio (mf = fsw/fe) of 27 at 5 kHz / 184 Hz is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sufficient to maintain excellent THD while drastically cutting losses.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71500" y="1767325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71500" y="2458789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71500" y="2967391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71500" y="3475992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875" y="1052978"/>
            <a:ext cx="3857625" cy="32861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0"/>
            <a:ext cx="8001000" cy="688646"/>
          </a:xfrm>
          <a:prstGeom prst="rect">
            <a:avLst/>
          </a:prstGeom>
          <a:noFill/>
          <a:ln/>
        </p:spPr>
        <p:txBody>
          <a:bodyPr wrap="square" lIns="0" tIns="510286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Adaptive Switching Frequency Schedule</a:t>
            </a:r>
            <a:endParaRPr lang="en-US" sz="14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052978"/>
            <a:ext cx="3857625" cy="328612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14875" y="1052978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6" name="Text 2"/>
          <p:cNvSpPr/>
          <p:nvPr/>
        </p:nvSpPr>
        <p:spPr>
          <a:xfrm>
            <a:off x="4829175" y="1074409"/>
            <a:ext cx="1980605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Adaptive Schedule Implementation:</a:t>
            </a:r>
            <a:endParaRPr lang="en-US" sz="800" dirty="0"/>
          </a:p>
        </p:txBody>
      </p:sp>
      <p:sp>
        <p:nvSpPr>
          <p:cNvPr id="7" name="Shape 3"/>
          <p:cNvSpPr/>
          <p:nvPr/>
        </p:nvSpPr>
        <p:spPr>
          <a:xfrm>
            <a:off x="4829175" y="1292991"/>
            <a:ext cx="3743325" cy="651477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Shape 4"/>
          <p:cNvSpPr/>
          <p:nvPr/>
        </p:nvSpPr>
        <p:spPr>
          <a:xfrm>
            <a:off x="4829175" y="1292991"/>
            <a:ext cx="21431" cy="651477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5"/>
          <p:cNvSpPr/>
          <p:nvPr/>
        </p:nvSpPr>
        <p:spPr>
          <a:xfrm>
            <a:off x="4829175" y="1292991"/>
            <a:ext cx="3743325" cy="651477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 kHz:</a:t>
            </a:r>
            <a:r>
              <a:rPr lang="en-US" sz="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Urban driving (v &lt; 60 km/h)</a:t>
            </a:r>
            <a:r>
              <a:rPr lang="en-US" sz="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10 kHz:</a:t>
            </a:r>
            <a:r>
              <a:rPr lang="en-US" sz="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Extra-Urban (60-90 km/h)</a:t>
            </a:r>
            <a:r>
              <a:rPr lang="en-US" sz="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20 kHz:</a:t>
            </a:r>
            <a:r>
              <a:rPr lang="en-US" sz="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Highway (v &gt; 90 km/h)</a:t>
            </a:r>
            <a:endParaRPr lang="en-US" sz="750" dirty="0"/>
          </a:p>
        </p:txBody>
      </p:sp>
      <p:sp>
        <p:nvSpPr>
          <p:cNvPr id="10" name="Text 6"/>
          <p:cNvSpPr/>
          <p:nvPr/>
        </p:nvSpPr>
        <p:spPr>
          <a:xfrm>
            <a:off x="4714875" y="2087342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Urban Saving: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Switching loss drops from 84.3W to 21.1W per phase,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representing a massive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75% reduction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4714875" y="2595944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Total Efficiency Gain: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3-phase total saving at 40 km/h is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190W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directly extending EV range in city driving.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714875" y="3104545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THD Remains Excellent: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Despite the lower frequency, THD is 1.92%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5 kHz (urban) and 1.13% at 20 kHz (highway).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4714875" y="3613147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Highway Performance: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change in losses, as both schedules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utilize 20 kHz to support the high fundamental frequency (552 Hz).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4714875" y="2087342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4714875" y="2595944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4714875" y="3104545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4714875" y="3613147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0"/>
            <a:ext cx="8001000" cy="688646"/>
          </a:xfrm>
          <a:prstGeom prst="rect">
            <a:avLst/>
          </a:prstGeom>
          <a:noFill/>
          <a:ln/>
        </p:spPr>
        <p:txBody>
          <a:bodyPr wrap="square" lIns="0" tIns="510286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Thermal Impact of Adaptive Schedule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71500" y="1052978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Urban Tj reduction: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Junction temperature drops from 63.2°C (fixed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kHz) to 53.5°C (adaptive 5 kHz) — a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ΔTj of 9.7°C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571500" y="1561579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Peak torque Tj reduction: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At 20 km/h, the temperature drops from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87.4°C to 71.3°C — a massive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ΔTj of 16.2°C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71500" y="2070181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Thermal cycling amplitude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over a mixed drive cycle is reduced by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53% (from 16.4°C to 7.7°C).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71500" y="2578782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the Coffin-Manson fatigue model, this reduced thermal cycling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directly and significantly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extends solder fatigue lifetime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71500" y="3087384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operating points remain well below the module's Tj_max of 175°C,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providing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&gt;100°C of thermal margin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71500" y="1052978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71500" y="1561579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71500" y="2070181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71500" y="2578782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71500" y="3087384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875" y="1052978"/>
            <a:ext cx="3857625" cy="32861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0"/>
            <a:ext cx="8001000" cy="688646"/>
          </a:xfrm>
          <a:prstGeom prst="rect">
            <a:avLst/>
          </a:prstGeom>
          <a:noFill/>
          <a:ln/>
        </p:spPr>
        <p:txBody>
          <a:bodyPr wrap="square" lIns="0" tIns="510286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Simulation Results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71500" y="1052978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Time-domain simulation confirms proper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3-level output voltage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synthesis at both urban and highway speeds.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71500" y="1561579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 currents are clean sinusoids with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THD &lt; 2%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(1.92% at 5 kHz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urban, 1.13% at 20 kHz highway).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71500" y="2070181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FC voltage is successfully maintained at 400V with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± 0.04V mean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error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using PD-PWM active state selection.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71500" y="2578782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FC ripple: </a:t>
            </a: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18V simulated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vs 20V analytical budget — excellent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agreement with design calculations.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71500" y="3087384"/>
            <a:ext cx="3857625" cy="365727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Pre-charge transient: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20ms linear ramp from 0V to 400V </a:t>
            </a:r>
            <a:r>
              <a:rPr lang="en-US" sz="8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successfully executed before active switching commences.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71500" y="1052978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71500" y="1561579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71500" y="2070181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71500" y="2578782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71500" y="3087384"/>
            <a:ext cx="53578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875" y="1052978"/>
            <a:ext cx="3857625" cy="32861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0"/>
            <a:ext cx="8001000" cy="688646"/>
          </a:xfrm>
          <a:prstGeom prst="rect">
            <a:avLst/>
          </a:prstGeom>
          <a:noFill/>
          <a:ln/>
        </p:spPr>
        <p:txBody>
          <a:bodyPr wrap="square" lIns="0" tIns="510286" rIns="0" bIns="0" rtlCol="0" anchor="t">
            <a:sp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71500" y="1110128"/>
            <a:ext cx="8001000" cy="228600"/>
          </a:xfrm>
          <a:prstGeom prst="rect">
            <a:avLst/>
          </a:prstGeom>
          <a:noFill/>
          <a:ln/>
        </p:spPr>
        <p:txBody>
          <a:bodyPr wrap="none" lIns="204089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800V architecture</a:t>
            </a:r>
            <a:r>
              <a:rPr lang="en-US" sz="10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is justified by ultra-fast charging speed, reduced cable weight, and overall efficiency gains.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71500" y="1538753"/>
            <a:ext cx="8001000" cy="457200"/>
          </a:xfrm>
          <a:prstGeom prst="rect">
            <a:avLst/>
          </a:prstGeom>
          <a:noFill/>
          <a:ln/>
        </p:spPr>
        <p:txBody>
          <a:bodyPr wrap="square" lIns="204089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FC topology</a:t>
            </a:r>
            <a:r>
              <a:rPr lang="en-US" sz="10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was selected over NPC for its superior thermal symmetry and natural balancing capabilities under </a:t>
            </a:r>
            <a:r>
              <a:rPr lang="en-US" sz="10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dynamic EV loads.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71500" y="2195978"/>
            <a:ext cx="8001000" cy="457200"/>
          </a:xfrm>
          <a:prstGeom prst="rect">
            <a:avLst/>
          </a:prstGeom>
          <a:noFill/>
          <a:ln/>
        </p:spPr>
        <p:txBody>
          <a:bodyPr wrap="square" lIns="204089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Adaptive fsw schedule:</a:t>
            </a:r>
            <a:r>
              <a:rPr lang="en-US" sz="10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Achieved a </a:t>
            </a:r>
            <a:r>
              <a:rPr lang="en-US" sz="10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75% switching loss reduction</a:t>
            </a:r>
            <a:r>
              <a:rPr lang="en-US" sz="10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urban driving, saving 190W (3-phase) </a:t>
            </a:r>
            <a:r>
              <a:rPr lang="en-US" sz="10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compared to a fixed 20 kHz baseline.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1500" y="2853203"/>
            <a:ext cx="8001000" cy="457200"/>
          </a:xfrm>
          <a:prstGeom prst="rect">
            <a:avLst/>
          </a:prstGeom>
          <a:noFill/>
          <a:ln/>
        </p:spPr>
        <p:txBody>
          <a:bodyPr wrap="square" lIns="204089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Thermal benefit:</a:t>
            </a:r>
            <a:r>
              <a:rPr lang="en-US" sz="10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Delivered a </a:t>
            </a:r>
            <a:r>
              <a:rPr lang="en-US" sz="10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9.7°C Tj reduction</a:t>
            </a:r>
            <a:r>
              <a:rPr lang="en-US" sz="10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53% less thermal cycling, directly extending the power </a:t>
            </a:r>
            <a:r>
              <a:rPr lang="en-US" sz="10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module's fatigue lifetime.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1500" y="3510428"/>
            <a:ext cx="8001000" cy="457200"/>
          </a:xfrm>
          <a:prstGeom prst="rect">
            <a:avLst/>
          </a:prstGeom>
          <a:noFill/>
          <a:ln/>
        </p:spPr>
        <p:txBody>
          <a:bodyPr wrap="square" lIns="204089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All metrics validated:</a:t>
            </a:r>
            <a:r>
              <a:rPr lang="en-US" sz="10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Time-domain simulation confirmed THD &lt; 2%, FC balance &lt; 0.04V error, and Tj &lt; 54°C with </a:t>
            </a:r>
            <a:r>
              <a:rPr lang="en-US" sz="10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&gt;120°C thermal margin.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1500" y="4167653"/>
            <a:ext cx="8001000" cy="228600"/>
          </a:xfrm>
          <a:prstGeom prst="rect">
            <a:avLst/>
          </a:prstGeom>
          <a:noFill/>
          <a:ln/>
        </p:spPr>
        <p:txBody>
          <a:bodyPr wrap="none" lIns="204089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Future work:</a:t>
            </a:r>
            <a:r>
              <a:rPr lang="en-US" sz="10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Experimental validation of the adaptive schedule and thermal models on a hardware prototype.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71500" y="1095840"/>
            <a:ext cx="82153" cy="2742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1524465"/>
            <a:ext cx="82153" cy="2742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1500" y="2181690"/>
            <a:ext cx="82153" cy="2742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71500" y="2838915"/>
            <a:ext cx="82153" cy="2742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71500" y="3496140"/>
            <a:ext cx="82153" cy="2742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71500" y="4153365"/>
            <a:ext cx="82153" cy="2742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•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2026-05-04T13:55:44Z</dcterms:created>
  <dcterms:modified xsi:type="dcterms:W3CDTF">2026-05-04T13:55:44Z</dcterms:modified>
</cp:coreProperties>
</file>