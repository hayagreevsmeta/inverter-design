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presentation details the vehicle architecture-driven design and comprehensive loss analysis of an 800V three-level flying capacitor traction inverter. This work addresses the critical need for high-efficiency, robust power electronics in modern electric vehicles. We'll explore how specific design choices, from the system architecture down to the component level, impact overall performance and reliability. Our focus will be on the rigorous analytical methods used to quantify these impacts. We'll examine the specific challenges and solutions associated with high-voltage systems and multilevel topologies. Next, we'll outline the project's scope and objectives.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Building on that, our project addresses a core challenge in traction inverter design: balancing efficiency, torque quality, and thermal stress across highly variable driving conditions. The electrical fundamental frequency is not fixed; it's directly proportional to vehicle speed, creating dynamic load profiles. Urban driving demands low frequency but high phase currents for acceleration, while highway driving requires high frequency but lower sustained currents. Our objective is to model a traction inverter across this full spectrum of operating conditions, evaluate comprehensive conduction and switching losses, and optimize the design for maximum drivetrain efficiency and thermal reliability. This comprehensive approach is crucial for next-generation EV powertrains. To meet these demanding performance requirements, our baseline decision was to adopt an 800V DC bus architecture.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meet these demanding performance requirements, our baseline decision was to adopt an 800V DC bus architecture. This choice is fundamental because it halves the required phase current for a given power level compared to traditional 400V systems. This drastic current reduction significantly lowers I²R ohmic losses in the inverter semiconductors, motor windings, and high-voltage cabling. Ultimately, this enables faster DC fast charging, reduces cable weight, and improves overall powertrain efficiency, which are all critical benefits for electric vehicles. But this higher voltage introduces its own set of challenges, which we'll discuss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transition to an 800V architecture, while beneficial for efficiency, exacerbates the dv/dt problem inherent with fast-switching SiC devices. Traditional two-level inverters operating on an 800V bus require 1200V-class semiconductors, and while SiC devices meet this, their extremely fast switching transitions generate severe dv/dt stress. This high rate of voltage change over time leads to premature motor winding insulation failure and bearing degradation. To mitigate this, a multilevel inverter topology is essential. It synthesizes the output voltage from multiple discrete levels, reducing the voltage step size to, for example, 400V steps instead of 800V, effectively cutting the dv/dt stress in half and improving the output waveform's harmonic profile. This brings us to the critical decision of which multilevel topology to employ.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selecting a multilevel topology, we considered both the Flying Capacitor, or FC, and Neutral Point Clamped, or NPC, topologies. The FC topology offers significant advantages in thermal symmetry and dynamic load balancing. NPC suffers from asymmetric loss distribution between inner and outer switches, complicating cooling, whereas FC distributes voltage and current stresses symmetrically across all four switches, with each blocking Vdc/2. Furthermore, FC eliminates the need for clamping diodes, removing components from the conduction path and reducing conduction losses. Crucially, while NPC's neutral point is difficult to balance under dynamic EV loads, FC utilizes redundant switching states to naturally balance the flying capacitor voltage. It remains balanced at Vdc/2 regardless of the load power factor by actively selecting states based on phase current direction. This inherent balancing capability is a key differentiator for traction applications.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we delve into the fundamental operation of the flying capacitor inverter, specifically its switching states and the control strategy. This topology synthesizes a three-level output, +Vdc/2, 0, and -Vdc/2, which inherently reduces voltage steps and dv/dt stress on the motor windings. A key feature is the presence of redundant zero states; the '0' voltage level can be achieved through two distinct switch combinations. We leverage this redundancy with Phase-Disposition PWM, or PD-PWM, which naturally balances the flying capacitor voltage to precisely Vdc/2. This is achieved by alternating between these redundant zero states based on the direction of the phase current, effectively charging or discharging the capacitor as needed. This elegant control mechanism avoids the need for complex closed-loop balancing circuits. Now, let's consider the critical component choices that enable this operation.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Building on the operational principles, component selection is paramount for robust performance. We chose the Wolfspeed CAB450M12XM3, a 1200V, 450A SiC half-bridge module, as our active switch. This provides a substantial 1200V voltage margin against a 400V bus, meeting IPC-9592B derating at 33% utilization, and a current margin of approximately 3.3 times the 136A peak phase current. Its positive temperature coefficient for Rds_on, scaling from 3.3mΩ at 25°C to 6.6mΩ at 175°C, inherently prevents thermal runaway. For the flying capacitor, we selected automotive-grade metallized polypropylene film technology with 680 microfarads. This capacitance ensures the voltage ripple remains within 5%, or 20V on a 400V bus, even at a minimum switching frequency of 5 kHz. Film capacitors offer very low ESR, typically less than 5 milliohms, superior high-frequency ripple handling, and extended lifespan compared to electrolytic options. With these components in mind, we can now map them to a realistic vehicle architecture.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map these components into a representative vehicle architecture to define operating points. We consider a single-speed reduction gear with a ratio of 8.19, a tire radius of 0.315 meters, and an 8-pole permanent magnet synchronous motor. This allows us to directly correlate vehicle speed to the motor's fundamental electrical frequency. For instance, urban driving at 40 kilometers per hour results in a low fundamental frequency of 184 Hertz, but it demands a high peak phase current of 136 Amperes, representing the highest current stress. Conversely, highway cruising at 120 kilometers per hour yields a higher fundamental frequency of 552 Hertz, but with a significantly lower sustained current of 51 Amperes due to increased load impedance. Understanding these distinct operating points is crucial for accurately analyzing switching losses. Let's move on to that analysis.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the vehicle operating points defined, we can now quantify switching losses. We employ the Graovac-Purschel analytical method, which effectively captures drive-frequency effects and is well-suited for SiC devices by utilizing their specific device curves. We calibrate this model using the CAB450M12XM3 datasheet parameters: an Eon of 25.4 millijoules and an Eoff of 7.51 millijoules, both measured at 450 Amperes and 600 Volts. A critical finding from this analysis is that a fixed 20 kHz switching frequency presents a significant issue. At lower vehicle speeds, where phase currents are highest, around 136 Amperes, switching losses become dominant. This insight directly motivates our next step: developing an adaptive switching frequency schedule to mitigate these losses.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Given the challenges of fixed-frequency operation, we developed and simulated an adaptive switching frequency schedule. The core principle is to maintain a sufficient frequency modulation ratio, mf, defined as the ratio of switching frequency to fundamental frequency, to ensure waveform quality while actively minimizing losses. For urban driving, where the fundamental frequency is low at 184 Hertz, the controller dynamically reduces the switching frequency to 5 kHz. This still maintains a high modulation ratio of approximately 27. This reduction in switching frequency yields substantial savings in switching losses precisely when the phase current is at its peak. This adaptive approach directly addresses the thermal challenges identified earlier. Next, we'll examine the thermal impact of this adaptive schedule.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adaptive schedule directly addresses thermal challenges, significantly enhancing device reliability. We modeled the junction temperature, Tj, using a 4-layer Foster thermal network, parameterized from the CAB450M12XM3 datasheet with an Rth_jc of 94 m°C/W. This detailed model captures transient thermal behavior accurately. The adaptive schedule reduces steady-state Tj by 16.2°C during peak torque and 9.7°C in urban conditions, compared to a fixed 20 kHz baseline. More critically, over a dynamic drive cycle, it cuts the thermal cycling amplitude, ΔTj, by 53%, from 16.4°C to 7.7°C. This reduction directly extends the power module's operational lifetime, as predicted by the Coffin-Manson fatigue model. This is a key benefit for long-term reliability. Next, we'll dive into the full simulation results, including voltage balancing and harmonic performance.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Building on the thermal benefits, let's look at the comprehensive simulation results for our 3-level flying capacitor converter. First, a 20ms linear ramp pre-charge prevents inrush currents. Our PD-PWM strategy successfully maintains the flying capacitor voltage at precisely 400V, with a peak-to-peak ripple of 18.0V, well within our 5% design constraint. For harmonic performance, the 3-level output inherently improves power quality. In urban driving, at 5 kHz, the THD is 1.92%, and on the highway, at 20 kHz, it's 1.13%. We acknowledge these are optimistic bounds due to the ideal switching model. Finally, our thermal analysis, using the 4-layer Foster network, shows the junction temperature peaks at 46.4°C with an ambient temperature of 40°C. This provides a 128.6°C safety margin to the 175°C semiconductor limit of the CAB450M12XM3, ensuring robust operation. Now, let's summarize our findings and discuss limitations.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conclusion, our investigation confirms several key findings for the 800V 3-Level Flying Capacitor topology. We've validated its ability to mitigate dv/dt stress and improve harmonic performance compared to a 2-level inverter. The adaptive switching frequency schedule is particularly impactful, reducing urban switching losses by 75%, from 84.3W to 21.1W per phase. Furthermore, this adaptive approach reduces thermal cycling amplitude by 53%, from 16.4°C to 7.7°C, significantly extending the SiC power modules' lifetime. However, we acknowledge certain limitations. Our current time-domain simulation uses ideal switching transitions and does not account for device voltage drops, discrete dead-time distortion, DC bus ripple, or stray inductance. Hardware THD would likely be in the 3–8% range at 5 kHz. Future work will incorporate these non-idealities to provide more conservative and hardware-accurate THD and loss estimates, further refining our model's predictive capability.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e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e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571500" y="285750"/>
            <a:ext cx="1794867" cy="121444"/>
          </a:xfrm>
          <a:prstGeom prst="rect">
            <a:avLst/>
          </a:prstGeom>
          <a:noFill/>
          <a:ln/>
        </p:spPr>
        <p:txBody>
          <a:bodyPr wrap="square" lIns="0" tIns="0" rIns="0" bIns="0" rtlCol="0" anchor="t">
            <a:spAutoFit/>
          </a:bodyPr>
          <a:lstStyle/>
          <a:p>
            <a:pPr algn="l" indent="0" marL="0">
              <a:buNone/>
            </a:pPr>
            <a:r>
              <a:rPr lang="en-US" sz="700" b="1" spc="1" kern="0" dirty="0">
                <a:solidFill>
                  <a:srgbClr val="2563EB"/>
                </a:solidFill>
                <a:latin typeface="Inter Bold" pitchFamily="34" charset="0"/>
                <a:ea typeface="Inter Bold" pitchFamily="34" charset="-122"/>
                <a:cs typeface="Inter Bold" pitchFamily="34" charset="-120"/>
              </a:rPr>
              <a:t>ECE 595 — PURDUE UNIVERSITY</a:t>
            </a:r>
            <a:endParaRPr lang="en-US" sz="700" dirty="0"/>
          </a:p>
        </p:txBody>
      </p:sp>
      <p:sp>
        <p:nvSpPr>
          <p:cNvPr id="5" name="Shape 1"/>
          <p:cNvSpPr/>
          <p:nvPr/>
        </p:nvSpPr>
        <p:spPr>
          <a:xfrm>
            <a:off x="857250" y="1380027"/>
            <a:ext cx="7429500" cy="2383445"/>
          </a:xfrm>
          <a:prstGeom prst="rect">
            <a:avLst/>
          </a:prstGeom>
          <a:solidFill>
            <a:srgbClr val="000000">
              <a:alpha val="0"/>
            </a:srgbClr>
          </a:solidFill>
          <a:ln/>
        </p:spPr>
      </p:sp>
      <p:sp>
        <p:nvSpPr>
          <p:cNvPr id="6" name="Shape 2"/>
          <p:cNvSpPr/>
          <p:nvPr/>
        </p:nvSpPr>
        <p:spPr>
          <a:xfrm>
            <a:off x="857250" y="1380027"/>
            <a:ext cx="42863" cy="2383445"/>
          </a:xfrm>
          <a:prstGeom prst="rect">
            <a:avLst/>
          </a:prstGeom>
          <a:solidFill>
            <a:srgbClr val="2563EB"/>
          </a:solidFill>
          <a:ln/>
        </p:spPr>
      </p:sp>
      <p:sp>
        <p:nvSpPr>
          <p:cNvPr id="7" name="Text 3"/>
          <p:cNvSpPr/>
          <p:nvPr/>
        </p:nvSpPr>
        <p:spPr>
          <a:xfrm>
            <a:off x="1143000" y="1380027"/>
            <a:ext cx="7143750" cy="1645853"/>
          </a:xfrm>
          <a:prstGeom prst="rect">
            <a:avLst/>
          </a:prstGeom>
          <a:noFill/>
          <a:ln/>
        </p:spPr>
        <p:txBody>
          <a:bodyPr wrap="square" lIns="0" tIns="0" rIns="0" bIns="0" rtlCol="0" anchor="t">
            <a:spAutoFit/>
          </a:bodyPr>
          <a:lstStyle/>
          <a:p>
            <a:pPr algn="l" indent="0" marL="0">
              <a:lnSpc>
                <a:spcPct val="96000"/>
              </a:lnSpc>
              <a:buNone/>
            </a:pPr>
            <a:r>
              <a:rPr lang="en-US" sz="2450" b="1" dirty="0">
                <a:solidFill>
                  <a:srgbClr val="000000"/>
                </a:solidFill>
                <a:latin typeface="Inter Bold" pitchFamily="34" charset="0"/>
                <a:ea typeface="Inter Bold" pitchFamily="34" charset="-122"/>
                <a:cs typeface="Inter Bold" pitchFamily="34" charset="-120"/>
              </a:rPr>
              <a:t>Vehicle Architecture-Driven Design and Comprehensive Loss Analysis of an 800V Three-Level Flying Capacitor Traction Inverter</a:t>
            </a:r>
            <a:endParaRPr lang="en-US" sz="2450" dirty="0"/>
          </a:p>
        </p:txBody>
      </p:sp>
      <p:sp>
        <p:nvSpPr>
          <p:cNvPr id="8" name="Text 4"/>
          <p:cNvSpPr/>
          <p:nvPr/>
        </p:nvSpPr>
        <p:spPr>
          <a:xfrm>
            <a:off x="1143000" y="3311630"/>
            <a:ext cx="7143750" cy="207169"/>
          </a:xfrm>
          <a:prstGeom prst="rect">
            <a:avLst/>
          </a:prstGeom>
          <a:noFill/>
          <a:ln/>
        </p:spPr>
        <p:txBody>
          <a:bodyPr wrap="square" lIns="0" tIns="0" rIns="0" bIns="0" rtlCol="0" anchor="t">
            <a:spAutoFit/>
          </a:bodyPr>
          <a:lstStyle/>
          <a:p>
            <a:pPr algn="l" indent="0" marL="0">
              <a:buNone/>
            </a:pPr>
            <a:r>
              <a:rPr lang="en-US" sz="1200" b="1" dirty="0">
                <a:solidFill>
                  <a:srgbClr val="000000"/>
                </a:solidFill>
                <a:latin typeface="Inter Bold" pitchFamily="34" charset="0"/>
                <a:ea typeface="Inter Bold" pitchFamily="34" charset="-122"/>
                <a:cs typeface="Inter Bold" pitchFamily="34" charset="-120"/>
              </a:rPr>
              <a:t>Hayagreev S.</a:t>
            </a:r>
            <a:endParaRPr lang="en-US" sz="1200" dirty="0"/>
          </a:p>
        </p:txBody>
      </p:sp>
      <p:sp>
        <p:nvSpPr>
          <p:cNvPr id="9" name="Text 5"/>
          <p:cNvSpPr/>
          <p:nvPr/>
        </p:nvSpPr>
        <p:spPr>
          <a:xfrm>
            <a:off x="1143000" y="3590237"/>
            <a:ext cx="7143750" cy="173236"/>
          </a:xfrm>
          <a:prstGeom prst="rect">
            <a:avLst/>
          </a:prstGeom>
          <a:noFill/>
          <a:ln/>
        </p:spPr>
        <p:txBody>
          <a:bodyPr wrap="square" lIns="0" tIns="0" rIns="0" bIns="0" rtlCol="0" anchor="t">
            <a:spAutoFit/>
          </a:bodyPr>
          <a:lstStyle/>
          <a:p>
            <a:pPr algn="l" indent="0" marL="0">
              <a:buNone/>
            </a:pPr>
            <a:r>
              <a:rPr lang="en-US" sz="1050" dirty="0">
                <a:solidFill>
                  <a:srgbClr val="4B5563"/>
                </a:solidFill>
                <a:latin typeface="Inter" pitchFamily="34" charset="0"/>
                <a:ea typeface="Inter" pitchFamily="34" charset="-122"/>
                <a:cs typeface="Inter" pitchFamily="34" charset="-120"/>
              </a:rPr>
              <a:t>ECE 595 - Purdue University</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571500" y="285750"/>
            <a:ext cx="1794867" cy="121444"/>
          </a:xfrm>
          <a:prstGeom prst="rect">
            <a:avLst/>
          </a:prstGeom>
          <a:noFill/>
          <a:ln/>
        </p:spPr>
        <p:txBody>
          <a:bodyPr wrap="square" lIns="0" tIns="0" rIns="0" bIns="0" rtlCol="0" anchor="t">
            <a:spAutoFit/>
          </a:bodyPr>
          <a:lstStyle/>
          <a:p>
            <a:pPr algn="l" indent="0" marL="0">
              <a:buNone/>
            </a:pPr>
            <a:r>
              <a:rPr lang="en-US" sz="700" b="1" spc="1" kern="0" dirty="0">
                <a:solidFill>
                  <a:srgbClr val="2563EB"/>
                </a:solidFill>
                <a:latin typeface="Inter Bold" pitchFamily="34" charset="0"/>
                <a:ea typeface="Inter Bold" pitchFamily="34" charset="-122"/>
                <a:cs typeface="Inter Bold" pitchFamily="34" charset="-120"/>
              </a:rPr>
              <a:t>ECE 595 — PURDUE UNIVERSITY</a:t>
            </a:r>
            <a:endParaRPr lang="en-US" sz="700" dirty="0"/>
          </a:p>
        </p:txBody>
      </p:sp>
      <p:sp>
        <p:nvSpPr>
          <p:cNvPr id="5" name="Text 1"/>
          <p:cNvSpPr/>
          <p:nvPr/>
        </p:nvSpPr>
        <p:spPr>
          <a:xfrm>
            <a:off x="571500" y="714375"/>
            <a:ext cx="2152055" cy="412552"/>
          </a:xfrm>
          <a:prstGeom prst="rect">
            <a:avLst/>
          </a:prstGeom>
          <a:noFill/>
          <a:ln/>
        </p:spPr>
        <p:txBody>
          <a:bodyPr wrap="square" lIns="0" tIns="0" rIns="0" bIns="85090" rtlCol="0" anchor="t">
            <a:spAutoFit/>
          </a:bodyPr>
          <a:lstStyle/>
          <a:p>
            <a:pPr algn="l" indent="0" marL="0">
              <a:buNone/>
            </a:pPr>
            <a:r>
              <a:rPr lang="en-US" sz="1800" b="1" dirty="0">
                <a:solidFill>
                  <a:srgbClr val="000000"/>
                </a:solidFill>
                <a:latin typeface="Inter Bold" pitchFamily="34" charset="0"/>
                <a:ea typeface="Inter Bold" pitchFamily="34" charset="-122"/>
                <a:cs typeface="Inter Bold" pitchFamily="34" charset="-120"/>
              </a:rPr>
              <a:t>Project Overview</a:t>
            </a:r>
            <a:endParaRPr lang="en-US" sz="1800" dirty="0"/>
          </a:p>
        </p:txBody>
      </p:sp>
      <p:sp>
        <p:nvSpPr>
          <p:cNvPr id="6" name="Text 2"/>
          <p:cNvSpPr/>
          <p:nvPr/>
        </p:nvSpPr>
        <p:spPr>
          <a:xfrm>
            <a:off x="571500" y="1412677"/>
            <a:ext cx="3786188" cy="1005818"/>
          </a:xfrm>
          <a:prstGeom prst="rect">
            <a:avLst/>
          </a:prstGeom>
          <a:noFill/>
          <a:ln/>
        </p:spPr>
        <p:txBody>
          <a:bodyPr wrap="square" lIns="255143" tIns="0" rIns="0" bIns="0" rtlCol="0" anchor="t">
            <a:spAutoFit/>
          </a:bodyPr>
          <a:lstStyle/>
          <a:p>
            <a:pPr algn="l" indent="0" marL="0">
              <a:lnSpc>
                <a:spcPct val="128000"/>
              </a:lnSpc>
              <a:buNone/>
            </a:pPr>
            <a:r>
              <a:rPr lang="en-US" sz="1100" b="1" dirty="0">
                <a:solidFill>
                  <a:srgbClr val="000000"/>
                </a:solidFill>
                <a:latin typeface="Inter Bold" pitchFamily="34" charset="0"/>
                <a:ea typeface="Inter Bold" pitchFamily="34" charset="-122"/>
                <a:cs typeface="Inter Bold" pitchFamily="34" charset="-120"/>
              </a:rPr>
              <a:t>The Core Problem:</a:t>
            </a:r>
            <a:r>
              <a:rPr lang="en-US" sz="1150" dirty="0">
                <a:solidFill>
                  <a:srgbClr val="000000"/>
                </a:solidFill>
                <a:latin typeface="Inter" pitchFamily="34" charset="0"/>
                <a:ea typeface="Inter" pitchFamily="34" charset="-122"/>
                <a:cs typeface="Inter" pitchFamily="34" charset="-120"/>
              </a:rPr>
              <a:t> Traction inverter design requires balancing efficiency, torque quality, and thermal stress across highly variable driving conditions.</a:t>
            </a:r>
            <a:endParaRPr lang="en-US" sz="1100" dirty="0"/>
          </a:p>
        </p:txBody>
      </p:sp>
      <p:sp>
        <p:nvSpPr>
          <p:cNvPr id="7" name="Text 3"/>
          <p:cNvSpPr/>
          <p:nvPr/>
        </p:nvSpPr>
        <p:spPr>
          <a:xfrm>
            <a:off x="571500" y="1384102"/>
            <a:ext cx="121444" cy="342900"/>
          </a:xfrm>
          <a:prstGeom prst="rect">
            <a:avLst/>
          </a:prstGeom>
          <a:noFill/>
          <a:ln/>
        </p:spPr>
        <p:txBody>
          <a:bodyPr wrap="none" lIns="0" tIns="0" rIns="0" bIns="0" rtlCol="0" anchor="t">
            <a:spAutoFit/>
          </a:bodyPr>
          <a:lstStyle/>
          <a:p>
            <a:pPr algn="l" indent="0" marL="0">
              <a:lnSpc>
                <a:spcPct val="128000"/>
              </a:lnSpc>
              <a:buNone/>
            </a:pPr>
            <a:r>
              <a:rPr lang="en-US" sz="1600" dirty="0">
                <a:solidFill>
                  <a:srgbClr val="2563EB"/>
                </a:solidFill>
                <a:latin typeface="Inter" pitchFamily="34" charset="0"/>
                <a:ea typeface="Inter" pitchFamily="34" charset="-122"/>
                <a:cs typeface="Inter" pitchFamily="34" charset="-120"/>
              </a:rPr>
              <a:t>•</a:t>
            </a:r>
            <a:endParaRPr lang="en-US" sz="1600" dirty="0"/>
          </a:p>
        </p:txBody>
      </p:sp>
      <p:sp>
        <p:nvSpPr>
          <p:cNvPr id="8" name="Text 4"/>
          <p:cNvSpPr/>
          <p:nvPr/>
        </p:nvSpPr>
        <p:spPr>
          <a:xfrm>
            <a:off x="571500" y="2561369"/>
            <a:ext cx="121444" cy="342900"/>
          </a:xfrm>
          <a:prstGeom prst="rect">
            <a:avLst/>
          </a:prstGeom>
          <a:noFill/>
          <a:ln/>
        </p:spPr>
        <p:txBody>
          <a:bodyPr wrap="none" lIns="0" tIns="0" rIns="0" bIns="0" rtlCol="0" anchor="t">
            <a:spAutoFit/>
          </a:bodyPr>
          <a:lstStyle/>
          <a:p>
            <a:pPr algn="l" indent="0" marL="0">
              <a:lnSpc>
                <a:spcPct val="128000"/>
              </a:lnSpc>
              <a:buNone/>
            </a:pPr>
            <a:r>
              <a:rPr lang="en-US" sz="1600" dirty="0">
                <a:solidFill>
                  <a:srgbClr val="2563EB"/>
                </a:solidFill>
                <a:latin typeface="Inter" pitchFamily="34" charset="0"/>
                <a:ea typeface="Inter" pitchFamily="34" charset="-122"/>
                <a:cs typeface="Inter" pitchFamily="34" charset="-120"/>
              </a:rPr>
              <a:t>•</a:t>
            </a:r>
            <a:endParaRPr lang="en-US" sz="1600" dirty="0"/>
          </a:p>
        </p:txBody>
      </p:sp>
      <p:sp>
        <p:nvSpPr>
          <p:cNvPr id="9" name="Text 5"/>
          <p:cNvSpPr/>
          <p:nvPr/>
        </p:nvSpPr>
        <p:spPr>
          <a:xfrm>
            <a:off x="785813" y="2620305"/>
            <a:ext cx="1535906" cy="189309"/>
          </a:xfrm>
          <a:prstGeom prst="rect">
            <a:avLst/>
          </a:prstGeom>
          <a:noFill/>
          <a:ln/>
        </p:spPr>
        <p:txBody>
          <a:bodyPr wrap="none" lIns="0" tIns="0" rIns="0" bIns="0" rtlCol="0" anchor="t">
            <a:spAutoFit/>
          </a:bodyPr>
          <a:lstStyle/>
          <a:p>
            <a:pPr algn="l" indent="0" marL="0">
              <a:lnSpc>
                <a:spcPct val="128000"/>
              </a:lnSpc>
              <a:buNone/>
            </a:pPr>
            <a:r>
              <a:rPr lang="en-US" sz="1100" b="1" dirty="0">
                <a:solidFill>
                  <a:srgbClr val="000000"/>
                </a:solidFill>
                <a:latin typeface="Inter Bold" pitchFamily="34" charset="0"/>
                <a:ea typeface="Inter Bold" pitchFamily="34" charset="-122"/>
                <a:cs typeface="Inter Bold" pitchFamily="34" charset="-120"/>
              </a:rPr>
              <a:t>Variable Frequency:</a:t>
            </a:r>
            <a:endParaRPr lang="en-US" sz="1100" dirty="0"/>
          </a:p>
        </p:txBody>
      </p:sp>
      <p:sp>
        <p:nvSpPr>
          <p:cNvPr id="10" name="Text 6"/>
          <p:cNvSpPr/>
          <p:nvPr/>
        </p:nvSpPr>
        <p:spPr>
          <a:xfrm>
            <a:off x="785813" y="2620305"/>
            <a:ext cx="3250406" cy="440764"/>
          </a:xfrm>
          <a:prstGeom prst="rect">
            <a:avLst/>
          </a:prstGeom>
          <a:noFill/>
          <a:ln/>
        </p:spPr>
        <p:txBody>
          <a:bodyPr wrap="square" lIns="0" tIns="0" rIns="0" bIns="0" rtlCol="0" anchor="t">
            <a:spAutoFit/>
          </a:bodyPr>
          <a:lstStyle/>
          <a:p>
            <a:pPr algn="l" indent="0" marL="0">
              <a:lnSpc>
                <a:spcPct val="128000"/>
              </a:lnSpc>
              <a:buNone/>
            </a:pPr>
            <a:r>
              <a:rPr lang="en-US" sz="1150" dirty="0">
                <a:solidFill>
                  <a:srgbClr val="000000"/>
                </a:solidFill>
                <a:latin typeface="Inter" pitchFamily="34" charset="0"/>
                <a:ea typeface="Inter" pitchFamily="34" charset="-122"/>
                <a:cs typeface="Inter" pitchFamily="34" charset="-120"/>
              </a:rPr>
              <a:t>The required electrical fundamental frequency (f</a:t>
            </a:r>
            <a:endParaRPr lang="en-US" sz="1150" dirty="0"/>
          </a:p>
        </p:txBody>
      </p:sp>
      <p:sp>
        <p:nvSpPr>
          <p:cNvPr id="11" name="Text 7"/>
          <p:cNvSpPr/>
          <p:nvPr/>
        </p:nvSpPr>
        <p:spPr>
          <a:xfrm>
            <a:off x="2671763" y="2929970"/>
            <a:ext cx="76795" cy="158948"/>
          </a:xfrm>
          <a:prstGeom prst="rect">
            <a:avLst/>
          </a:prstGeom>
          <a:noFill/>
          <a:ln/>
        </p:spPr>
        <p:txBody>
          <a:bodyPr wrap="none" lIns="0" tIns="0" rIns="0" bIns="0" rtlCol="0" anchor="t">
            <a:spAutoFit/>
          </a:bodyPr>
          <a:lstStyle/>
          <a:p>
            <a:pPr algn="l" indent="0" marL="0">
              <a:lnSpc>
                <a:spcPct val="128023"/>
              </a:lnSpc>
              <a:buNone/>
            </a:pPr>
            <a:r>
              <a:rPr lang="en-US" sz="950" baseline="-40000" dirty="0">
                <a:solidFill>
                  <a:srgbClr val="000000"/>
                </a:solidFill>
                <a:latin typeface="Inter" pitchFamily="34" charset="0"/>
                <a:ea typeface="Inter" pitchFamily="34" charset="-122"/>
                <a:cs typeface="Inter" pitchFamily="34" charset="-120"/>
              </a:rPr>
              <a:t>e</a:t>
            </a:r>
            <a:endParaRPr lang="en-US" sz="950" dirty="0"/>
          </a:p>
        </p:txBody>
      </p:sp>
      <p:sp>
        <p:nvSpPr>
          <p:cNvPr id="12" name="Text 8"/>
          <p:cNvSpPr/>
          <p:nvPr/>
        </p:nvSpPr>
        <p:spPr>
          <a:xfrm>
            <a:off x="785813" y="2871760"/>
            <a:ext cx="3548658" cy="713845"/>
          </a:xfrm>
          <a:prstGeom prst="rect">
            <a:avLst/>
          </a:prstGeom>
          <a:noFill/>
          <a:ln/>
        </p:spPr>
        <p:txBody>
          <a:bodyPr wrap="square" lIns="0" tIns="0" rIns="0" bIns="0" rtlCol="0" anchor="t">
            <a:spAutoFit/>
          </a:bodyPr>
          <a:lstStyle/>
          <a:p>
            <a:pPr algn="l" indent="0" marL="0">
              <a:lnSpc>
                <a:spcPct val="128000"/>
              </a:lnSpc>
              <a:buNone/>
            </a:pPr>
            <a:r>
              <a:rPr lang="en-US" sz="1150" dirty="0">
                <a:solidFill>
                  <a:srgbClr val="000000"/>
                </a:solidFill>
                <a:latin typeface="Inter" pitchFamily="34" charset="0"/>
                <a:ea typeface="Inter" pitchFamily="34" charset="-122"/>
                <a:cs typeface="Inter" pitchFamily="34" charset="-120"/>
              </a:rPr>
              <a:t>) is not fixed; it is directly proportional to the vehicle's mechanical speed.</a:t>
            </a:r>
            <a:endParaRPr lang="en-US" sz="1150" dirty="0"/>
          </a:p>
        </p:txBody>
      </p:sp>
      <p:sp>
        <p:nvSpPr>
          <p:cNvPr id="13" name="Text 9"/>
          <p:cNvSpPr/>
          <p:nvPr/>
        </p:nvSpPr>
        <p:spPr>
          <a:xfrm>
            <a:off x="571500" y="3788839"/>
            <a:ext cx="3786188" cy="1005818"/>
          </a:xfrm>
          <a:prstGeom prst="rect">
            <a:avLst/>
          </a:prstGeom>
          <a:noFill/>
          <a:ln/>
        </p:spPr>
        <p:txBody>
          <a:bodyPr wrap="square" lIns="255143" tIns="0" rIns="0" bIns="0" rtlCol="0" anchor="t">
            <a:spAutoFit/>
          </a:bodyPr>
          <a:lstStyle/>
          <a:p>
            <a:pPr algn="l" indent="0" marL="0">
              <a:lnSpc>
                <a:spcPct val="128000"/>
              </a:lnSpc>
              <a:buNone/>
            </a:pPr>
            <a:r>
              <a:rPr lang="en-US" sz="1100" b="1" dirty="0">
                <a:solidFill>
                  <a:srgbClr val="000000"/>
                </a:solidFill>
                <a:latin typeface="Inter Bold" pitchFamily="34" charset="0"/>
                <a:ea typeface="Inter Bold" pitchFamily="34" charset="-122"/>
                <a:cs typeface="Inter Bold" pitchFamily="34" charset="-120"/>
              </a:rPr>
              <a:t>Load Profile:</a:t>
            </a:r>
            <a:r>
              <a:rPr lang="en-US" sz="1150" dirty="0">
                <a:solidFill>
                  <a:srgbClr val="000000"/>
                </a:solidFill>
                <a:latin typeface="Inter" pitchFamily="34" charset="0"/>
                <a:ea typeface="Inter" pitchFamily="34" charset="-122"/>
                <a:cs typeface="Inter" pitchFamily="34" charset="-120"/>
              </a:rPr>
              <a:t> Urban driving demands low frequency but high phase currents for acceleration. Highway driving demands high frequency but lower sustained currents.</a:t>
            </a:r>
            <a:endParaRPr lang="en-US" sz="1100" dirty="0"/>
          </a:p>
        </p:txBody>
      </p:sp>
      <p:sp>
        <p:nvSpPr>
          <p:cNvPr id="14" name="Text 10"/>
          <p:cNvSpPr/>
          <p:nvPr/>
        </p:nvSpPr>
        <p:spPr>
          <a:xfrm>
            <a:off x="571500" y="3760264"/>
            <a:ext cx="121444" cy="342900"/>
          </a:xfrm>
          <a:prstGeom prst="rect">
            <a:avLst/>
          </a:prstGeom>
          <a:noFill/>
          <a:ln/>
        </p:spPr>
        <p:txBody>
          <a:bodyPr wrap="none" lIns="0" tIns="0" rIns="0" bIns="0" rtlCol="0" anchor="t">
            <a:spAutoFit/>
          </a:bodyPr>
          <a:lstStyle/>
          <a:p>
            <a:pPr algn="l" indent="0" marL="0">
              <a:lnSpc>
                <a:spcPct val="128000"/>
              </a:lnSpc>
              <a:buNone/>
            </a:pPr>
            <a:r>
              <a:rPr lang="en-US" sz="1600" dirty="0">
                <a:solidFill>
                  <a:srgbClr val="2563EB"/>
                </a:solidFill>
                <a:latin typeface="Inter" pitchFamily="34" charset="0"/>
                <a:ea typeface="Inter" pitchFamily="34" charset="-122"/>
                <a:cs typeface="Inter" pitchFamily="34" charset="-120"/>
              </a:rPr>
              <a:t>•</a:t>
            </a:r>
            <a:endParaRPr lang="en-US" sz="1600" dirty="0"/>
          </a:p>
        </p:txBody>
      </p:sp>
      <p:sp>
        <p:nvSpPr>
          <p:cNvPr id="15" name="Shape 11"/>
          <p:cNvSpPr/>
          <p:nvPr/>
        </p:nvSpPr>
        <p:spPr>
          <a:xfrm>
            <a:off x="4786313" y="1555552"/>
            <a:ext cx="3786188" cy="2293144"/>
          </a:xfrm>
          <a:prstGeom prst="rect">
            <a:avLst/>
          </a:prstGeom>
          <a:solidFill>
            <a:srgbClr val="F8F9FA"/>
          </a:solidFill>
          <a:ln/>
        </p:spPr>
      </p:sp>
      <p:sp>
        <p:nvSpPr>
          <p:cNvPr id="16" name="Shape 12"/>
          <p:cNvSpPr/>
          <p:nvPr/>
        </p:nvSpPr>
        <p:spPr>
          <a:xfrm>
            <a:off x="4786313" y="1555552"/>
            <a:ext cx="42863" cy="2293144"/>
          </a:xfrm>
          <a:prstGeom prst="rect">
            <a:avLst/>
          </a:prstGeom>
          <a:solidFill>
            <a:srgbClr val="2563EB"/>
          </a:solidFill>
          <a:ln/>
        </p:spPr>
      </p:sp>
      <p:sp>
        <p:nvSpPr>
          <p:cNvPr id="17" name="Text 13"/>
          <p:cNvSpPr/>
          <p:nvPr/>
        </p:nvSpPr>
        <p:spPr>
          <a:xfrm>
            <a:off x="5072063" y="1841302"/>
            <a:ext cx="3214688" cy="207169"/>
          </a:xfrm>
          <a:prstGeom prst="rect">
            <a:avLst/>
          </a:prstGeom>
          <a:noFill/>
          <a:ln/>
        </p:spPr>
        <p:txBody>
          <a:bodyPr wrap="square" lIns="0" tIns="0" rIns="0" bIns="0" rtlCol="0" anchor="t">
            <a:spAutoFit/>
          </a:bodyPr>
          <a:lstStyle/>
          <a:p>
            <a:pPr algn="l" indent="0" marL="0">
              <a:buNone/>
            </a:pPr>
            <a:r>
              <a:rPr lang="en-US" sz="1200" b="1" dirty="0">
                <a:solidFill>
                  <a:srgbClr val="2563EB"/>
                </a:solidFill>
                <a:latin typeface="Inter Bold" pitchFamily="34" charset="0"/>
                <a:ea typeface="Inter Bold" pitchFamily="34" charset="-122"/>
                <a:cs typeface="Inter Bold" pitchFamily="34" charset="-120"/>
              </a:rPr>
              <a:t>Project Objective</a:t>
            </a:r>
            <a:endParaRPr lang="en-US" sz="1200" dirty="0"/>
          </a:p>
        </p:txBody>
      </p:sp>
      <p:sp>
        <p:nvSpPr>
          <p:cNvPr id="18" name="Text 14"/>
          <p:cNvSpPr/>
          <p:nvPr/>
        </p:nvSpPr>
        <p:spPr>
          <a:xfrm>
            <a:off x="5072063" y="2191345"/>
            <a:ext cx="3214688" cy="1371600"/>
          </a:xfrm>
          <a:prstGeom prst="rect">
            <a:avLst/>
          </a:prstGeom>
          <a:noFill/>
          <a:ln/>
        </p:spPr>
        <p:txBody>
          <a:bodyPr wrap="square" lIns="0" tIns="0" rIns="0" bIns="0" rtlCol="0" anchor="t">
            <a:spAutoFit/>
          </a:bodyPr>
          <a:lstStyle/>
          <a:p>
            <a:pPr algn="l" indent="0" marL="0">
              <a:lnSpc>
                <a:spcPct val="128000"/>
              </a:lnSpc>
              <a:buNone/>
            </a:pPr>
            <a:r>
              <a:rPr lang="en-US" sz="1050" dirty="0">
                <a:solidFill>
                  <a:srgbClr val="000000"/>
                </a:solidFill>
                <a:latin typeface="Inter" pitchFamily="34" charset="0"/>
                <a:ea typeface="Inter" pitchFamily="34" charset="-122"/>
                <a:cs typeface="Inter" pitchFamily="34" charset="-120"/>
              </a:rPr>
              <a:t>To model a traction inverter across a full spectrum of operating conditions (urban to highway), evaluate comprehensive conduction and switching losses, and optimize the design for maximum drivetrain efficiency and thermal reliability.</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571500" y="285750"/>
            <a:ext cx="1794867" cy="121444"/>
          </a:xfrm>
          <a:prstGeom prst="rect">
            <a:avLst/>
          </a:prstGeom>
          <a:noFill/>
          <a:ln/>
        </p:spPr>
        <p:txBody>
          <a:bodyPr wrap="square" lIns="0" tIns="0" rIns="0" bIns="0" rtlCol="0" anchor="t">
            <a:spAutoFit/>
          </a:bodyPr>
          <a:lstStyle/>
          <a:p>
            <a:pPr algn="l" indent="0" marL="0">
              <a:buNone/>
            </a:pPr>
            <a:r>
              <a:rPr lang="en-US" sz="700" b="1" spc="1" kern="0" dirty="0">
                <a:solidFill>
                  <a:srgbClr val="2563EB"/>
                </a:solidFill>
                <a:latin typeface="Inter Bold" pitchFamily="34" charset="0"/>
                <a:ea typeface="Inter Bold" pitchFamily="34" charset="-122"/>
                <a:cs typeface="Inter Bold" pitchFamily="34" charset="-120"/>
              </a:rPr>
              <a:t>ECE 595 — PURDUE UNIVERSITY</a:t>
            </a:r>
            <a:endParaRPr lang="en-US" sz="700" dirty="0"/>
          </a:p>
        </p:txBody>
      </p:sp>
      <p:sp>
        <p:nvSpPr>
          <p:cNvPr id="5" name="Text 1"/>
          <p:cNvSpPr/>
          <p:nvPr/>
        </p:nvSpPr>
        <p:spPr>
          <a:xfrm>
            <a:off x="571500" y="714375"/>
            <a:ext cx="4307681" cy="412552"/>
          </a:xfrm>
          <a:prstGeom prst="rect">
            <a:avLst/>
          </a:prstGeom>
          <a:noFill/>
          <a:ln/>
        </p:spPr>
        <p:txBody>
          <a:bodyPr wrap="square" lIns="0" tIns="0" rIns="0" bIns="85090" rtlCol="0" anchor="t">
            <a:spAutoFit/>
          </a:bodyPr>
          <a:lstStyle/>
          <a:p>
            <a:pPr algn="l" indent="0" marL="0">
              <a:buNone/>
            </a:pPr>
            <a:r>
              <a:rPr lang="en-US" sz="1800" b="1" dirty="0">
                <a:solidFill>
                  <a:srgbClr val="000000"/>
                </a:solidFill>
                <a:latin typeface="Inter Bold" pitchFamily="34" charset="0"/>
                <a:ea typeface="Inter Bold" pitchFamily="34" charset="-122"/>
                <a:cs typeface="Inter Bold" pitchFamily="34" charset="-120"/>
              </a:rPr>
              <a:t>Design Choice: 800V Architecture</a:t>
            </a:r>
            <a:endParaRPr lang="en-US" sz="1800" dirty="0"/>
          </a:p>
        </p:txBody>
      </p:sp>
      <p:sp>
        <p:nvSpPr>
          <p:cNvPr id="6" name="Text 2"/>
          <p:cNvSpPr/>
          <p:nvPr/>
        </p:nvSpPr>
        <p:spPr>
          <a:xfrm>
            <a:off x="571500" y="1412677"/>
            <a:ext cx="4543425" cy="1005818"/>
          </a:xfrm>
          <a:prstGeom prst="rect">
            <a:avLst/>
          </a:prstGeom>
          <a:noFill/>
          <a:ln/>
        </p:spPr>
        <p:txBody>
          <a:bodyPr wrap="square" lIns="255143" tIns="0" rIns="0" bIns="0" rtlCol="0" anchor="t">
            <a:spAutoFit/>
          </a:bodyPr>
          <a:lstStyle/>
          <a:p>
            <a:pPr algn="l" indent="0" marL="0">
              <a:lnSpc>
                <a:spcPct val="128000"/>
              </a:lnSpc>
              <a:buNone/>
            </a:pPr>
            <a:r>
              <a:rPr lang="en-US" sz="1100" b="1" dirty="0">
                <a:solidFill>
                  <a:srgbClr val="000000"/>
                </a:solidFill>
                <a:latin typeface="Inter Bold" pitchFamily="34" charset="0"/>
                <a:ea typeface="Inter Bold" pitchFamily="34" charset="-122"/>
                <a:cs typeface="Inter Bold" pitchFamily="34" charset="-120"/>
              </a:rPr>
              <a:t>The Baseline Decision:</a:t>
            </a:r>
            <a:r>
              <a:rPr lang="en-US" sz="1150" dirty="0">
                <a:solidFill>
                  <a:srgbClr val="000000"/>
                </a:solidFill>
                <a:latin typeface="Inter" pitchFamily="34" charset="0"/>
                <a:ea typeface="Inter" pitchFamily="34" charset="-122"/>
                <a:cs typeface="Inter" pitchFamily="34" charset="-120"/>
              </a:rPr>
              <a:t> To address the performance demands of modern EVs, an 800V DC bus architecture was explicitly chosen as the baseline for this design project.</a:t>
            </a:r>
            <a:endParaRPr lang="en-US" sz="1100" dirty="0"/>
          </a:p>
        </p:txBody>
      </p:sp>
      <p:sp>
        <p:nvSpPr>
          <p:cNvPr id="7" name="Text 3"/>
          <p:cNvSpPr/>
          <p:nvPr/>
        </p:nvSpPr>
        <p:spPr>
          <a:xfrm>
            <a:off x="571500" y="2589944"/>
            <a:ext cx="4543425" cy="754363"/>
          </a:xfrm>
          <a:prstGeom prst="rect">
            <a:avLst/>
          </a:prstGeom>
          <a:noFill/>
          <a:ln/>
        </p:spPr>
        <p:txBody>
          <a:bodyPr wrap="square" lIns="255143" tIns="0" rIns="0" bIns="0" rtlCol="0" anchor="t">
            <a:spAutoFit/>
          </a:bodyPr>
          <a:lstStyle/>
          <a:p>
            <a:pPr algn="l" indent="0" marL="0">
              <a:lnSpc>
                <a:spcPct val="128000"/>
              </a:lnSpc>
              <a:buNone/>
            </a:pPr>
            <a:r>
              <a:rPr lang="en-US" sz="1100" b="1" dirty="0">
                <a:solidFill>
                  <a:srgbClr val="000000"/>
                </a:solidFill>
                <a:latin typeface="Inter Bold" pitchFamily="34" charset="0"/>
                <a:ea typeface="Inter Bold" pitchFamily="34" charset="-122"/>
                <a:cs typeface="Inter Bold" pitchFamily="34" charset="-120"/>
              </a:rPr>
              <a:t>Current Reduction:</a:t>
            </a:r>
            <a:r>
              <a:rPr lang="en-US" sz="1150" dirty="0">
                <a:solidFill>
                  <a:srgbClr val="000000"/>
                </a:solidFill>
                <a:latin typeface="Inter" pitchFamily="34" charset="0"/>
                <a:ea typeface="Inter" pitchFamily="34" charset="-122"/>
                <a:cs typeface="Inter" pitchFamily="34" charset="-120"/>
              </a:rPr>
              <a:t> Adopting an 800V architecture halves the required phase current for a given power level compared to traditional 400V systems.</a:t>
            </a:r>
            <a:endParaRPr lang="en-US" sz="1100" dirty="0"/>
          </a:p>
        </p:txBody>
      </p:sp>
      <p:sp>
        <p:nvSpPr>
          <p:cNvPr id="8" name="Text 4"/>
          <p:cNvSpPr/>
          <p:nvPr/>
        </p:nvSpPr>
        <p:spPr>
          <a:xfrm>
            <a:off x="571500" y="3515757"/>
            <a:ext cx="4543425" cy="1005818"/>
          </a:xfrm>
          <a:prstGeom prst="rect">
            <a:avLst/>
          </a:prstGeom>
          <a:noFill/>
          <a:ln/>
        </p:spPr>
        <p:txBody>
          <a:bodyPr wrap="square" lIns="255143" tIns="0" rIns="0" bIns="0" rtlCol="0" anchor="t">
            <a:spAutoFit/>
          </a:bodyPr>
          <a:lstStyle/>
          <a:p>
            <a:pPr algn="l" indent="0" marL="0">
              <a:lnSpc>
                <a:spcPct val="128000"/>
              </a:lnSpc>
              <a:buNone/>
            </a:pPr>
            <a:r>
              <a:rPr lang="en-US" sz="1100" b="1" dirty="0">
                <a:solidFill>
                  <a:srgbClr val="000000"/>
                </a:solidFill>
                <a:latin typeface="Inter Bold" pitchFamily="34" charset="0"/>
                <a:ea typeface="Inter Bold" pitchFamily="34" charset="-122"/>
                <a:cs typeface="Inter Bold" pitchFamily="34" charset="-120"/>
              </a:rPr>
              <a:t>Efficiency Gains:</a:t>
            </a:r>
            <a:r>
              <a:rPr lang="en-US" sz="1150" dirty="0">
                <a:solidFill>
                  <a:srgbClr val="000000"/>
                </a:solidFill>
                <a:latin typeface="Inter" pitchFamily="34" charset="0"/>
                <a:ea typeface="Inter" pitchFamily="34" charset="-122"/>
                <a:cs typeface="Inter" pitchFamily="34" charset="-120"/>
              </a:rPr>
              <a:t> This drastic reduction in current significantly lowers I²R ohmic losses in the inverter semiconductors, motor windings, and high-voltage cabling.</a:t>
            </a:r>
            <a:endParaRPr lang="en-US" sz="1100" dirty="0"/>
          </a:p>
        </p:txBody>
      </p:sp>
      <p:sp>
        <p:nvSpPr>
          <p:cNvPr id="9" name="Text 5"/>
          <p:cNvSpPr/>
          <p:nvPr/>
        </p:nvSpPr>
        <p:spPr>
          <a:xfrm>
            <a:off x="571500" y="4693025"/>
            <a:ext cx="4543425" cy="754363"/>
          </a:xfrm>
          <a:prstGeom prst="rect">
            <a:avLst/>
          </a:prstGeom>
          <a:noFill/>
          <a:ln/>
        </p:spPr>
        <p:txBody>
          <a:bodyPr wrap="square" lIns="255143" tIns="0" rIns="0" bIns="0" rtlCol="0" anchor="t">
            <a:spAutoFit/>
          </a:bodyPr>
          <a:lstStyle/>
          <a:p>
            <a:pPr algn="l" indent="0" marL="0">
              <a:lnSpc>
                <a:spcPct val="128000"/>
              </a:lnSpc>
              <a:buNone/>
            </a:pPr>
            <a:r>
              <a:rPr lang="en-US" sz="1100" b="1" dirty="0">
                <a:solidFill>
                  <a:srgbClr val="000000"/>
                </a:solidFill>
                <a:latin typeface="Inter Bold" pitchFamily="34" charset="0"/>
                <a:ea typeface="Inter Bold" pitchFamily="34" charset="-122"/>
                <a:cs typeface="Inter Bold" pitchFamily="34" charset="-120"/>
              </a:rPr>
              <a:t>System Benefits:</a:t>
            </a:r>
            <a:r>
              <a:rPr lang="en-US" sz="1150" dirty="0">
                <a:solidFill>
                  <a:srgbClr val="000000"/>
                </a:solidFill>
                <a:latin typeface="Inter" pitchFamily="34" charset="0"/>
                <a:ea typeface="Inter" pitchFamily="34" charset="-122"/>
                <a:cs typeface="Inter" pitchFamily="34" charset="-120"/>
              </a:rPr>
              <a:t> Enables faster DC fast charging, reduces cable weight (copper), and improves overall powertrain efficiency.</a:t>
            </a:r>
            <a:endParaRPr lang="en-US" sz="1100" dirty="0"/>
          </a:p>
        </p:txBody>
      </p:sp>
      <p:sp>
        <p:nvSpPr>
          <p:cNvPr id="10" name="Text 6"/>
          <p:cNvSpPr/>
          <p:nvPr/>
        </p:nvSpPr>
        <p:spPr>
          <a:xfrm>
            <a:off x="571500" y="1384102"/>
            <a:ext cx="121444" cy="342900"/>
          </a:xfrm>
          <a:prstGeom prst="rect">
            <a:avLst/>
          </a:prstGeom>
          <a:noFill/>
          <a:ln/>
        </p:spPr>
        <p:txBody>
          <a:bodyPr wrap="none" lIns="0" tIns="0" rIns="0" bIns="0" rtlCol="0" anchor="t">
            <a:spAutoFit/>
          </a:bodyPr>
          <a:lstStyle/>
          <a:p>
            <a:pPr algn="l" indent="0" marL="0">
              <a:lnSpc>
                <a:spcPct val="128000"/>
              </a:lnSpc>
              <a:buNone/>
            </a:pPr>
            <a:r>
              <a:rPr lang="en-US" sz="1600" dirty="0">
                <a:solidFill>
                  <a:srgbClr val="2563EB"/>
                </a:solidFill>
                <a:latin typeface="Inter" pitchFamily="34" charset="0"/>
                <a:ea typeface="Inter" pitchFamily="34" charset="-122"/>
                <a:cs typeface="Inter" pitchFamily="34" charset="-120"/>
              </a:rPr>
              <a:t>•</a:t>
            </a:r>
            <a:endParaRPr lang="en-US" sz="1600" dirty="0"/>
          </a:p>
        </p:txBody>
      </p:sp>
      <p:sp>
        <p:nvSpPr>
          <p:cNvPr id="11" name="Text 7"/>
          <p:cNvSpPr/>
          <p:nvPr/>
        </p:nvSpPr>
        <p:spPr>
          <a:xfrm>
            <a:off x="571500" y="2561369"/>
            <a:ext cx="121444" cy="342900"/>
          </a:xfrm>
          <a:prstGeom prst="rect">
            <a:avLst/>
          </a:prstGeom>
          <a:noFill/>
          <a:ln/>
        </p:spPr>
        <p:txBody>
          <a:bodyPr wrap="none" lIns="0" tIns="0" rIns="0" bIns="0" rtlCol="0" anchor="t">
            <a:spAutoFit/>
          </a:bodyPr>
          <a:lstStyle/>
          <a:p>
            <a:pPr algn="l" indent="0" marL="0">
              <a:lnSpc>
                <a:spcPct val="128000"/>
              </a:lnSpc>
              <a:buNone/>
            </a:pPr>
            <a:r>
              <a:rPr lang="en-US" sz="1600" dirty="0">
                <a:solidFill>
                  <a:srgbClr val="2563EB"/>
                </a:solidFill>
                <a:latin typeface="Inter" pitchFamily="34" charset="0"/>
                <a:ea typeface="Inter" pitchFamily="34" charset="-122"/>
                <a:cs typeface="Inter" pitchFamily="34" charset="-120"/>
              </a:rPr>
              <a:t>•</a:t>
            </a:r>
            <a:endParaRPr lang="en-US" sz="1600" dirty="0"/>
          </a:p>
        </p:txBody>
      </p:sp>
      <p:sp>
        <p:nvSpPr>
          <p:cNvPr id="12" name="Text 8"/>
          <p:cNvSpPr/>
          <p:nvPr/>
        </p:nvSpPr>
        <p:spPr>
          <a:xfrm>
            <a:off x="571500" y="3487182"/>
            <a:ext cx="121444" cy="342900"/>
          </a:xfrm>
          <a:prstGeom prst="rect">
            <a:avLst/>
          </a:prstGeom>
          <a:noFill/>
          <a:ln/>
        </p:spPr>
        <p:txBody>
          <a:bodyPr wrap="none" lIns="0" tIns="0" rIns="0" bIns="0" rtlCol="0" anchor="t">
            <a:spAutoFit/>
          </a:bodyPr>
          <a:lstStyle/>
          <a:p>
            <a:pPr algn="l" indent="0" marL="0">
              <a:lnSpc>
                <a:spcPct val="128000"/>
              </a:lnSpc>
              <a:buNone/>
            </a:pPr>
            <a:r>
              <a:rPr lang="en-US" sz="1600" dirty="0">
                <a:solidFill>
                  <a:srgbClr val="2563EB"/>
                </a:solidFill>
                <a:latin typeface="Inter" pitchFamily="34" charset="0"/>
                <a:ea typeface="Inter" pitchFamily="34" charset="-122"/>
                <a:cs typeface="Inter" pitchFamily="34" charset="-120"/>
              </a:rPr>
              <a:t>•</a:t>
            </a:r>
            <a:endParaRPr lang="en-US" sz="1600" dirty="0"/>
          </a:p>
        </p:txBody>
      </p:sp>
      <p:sp>
        <p:nvSpPr>
          <p:cNvPr id="13" name="Text 9"/>
          <p:cNvSpPr/>
          <p:nvPr/>
        </p:nvSpPr>
        <p:spPr>
          <a:xfrm>
            <a:off x="571500" y="4664450"/>
            <a:ext cx="121444" cy="342900"/>
          </a:xfrm>
          <a:prstGeom prst="rect">
            <a:avLst/>
          </a:prstGeom>
          <a:noFill/>
          <a:ln/>
        </p:spPr>
        <p:txBody>
          <a:bodyPr wrap="none" lIns="0" tIns="0" rIns="0" bIns="0" rtlCol="0" anchor="t">
            <a:spAutoFit/>
          </a:bodyPr>
          <a:lstStyle/>
          <a:p>
            <a:pPr algn="l" indent="0" marL="0">
              <a:lnSpc>
                <a:spcPct val="128000"/>
              </a:lnSpc>
              <a:buNone/>
            </a:pPr>
            <a:r>
              <a:rPr lang="en-US" sz="1600" dirty="0">
                <a:solidFill>
                  <a:srgbClr val="2563EB"/>
                </a:solidFill>
                <a:latin typeface="Inter" pitchFamily="34" charset="0"/>
                <a:ea typeface="Inter" pitchFamily="34" charset="-122"/>
                <a:cs typeface="Inter" pitchFamily="34" charset="-120"/>
              </a:rPr>
              <a:t>•</a:t>
            </a:r>
            <a:endParaRPr lang="en-US" sz="1600" dirty="0"/>
          </a:p>
        </p:txBody>
      </p:sp>
      <p:sp>
        <p:nvSpPr>
          <p:cNvPr id="14" name="Shape 10"/>
          <p:cNvSpPr/>
          <p:nvPr/>
        </p:nvSpPr>
        <p:spPr>
          <a:xfrm>
            <a:off x="5629275" y="1872695"/>
            <a:ext cx="2857500" cy="1571625"/>
          </a:xfrm>
          <a:prstGeom prst="rect">
            <a:avLst/>
          </a:prstGeom>
          <a:solidFill>
            <a:srgbClr val="F8F9FA"/>
          </a:solidFill>
          <a:ln w="9144">
            <a:solidFill>
              <a:srgbClr val="E5E7EB"/>
            </a:solidFill>
            <a:prstDash val="solid"/>
          </a:ln>
        </p:spPr>
      </p:sp>
      <p:pic>
        <p:nvPicPr>
          <p:cNvPr id="15" name="Image 1" descr="preencoded.png">    </p:cNvPr>
          <p:cNvPicPr>
            <a:picLocks noChangeAspect="1"/>
          </p:cNvPicPr>
          <p:nvPr/>
        </p:nvPicPr>
        <p:blipFill>
          <a:blip r:embed="rId2"/>
          <a:stretch>
            <a:fillRect/>
          </a:stretch>
        </p:blipFill>
        <p:spPr>
          <a:xfrm>
            <a:off x="5700713" y="1989423"/>
            <a:ext cx="2714625" cy="1338142"/>
          </a:xfrm>
          <a:prstGeom prst="rect">
            <a:avLst/>
          </a:prstGeom>
        </p:spPr>
      </p:pic>
      <p:sp>
        <p:nvSpPr>
          <p:cNvPr id="16" name="Shape 11"/>
          <p:cNvSpPr/>
          <p:nvPr/>
        </p:nvSpPr>
        <p:spPr>
          <a:xfrm>
            <a:off x="5629275" y="3587195"/>
            <a:ext cx="2857500" cy="1571625"/>
          </a:xfrm>
          <a:prstGeom prst="rect">
            <a:avLst/>
          </a:prstGeom>
          <a:solidFill>
            <a:srgbClr val="F8F9FA"/>
          </a:solidFill>
          <a:ln w="9144">
            <a:solidFill>
              <a:srgbClr val="E5E7EB"/>
            </a:solidFill>
            <a:prstDash val="solid"/>
          </a:ln>
        </p:spPr>
      </p:sp>
      <p:pic>
        <p:nvPicPr>
          <p:cNvPr id="17" name="Image 2" descr="preencoded.png">    </p:cNvPr>
          <p:cNvPicPr>
            <a:picLocks noChangeAspect="1"/>
          </p:cNvPicPr>
          <p:nvPr/>
        </p:nvPicPr>
        <p:blipFill>
          <a:blip r:embed="rId3"/>
          <a:stretch>
            <a:fillRect/>
          </a:stretch>
        </p:blipFill>
        <p:spPr>
          <a:xfrm>
            <a:off x="5788586" y="3658632"/>
            <a:ext cx="2538878" cy="1428722"/>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571500" y="285750"/>
            <a:ext cx="1794867" cy="121444"/>
          </a:xfrm>
          <a:prstGeom prst="rect">
            <a:avLst/>
          </a:prstGeom>
          <a:noFill/>
          <a:ln/>
        </p:spPr>
        <p:txBody>
          <a:bodyPr wrap="square" lIns="0" tIns="0" rIns="0" bIns="0" rtlCol="0" anchor="t">
            <a:spAutoFit/>
          </a:bodyPr>
          <a:lstStyle/>
          <a:p>
            <a:pPr algn="l" indent="0" marL="0">
              <a:buNone/>
            </a:pPr>
            <a:r>
              <a:rPr lang="en-US" sz="700" b="1" spc="1" kern="0" dirty="0">
                <a:solidFill>
                  <a:srgbClr val="2563EB"/>
                </a:solidFill>
                <a:latin typeface="Inter Bold" pitchFamily="34" charset="0"/>
                <a:ea typeface="Inter Bold" pitchFamily="34" charset="-122"/>
                <a:cs typeface="Inter Bold" pitchFamily="34" charset="-120"/>
              </a:rPr>
              <a:t>ECE 595 — PURDUE UNIVERSITY</a:t>
            </a:r>
            <a:endParaRPr lang="en-US" sz="700" dirty="0"/>
          </a:p>
        </p:txBody>
      </p:sp>
      <p:sp>
        <p:nvSpPr>
          <p:cNvPr id="5" name="Text 1"/>
          <p:cNvSpPr/>
          <p:nvPr/>
        </p:nvSpPr>
        <p:spPr>
          <a:xfrm>
            <a:off x="571500" y="714375"/>
            <a:ext cx="5232797" cy="412552"/>
          </a:xfrm>
          <a:prstGeom prst="rect">
            <a:avLst/>
          </a:prstGeom>
          <a:noFill/>
          <a:ln/>
        </p:spPr>
        <p:txBody>
          <a:bodyPr wrap="square" lIns="0" tIns="0" rIns="0" bIns="85090" rtlCol="0" anchor="t">
            <a:spAutoFit/>
          </a:bodyPr>
          <a:lstStyle/>
          <a:p>
            <a:pPr algn="l" indent="0" marL="0">
              <a:buNone/>
            </a:pPr>
            <a:r>
              <a:rPr lang="en-US" sz="1800" b="1" dirty="0">
                <a:solidFill>
                  <a:srgbClr val="000000"/>
                </a:solidFill>
                <a:latin typeface="Inter Bold" pitchFamily="34" charset="0"/>
                <a:ea typeface="Inter Bold" pitchFamily="34" charset="-122"/>
                <a:cs typeface="Inter Bold" pitchFamily="34" charset="-120"/>
              </a:rPr>
              <a:t>The dv/dt Problem and Multilevel Solution</a:t>
            </a:r>
            <a:endParaRPr lang="en-US" sz="1800" dirty="0"/>
          </a:p>
        </p:txBody>
      </p:sp>
      <p:sp>
        <p:nvSpPr>
          <p:cNvPr id="6" name="Text 2"/>
          <p:cNvSpPr/>
          <p:nvPr/>
        </p:nvSpPr>
        <p:spPr>
          <a:xfrm>
            <a:off x="571500" y="1412677"/>
            <a:ext cx="3786188" cy="1005818"/>
          </a:xfrm>
          <a:prstGeom prst="rect">
            <a:avLst/>
          </a:prstGeom>
          <a:noFill/>
          <a:ln/>
        </p:spPr>
        <p:txBody>
          <a:bodyPr wrap="square" lIns="255143" tIns="0" rIns="0" bIns="0" rtlCol="0" anchor="t">
            <a:spAutoFit/>
          </a:bodyPr>
          <a:lstStyle/>
          <a:p>
            <a:pPr algn="l" indent="0" marL="0">
              <a:lnSpc>
                <a:spcPct val="128000"/>
              </a:lnSpc>
              <a:buNone/>
            </a:pPr>
            <a:r>
              <a:rPr lang="en-US" sz="1100" b="1" dirty="0">
                <a:solidFill>
                  <a:srgbClr val="000000"/>
                </a:solidFill>
                <a:latin typeface="Inter Bold" pitchFamily="34" charset="0"/>
                <a:ea typeface="Inter Bold" pitchFamily="34" charset="-122"/>
                <a:cs typeface="Inter Bold" pitchFamily="34" charset="-120"/>
              </a:rPr>
              <a:t>The 1200V Requirement:</a:t>
            </a:r>
            <a:r>
              <a:rPr lang="en-US" sz="1150" dirty="0">
                <a:solidFill>
                  <a:srgbClr val="000000"/>
                </a:solidFill>
                <a:latin typeface="Inter" pitchFamily="34" charset="0"/>
                <a:ea typeface="Inter" pitchFamily="34" charset="-122"/>
                <a:cs typeface="Inter" pitchFamily="34" charset="-120"/>
              </a:rPr>
              <a:t> Traditional two-level voltage source inverters (2L-VSI) require 1200V-class semiconductors to operate on an 800V DC bus.</a:t>
            </a:r>
            <a:endParaRPr lang="en-US" sz="1100" dirty="0"/>
          </a:p>
        </p:txBody>
      </p:sp>
      <p:sp>
        <p:nvSpPr>
          <p:cNvPr id="7" name="Text 3"/>
          <p:cNvSpPr/>
          <p:nvPr/>
        </p:nvSpPr>
        <p:spPr>
          <a:xfrm>
            <a:off x="571500" y="2589944"/>
            <a:ext cx="3786188" cy="1257272"/>
          </a:xfrm>
          <a:prstGeom prst="rect">
            <a:avLst/>
          </a:prstGeom>
          <a:noFill/>
          <a:ln/>
        </p:spPr>
        <p:txBody>
          <a:bodyPr wrap="square" lIns="255143" tIns="0" rIns="0" bIns="0" rtlCol="0" anchor="t">
            <a:spAutoFit/>
          </a:bodyPr>
          <a:lstStyle/>
          <a:p>
            <a:pPr algn="l" indent="0" marL="0">
              <a:lnSpc>
                <a:spcPct val="128000"/>
              </a:lnSpc>
              <a:buNone/>
            </a:pPr>
            <a:r>
              <a:rPr lang="en-US" sz="1100" b="1" dirty="0">
                <a:solidFill>
                  <a:srgbClr val="000000"/>
                </a:solidFill>
                <a:latin typeface="Inter Bold" pitchFamily="34" charset="0"/>
                <a:ea typeface="Inter Bold" pitchFamily="34" charset="-122"/>
                <a:cs typeface="Inter Bold" pitchFamily="34" charset="-120"/>
              </a:rPr>
              <a:t>The SiC Trade-off:</a:t>
            </a:r>
            <a:r>
              <a:rPr lang="en-US" sz="1150" dirty="0">
                <a:solidFill>
                  <a:srgbClr val="000000"/>
                </a:solidFill>
                <a:latin typeface="Inter" pitchFamily="34" charset="0"/>
                <a:ea typeface="Inter" pitchFamily="34" charset="-122"/>
                <a:cs typeface="Inter" pitchFamily="34" charset="-120"/>
              </a:rPr>
              <a:t> While Silicon Carbide (SiC) devices easily meet this voltage requirement and offer low losses, their extremely fast switching transitions generate severe </a:t>
            </a:r>
            <a:r>
              <a:rPr lang="en-US" sz="1100" b="1" dirty="0">
                <a:solidFill>
                  <a:srgbClr val="000000"/>
                </a:solidFill>
                <a:latin typeface="Inter Bold" pitchFamily="34" charset="0"/>
                <a:ea typeface="Inter Bold" pitchFamily="34" charset="-122"/>
                <a:cs typeface="Inter Bold" pitchFamily="34" charset="-120"/>
              </a:rPr>
              <a:t>dv/dt stress</a:t>
            </a:r>
            <a:r>
              <a:rPr lang="en-US" sz="1150" dirty="0">
                <a:solidFill>
                  <a:srgbClr val="000000"/>
                </a:solidFill>
                <a:latin typeface="Inter" pitchFamily="34" charset="0"/>
                <a:ea typeface="Inter" pitchFamily="34" charset="-122"/>
                <a:cs typeface="Inter" pitchFamily="34" charset="-120"/>
              </a:rPr>
              <a:t>.</a:t>
            </a:r>
            <a:endParaRPr lang="en-US" sz="1100" dirty="0"/>
          </a:p>
        </p:txBody>
      </p:sp>
      <p:sp>
        <p:nvSpPr>
          <p:cNvPr id="8" name="Text 4"/>
          <p:cNvSpPr/>
          <p:nvPr/>
        </p:nvSpPr>
        <p:spPr>
          <a:xfrm>
            <a:off x="571500" y="4018666"/>
            <a:ext cx="3786188" cy="1005818"/>
          </a:xfrm>
          <a:prstGeom prst="rect">
            <a:avLst/>
          </a:prstGeom>
          <a:noFill/>
          <a:ln/>
        </p:spPr>
        <p:txBody>
          <a:bodyPr wrap="square" lIns="255143" tIns="0" rIns="0" bIns="0" rtlCol="0" anchor="t">
            <a:spAutoFit/>
          </a:bodyPr>
          <a:lstStyle/>
          <a:p>
            <a:pPr algn="l" indent="0" marL="0">
              <a:lnSpc>
                <a:spcPct val="128000"/>
              </a:lnSpc>
              <a:buNone/>
            </a:pPr>
            <a:r>
              <a:rPr lang="en-US" sz="1100" b="1" dirty="0">
                <a:solidFill>
                  <a:srgbClr val="000000"/>
                </a:solidFill>
                <a:latin typeface="Inter Bold" pitchFamily="34" charset="0"/>
                <a:ea typeface="Inter Bold" pitchFamily="34" charset="-122"/>
                <a:cs typeface="Inter Bold" pitchFamily="34" charset="-120"/>
              </a:rPr>
              <a:t>Motor Degradation:</a:t>
            </a:r>
            <a:r>
              <a:rPr lang="en-US" sz="1150" dirty="0">
                <a:solidFill>
                  <a:srgbClr val="000000"/>
                </a:solidFill>
                <a:latin typeface="Inter" pitchFamily="34" charset="0"/>
                <a:ea typeface="Inter" pitchFamily="34" charset="-122"/>
                <a:cs typeface="Inter" pitchFamily="34" charset="-120"/>
              </a:rPr>
              <a:t> This high rate of voltage change over time leads to premature motor winding insulation failure and bearing degradation.</a:t>
            </a:r>
            <a:endParaRPr lang="en-US" sz="1100" dirty="0"/>
          </a:p>
        </p:txBody>
      </p:sp>
      <p:sp>
        <p:nvSpPr>
          <p:cNvPr id="9" name="Text 5"/>
          <p:cNvSpPr/>
          <p:nvPr/>
        </p:nvSpPr>
        <p:spPr>
          <a:xfrm>
            <a:off x="571500" y="1384102"/>
            <a:ext cx="121444" cy="342900"/>
          </a:xfrm>
          <a:prstGeom prst="rect">
            <a:avLst/>
          </a:prstGeom>
          <a:noFill/>
          <a:ln/>
        </p:spPr>
        <p:txBody>
          <a:bodyPr wrap="none" lIns="0" tIns="0" rIns="0" bIns="0" rtlCol="0" anchor="t">
            <a:spAutoFit/>
          </a:bodyPr>
          <a:lstStyle/>
          <a:p>
            <a:pPr algn="l" indent="0" marL="0">
              <a:lnSpc>
                <a:spcPct val="128000"/>
              </a:lnSpc>
              <a:buNone/>
            </a:pPr>
            <a:r>
              <a:rPr lang="en-US" sz="1600" dirty="0">
                <a:solidFill>
                  <a:srgbClr val="2563EB"/>
                </a:solidFill>
                <a:latin typeface="Inter" pitchFamily="34" charset="0"/>
                <a:ea typeface="Inter" pitchFamily="34" charset="-122"/>
                <a:cs typeface="Inter" pitchFamily="34" charset="-120"/>
              </a:rPr>
              <a:t>•</a:t>
            </a:r>
            <a:endParaRPr lang="en-US" sz="1600" dirty="0"/>
          </a:p>
        </p:txBody>
      </p:sp>
      <p:sp>
        <p:nvSpPr>
          <p:cNvPr id="10" name="Text 6"/>
          <p:cNvSpPr/>
          <p:nvPr/>
        </p:nvSpPr>
        <p:spPr>
          <a:xfrm>
            <a:off x="571500" y="2561369"/>
            <a:ext cx="121444" cy="342900"/>
          </a:xfrm>
          <a:prstGeom prst="rect">
            <a:avLst/>
          </a:prstGeom>
          <a:noFill/>
          <a:ln/>
        </p:spPr>
        <p:txBody>
          <a:bodyPr wrap="none" lIns="0" tIns="0" rIns="0" bIns="0" rtlCol="0" anchor="t">
            <a:spAutoFit/>
          </a:bodyPr>
          <a:lstStyle/>
          <a:p>
            <a:pPr algn="l" indent="0" marL="0">
              <a:lnSpc>
                <a:spcPct val="128000"/>
              </a:lnSpc>
              <a:buNone/>
            </a:pPr>
            <a:r>
              <a:rPr lang="en-US" sz="1600" dirty="0">
                <a:solidFill>
                  <a:srgbClr val="2563EB"/>
                </a:solidFill>
                <a:latin typeface="Inter" pitchFamily="34" charset="0"/>
                <a:ea typeface="Inter" pitchFamily="34" charset="-122"/>
                <a:cs typeface="Inter" pitchFamily="34" charset="-120"/>
              </a:rPr>
              <a:t>•</a:t>
            </a:r>
            <a:endParaRPr lang="en-US" sz="1600" dirty="0"/>
          </a:p>
        </p:txBody>
      </p:sp>
      <p:sp>
        <p:nvSpPr>
          <p:cNvPr id="11" name="Text 7"/>
          <p:cNvSpPr/>
          <p:nvPr/>
        </p:nvSpPr>
        <p:spPr>
          <a:xfrm>
            <a:off x="571500" y="3990091"/>
            <a:ext cx="121444" cy="342900"/>
          </a:xfrm>
          <a:prstGeom prst="rect">
            <a:avLst/>
          </a:prstGeom>
          <a:noFill/>
          <a:ln/>
        </p:spPr>
        <p:txBody>
          <a:bodyPr wrap="none" lIns="0" tIns="0" rIns="0" bIns="0" rtlCol="0" anchor="t">
            <a:spAutoFit/>
          </a:bodyPr>
          <a:lstStyle/>
          <a:p>
            <a:pPr algn="l" indent="0" marL="0">
              <a:lnSpc>
                <a:spcPct val="128000"/>
              </a:lnSpc>
              <a:buNone/>
            </a:pPr>
            <a:r>
              <a:rPr lang="en-US" sz="1600" dirty="0">
                <a:solidFill>
                  <a:srgbClr val="2563EB"/>
                </a:solidFill>
                <a:latin typeface="Inter" pitchFamily="34" charset="0"/>
                <a:ea typeface="Inter" pitchFamily="34" charset="-122"/>
                <a:cs typeface="Inter" pitchFamily="34" charset="-120"/>
              </a:rPr>
              <a:t>•</a:t>
            </a:r>
            <a:endParaRPr lang="en-US" sz="1600" dirty="0"/>
          </a:p>
        </p:txBody>
      </p:sp>
      <p:sp>
        <p:nvSpPr>
          <p:cNvPr id="12" name="Shape 8"/>
          <p:cNvSpPr/>
          <p:nvPr/>
        </p:nvSpPr>
        <p:spPr>
          <a:xfrm>
            <a:off x="4786313" y="1484114"/>
            <a:ext cx="3786188" cy="3207544"/>
          </a:xfrm>
          <a:prstGeom prst="rect">
            <a:avLst/>
          </a:prstGeom>
          <a:solidFill>
            <a:srgbClr val="F8F9FA"/>
          </a:solidFill>
          <a:ln/>
        </p:spPr>
      </p:sp>
      <p:sp>
        <p:nvSpPr>
          <p:cNvPr id="13" name="Shape 9"/>
          <p:cNvSpPr/>
          <p:nvPr/>
        </p:nvSpPr>
        <p:spPr>
          <a:xfrm>
            <a:off x="4786313" y="1484114"/>
            <a:ext cx="42863" cy="3207544"/>
          </a:xfrm>
          <a:prstGeom prst="rect">
            <a:avLst/>
          </a:prstGeom>
          <a:solidFill>
            <a:srgbClr val="2563EB"/>
          </a:solidFill>
          <a:ln/>
        </p:spPr>
      </p:sp>
      <p:sp>
        <p:nvSpPr>
          <p:cNvPr id="14" name="Text 10"/>
          <p:cNvSpPr/>
          <p:nvPr/>
        </p:nvSpPr>
        <p:spPr>
          <a:xfrm>
            <a:off x="5072063" y="1769864"/>
            <a:ext cx="3214688" cy="207169"/>
          </a:xfrm>
          <a:prstGeom prst="rect">
            <a:avLst/>
          </a:prstGeom>
          <a:noFill/>
          <a:ln/>
        </p:spPr>
        <p:txBody>
          <a:bodyPr wrap="square" lIns="0" tIns="0" rIns="0" bIns="0" rtlCol="0" anchor="t">
            <a:spAutoFit/>
          </a:bodyPr>
          <a:lstStyle/>
          <a:p>
            <a:pPr algn="l" indent="0" marL="0">
              <a:buNone/>
            </a:pPr>
            <a:r>
              <a:rPr lang="en-US" sz="1200" b="1" dirty="0">
                <a:solidFill>
                  <a:srgbClr val="2563EB"/>
                </a:solidFill>
                <a:latin typeface="Inter Bold" pitchFamily="34" charset="0"/>
                <a:ea typeface="Inter Bold" pitchFamily="34" charset="-122"/>
                <a:cs typeface="Inter Bold" pitchFamily="34" charset="-120"/>
              </a:rPr>
              <a:t>The Multilevel Solution</a:t>
            </a:r>
            <a:endParaRPr lang="en-US" sz="1200" dirty="0"/>
          </a:p>
        </p:txBody>
      </p:sp>
      <p:sp>
        <p:nvSpPr>
          <p:cNvPr id="15" name="Text 11"/>
          <p:cNvSpPr/>
          <p:nvPr/>
        </p:nvSpPr>
        <p:spPr>
          <a:xfrm>
            <a:off x="5072063" y="2119908"/>
            <a:ext cx="3214688" cy="457200"/>
          </a:xfrm>
          <a:prstGeom prst="rect">
            <a:avLst/>
          </a:prstGeom>
          <a:noFill/>
          <a:ln/>
        </p:spPr>
        <p:txBody>
          <a:bodyPr wrap="square" lIns="255143" tIns="0" rIns="0" bIns="0" rtlCol="0" anchor="t">
            <a:spAutoFit/>
          </a:bodyPr>
          <a:lstStyle/>
          <a:p>
            <a:pPr algn="l" indent="0" marL="0">
              <a:lnSpc>
                <a:spcPct val="128000"/>
              </a:lnSpc>
              <a:buNone/>
            </a:pPr>
            <a:r>
              <a:rPr lang="en-US" sz="1050" dirty="0">
                <a:solidFill>
                  <a:srgbClr val="000000"/>
                </a:solidFill>
                <a:latin typeface="Inter" pitchFamily="34" charset="0"/>
                <a:ea typeface="Inter" pitchFamily="34" charset="-122"/>
                <a:cs typeface="Inter" pitchFamily="34" charset="-120"/>
              </a:rPr>
              <a:t>To mitigate dv/dt stress, a </a:t>
            </a:r>
            <a:r>
              <a:rPr lang="en-US" sz="1000" b="1" dirty="0">
                <a:solidFill>
                  <a:srgbClr val="000000"/>
                </a:solidFill>
                <a:latin typeface="Inter Bold" pitchFamily="34" charset="0"/>
                <a:ea typeface="Inter Bold" pitchFamily="34" charset="-122"/>
                <a:cs typeface="Inter Bold" pitchFamily="34" charset="-120"/>
              </a:rPr>
              <a:t>multilevel inverter topology</a:t>
            </a:r>
            <a:r>
              <a:rPr lang="en-US" sz="1050" dirty="0">
                <a:solidFill>
                  <a:srgbClr val="000000"/>
                </a:solidFill>
                <a:latin typeface="Inter" pitchFamily="34" charset="0"/>
                <a:ea typeface="Inter" pitchFamily="34" charset="-122"/>
                <a:cs typeface="Inter" pitchFamily="34" charset="-120"/>
              </a:rPr>
              <a:t> is required.</a:t>
            </a:r>
            <a:endParaRPr lang="en-US" sz="1050" dirty="0"/>
          </a:p>
        </p:txBody>
      </p:sp>
      <p:sp>
        <p:nvSpPr>
          <p:cNvPr id="16" name="Text 12"/>
          <p:cNvSpPr/>
          <p:nvPr/>
        </p:nvSpPr>
        <p:spPr>
          <a:xfrm>
            <a:off x="5072063" y="2691408"/>
            <a:ext cx="3214688" cy="914400"/>
          </a:xfrm>
          <a:prstGeom prst="rect">
            <a:avLst/>
          </a:prstGeom>
          <a:noFill/>
          <a:ln/>
        </p:spPr>
        <p:txBody>
          <a:bodyPr wrap="square" lIns="255143" tIns="0" rIns="0" bIns="0" rtlCol="0" anchor="t">
            <a:spAutoFit/>
          </a:bodyPr>
          <a:lstStyle/>
          <a:p>
            <a:pPr algn="l" indent="0" marL="0">
              <a:lnSpc>
                <a:spcPct val="128000"/>
              </a:lnSpc>
              <a:buNone/>
            </a:pPr>
            <a:r>
              <a:rPr lang="en-US" sz="1050" dirty="0">
                <a:solidFill>
                  <a:srgbClr val="000000"/>
                </a:solidFill>
                <a:latin typeface="Inter" pitchFamily="34" charset="0"/>
                <a:ea typeface="Inter" pitchFamily="34" charset="-122"/>
                <a:cs typeface="Inter" pitchFamily="34" charset="-120"/>
              </a:rPr>
              <a:t>It synthesizes the output voltage from multiple discrete levels, inherently reducing the voltage step size (e.g., 400V steps instead of 800V steps).</a:t>
            </a:r>
            <a:endParaRPr lang="en-US" sz="1050" dirty="0"/>
          </a:p>
        </p:txBody>
      </p:sp>
      <p:sp>
        <p:nvSpPr>
          <p:cNvPr id="17" name="Text 13"/>
          <p:cNvSpPr/>
          <p:nvPr/>
        </p:nvSpPr>
        <p:spPr>
          <a:xfrm>
            <a:off x="5072063" y="3720108"/>
            <a:ext cx="3214688" cy="685800"/>
          </a:xfrm>
          <a:prstGeom prst="rect">
            <a:avLst/>
          </a:prstGeom>
          <a:noFill/>
          <a:ln/>
        </p:spPr>
        <p:txBody>
          <a:bodyPr wrap="square" lIns="255143" tIns="0" rIns="0" bIns="0" rtlCol="0" anchor="t">
            <a:spAutoFit/>
          </a:bodyPr>
          <a:lstStyle/>
          <a:p>
            <a:pPr algn="l" indent="0" marL="0">
              <a:lnSpc>
                <a:spcPct val="128000"/>
              </a:lnSpc>
              <a:buNone/>
            </a:pPr>
            <a:r>
              <a:rPr lang="en-US" sz="1050" dirty="0">
                <a:solidFill>
                  <a:srgbClr val="000000"/>
                </a:solidFill>
                <a:latin typeface="Inter" pitchFamily="34" charset="0"/>
                <a:ea typeface="Inter" pitchFamily="34" charset="-122"/>
                <a:cs typeface="Inter" pitchFamily="34" charset="-120"/>
              </a:rPr>
              <a:t>This cuts the dv/dt stress in half and significantly improves the harmonic profile of the output waveform.</a:t>
            </a:r>
            <a:endParaRPr lang="en-US" sz="1050" dirty="0"/>
          </a:p>
        </p:txBody>
      </p:sp>
      <p:sp>
        <p:nvSpPr>
          <p:cNvPr id="18" name="Text 14"/>
          <p:cNvSpPr/>
          <p:nvPr/>
        </p:nvSpPr>
        <p:spPr>
          <a:xfrm>
            <a:off x="5072063" y="2091333"/>
            <a:ext cx="121444" cy="342900"/>
          </a:xfrm>
          <a:prstGeom prst="rect">
            <a:avLst/>
          </a:prstGeom>
          <a:noFill/>
          <a:ln/>
        </p:spPr>
        <p:txBody>
          <a:bodyPr wrap="none" lIns="0" tIns="0" rIns="0" bIns="0" rtlCol="0" anchor="t">
            <a:spAutoFit/>
          </a:bodyPr>
          <a:lstStyle/>
          <a:p>
            <a:pPr algn="l" indent="0" marL="0">
              <a:lnSpc>
                <a:spcPct val="128000"/>
              </a:lnSpc>
              <a:buNone/>
            </a:pPr>
            <a:r>
              <a:rPr lang="en-US" sz="1600" dirty="0">
                <a:solidFill>
                  <a:srgbClr val="2563EB"/>
                </a:solidFill>
                <a:latin typeface="Inter" pitchFamily="34" charset="0"/>
                <a:ea typeface="Inter" pitchFamily="34" charset="-122"/>
                <a:cs typeface="Inter" pitchFamily="34" charset="-120"/>
              </a:rPr>
              <a:t>•</a:t>
            </a:r>
            <a:endParaRPr lang="en-US" sz="1600" dirty="0"/>
          </a:p>
        </p:txBody>
      </p:sp>
      <p:sp>
        <p:nvSpPr>
          <p:cNvPr id="19" name="Text 15"/>
          <p:cNvSpPr/>
          <p:nvPr/>
        </p:nvSpPr>
        <p:spPr>
          <a:xfrm>
            <a:off x="5072063" y="2662833"/>
            <a:ext cx="121444" cy="342900"/>
          </a:xfrm>
          <a:prstGeom prst="rect">
            <a:avLst/>
          </a:prstGeom>
          <a:noFill/>
          <a:ln/>
        </p:spPr>
        <p:txBody>
          <a:bodyPr wrap="none" lIns="0" tIns="0" rIns="0" bIns="0" rtlCol="0" anchor="t">
            <a:spAutoFit/>
          </a:bodyPr>
          <a:lstStyle/>
          <a:p>
            <a:pPr algn="l" indent="0" marL="0">
              <a:lnSpc>
                <a:spcPct val="128000"/>
              </a:lnSpc>
              <a:buNone/>
            </a:pPr>
            <a:r>
              <a:rPr lang="en-US" sz="1600" dirty="0">
                <a:solidFill>
                  <a:srgbClr val="2563EB"/>
                </a:solidFill>
                <a:latin typeface="Inter" pitchFamily="34" charset="0"/>
                <a:ea typeface="Inter" pitchFamily="34" charset="-122"/>
                <a:cs typeface="Inter" pitchFamily="34" charset="-120"/>
              </a:rPr>
              <a:t>•</a:t>
            </a:r>
            <a:endParaRPr lang="en-US" sz="1600" dirty="0"/>
          </a:p>
        </p:txBody>
      </p:sp>
      <p:sp>
        <p:nvSpPr>
          <p:cNvPr id="20" name="Text 16"/>
          <p:cNvSpPr/>
          <p:nvPr/>
        </p:nvSpPr>
        <p:spPr>
          <a:xfrm>
            <a:off x="5072063" y="3691533"/>
            <a:ext cx="121444" cy="342900"/>
          </a:xfrm>
          <a:prstGeom prst="rect">
            <a:avLst/>
          </a:prstGeom>
          <a:noFill/>
          <a:ln/>
        </p:spPr>
        <p:txBody>
          <a:bodyPr wrap="none" lIns="0" tIns="0" rIns="0" bIns="0" rtlCol="0" anchor="t">
            <a:spAutoFit/>
          </a:bodyPr>
          <a:lstStyle/>
          <a:p>
            <a:pPr algn="l" indent="0" marL="0">
              <a:lnSpc>
                <a:spcPct val="128000"/>
              </a:lnSpc>
              <a:buNone/>
            </a:pPr>
            <a:r>
              <a:rPr lang="en-US" sz="1600" dirty="0">
                <a:solidFill>
                  <a:srgbClr val="2563EB"/>
                </a:solidFill>
                <a:latin typeface="Inter" pitchFamily="34" charset="0"/>
                <a:ea typeface="Inter" pitchFamily="34" charset="-122"/>
                <a:cs typeface="Inter" pitchFamily="34" charset="-120"/>
              </a:rPr>
              <a:t>•</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571500" y="285750"/>
            <a:ext cx="1794867" cy="121444"/>
          </a:xfrm>
          <a:prstGeom prst="rect">
            <a:avLst/>
          </a:prstGeom>
          <a:noFill/>
          <a:ln/>
        </p:spPr>
        <p:txBody>
          <a:bodyPr wrap="square" lIns="0" tIns="0" rIns="0" bIns="0" rtlCol="0" anchor="t">
            <a:spAutoFit/>
          </a:bodyPr>
          <a:lstStyle/>
          <a:p>
            <a:pPr algn="l" indent="0" marL="0">
              <a:buNone/>
            </a:pPr>
            <a:r>
              <a:rPr lang="en-US" sz="700" b="1" spc="1" kern="0" dirty="0">
                <a:solidFill>
                  <a:srgbClr val="2563EB"/>
                </a:solidFill>
                <a:latin typeface="Inter Bold" pitchFamily="34" charset="0"/>
                <a:ea typeface="Inter Bold" pitchFamily="34" charset="-122"/>
                <a:cs typeface="Inter Bold" pitchFamily="34" charset="-120"/>
              </a:rPr>
              <a:t>ECE 595 — PURDUE UNIVERSITY</a:t>
            </a:r>
            <a:endParaRPr lang="en-US" sz="700" dirty="0"/>
          </a:p>
        </p:txBody>
      </p:sp>
      <p:sp>
        <p:nvSpPr>
          <p:cNvPr id="5" name="Text 1"/>
          <p:cNvSpPr/>
          <p:nvPr/>
        </p:nvSpPr>
        <p:spPr>
          <a:xfrm>
            <a:off x="571500" y="714375"/>
            <a:ext cx="3875484" cy="412552"/>
          </a:xfrm>
          <a:prstGeom prst="rect">
            <a:avLst/>
          </a:prstGeom>
          <a:noFill/>
          <a:ln/>
        </p:spPr>
        <p:txBody>
          <a:bodyPr wrap="square" lIns="0" tIns="0" rIns="0" bIns="85090" rtlCol="0" anchor="t">
            <a:spAutoFit/>
          </a:bodyPr>
          <a:lstStyle/>
          <a:p>
            <a:pPr algn="l" indent="0" marL="0">
              <a:buNone/>
            </a:pPr>
            <a:r>
              <a:rPr lang="en-US" sz="1800" b="1" dirty="0">
                <a:solidFill>
                  <a:srgbClr val="000000"/>
                </a:solidFill>
                <a:latin typeface="Inter Bold" pitchFamily="34" charset="0"/>
                <a:ea typeface="Inter Bold" pitchFamily="34" charset="-122"/>
                <a:cs typeface="Inter Bold" pitchFamily="34" charset="-120"/>
              </a:rPr>
              <a:t>Topology Selection: FC vs NPC</a:t>
            </a:r>
            <a:endParaRPr lang="en-US" sz="1800" dirty="0"/>
          </a:p>
        </p:txBody>
      </p:sp>
      <p:sp>
        <p:nvSpPr>
          <p:cNvPr id="6" name="Text 2"/>
          <p:cNvSpPr/>
          <p:nvPr/>
        </p:nvSpPr>
        <p:spPr>
          <a:xfrm>
            <a:off x="571500" y="1412677"/>
            <a:ext cx="3786188" cy="225028"/>
          </a:xfrm>
          <a:prstGeom prst="rect">
            <a:avLst/>
          </a:prstGeom>
          <a:noFill/>
          <a:ln/>
        </p:spPr>
        <p:txBody>
          <a:bodyPr wrap="square" lIns="0" tIns="0" rIns="0" bIns="0" rtlCol="0" anchor="t">
            <a:spAutoFit/>
          </a:bodyPr>
          <a:lstStyle/>
          <a:p>
            <a:pPr algn="l" indent="0" marL="0">
              <a:buNone/>
            </a:pPr>
            <a:r>
              <a:rPr lang="en-US" sz="1300" b="1" dirty="0">
                <a:solidFill>
                  <a:srgbClr val="2563EB"/>
                </a:solidFill>
                <a:latin typeface="Inter Bold" pitchFamily="34" charset="0"/>
                <a:ea typeface="Inter Bold" pitchFamily="34" charset="-122"/>
                <a:cs typeface="Inter Bold" pitchFamily="34" charset="-120"/>
              </a:rPr>
              <a:t>Thermal Symmetry &amp; Component Count</a:t>
            </a:r>
            <a:endParaRPr lang="en-US" sz="1300" dirty="0"/>
          </a:p>
        </p:txBody>
      </p:sp>
      <p:sp>
        <p:nvSpPr>
          <p:cNvPr id="7" name="Text 3"/>
          <p:cNvSpPr/>
          <p:nvPr/>
        </p:nvSpPr>
        <p:spPr>
          <a:xfrm>
            <a:off x="571500" y="1780580"/>
            <a:ext cx="3786188" cy="1005818"/>
          </a:xfrm>
          <a:prstGeom prst="rect">
            <a:avLst/>
          </a:prstGeom>
          <a:noFill/>
          <a:ln/>
        </p:spPr>
        <p:txBody>
          <a:bodyPr wrap="square" lIns="255143" tIns="0" rIns="0" bIns="0" rtlCol="0" anchor="t">
            <a:spAutoFit/>
          </a:bodyPr>
          <a:lstStyle/>
          <a:p>
            <a:pPr algn="l" indent="0" marL="0">
              <a:lnSpc>
                <a:spcPct val="128000"/>
              </a:lnSpc>
              <a:buNone/>
            </a:pPr>
            <a:r>
              <a:rPr lang="en-US" sz="1100" b="1" dirty="0">
                <a:solidFill>
                  <a:srgbClr val="000000"/>
                </a:solidFill>
                <a:latin typeface="Inter Bold" pitchFamily="34" charset="0"/>
                <a:ea typeface="Inter Bold" pitchFamily="34" charset="-122"/>
                <a:cs typeface="Inter Bold" pitchFamily="34" charset="-120"/>
              </a:rPr>
              <a:t>Asymmetric Stress in NPC:</a:t>
            </a:r>
            <a:r>
              <a:rPr lang="en-US" sz="1150" dirty="0">
                <a:solidFill>
                  <a:srgbClr val="000000"/>
                </a:solidFill>
                <a:latin typeface="Inter" pitchFamily="34" charset="0"/>
                <a:ea typeface="Inter" pitchFamily="34" charset="-122"/>
                <a:cs typeface="Inter" pitchFamily="34" charset="-120"/>
              </a:rPr>
              <a:t> NPC suffers from unequal loss distribution between inner and outer switches, complicating cooling system design.</a:t>
            </a:r>
            <a:endParaRPr lang="en-US" sz="1100" dirty="0"/>
          </a:p>
        </p:txBody>
      </p:sp>
      <p:sp>
        <p:nvSpPr>
          <p:cNvPr id="8" name="Text 4"/>
          <p:cNvSpPr/>
          <p:nvPr/>
        </p:nvSpPr>
        <p:spPr>
          <a:xfrm>
            <a:off x="571500" y="2957847"/>
            <a:ext cx="3786188" cy="1005818"/>
          </a:xfrm>
          <a:prstGeom prst="rect">
            <a:avLst/>
          </a:prstGeom>
          <a:noFill/>
          <a:ln/>
        </p:spPr>
        <p:txBody>
          <a:bodyPr wrap="square" lIns="255143" tIns="0" rIns="0" bIns="0" rtlCol="0" anchor="t">
            <a:spAutoFit/>
          </a:bodyPr>
          <a:lstStyle/>
          <a:p>
            <a:pPr algn="l" indent="0" marL="0">
              <a:lnSpc>
                <a:spcPct val="128000"/>
              </a:lnSpc>
              <a:buNone/>
            </a:pPr>
            <a:r>
              <a:rPr lang="en-US" sz="1100" b="1" dirty="0">
                <a:solidFill>
                  <a:srgbClr val="000000"/>
                </a:solidFill>
                <a:latin typeface="Inter Bold" pitchFamily="34" charset="0"/>
                <a:ea typeface="Inter Bold" pitchFamily="34" charset="-122"/>
                <a:cs typeface="Inter Bold" pitchFamily="34" charset="-120"/>
              </a:rPr>
              <a:t>Symmetric Stress in FC:</a:t>
            </a:r>
            <a:r>
              <a:rPr lang="en-US" sz="1150" dirty="0">
                <a:solidFill>
                  <a:srgbClr val="000000"/>
                </a:solidFill>
                <a:latin typeface="Inter" pitchFamily="34" charset="0"/>
                <a:ea typeface="Inter" pitchFamily="34" charset="-122"/>
                <a:cs typeface="Inter" pitchFamily="34" charset="-120"/>
              </a:rPr>
              <a:t> FC distributes voltage and current stresses symmetrically across all four switches. Every switch blocks exactly half the DC bus voltage (Vdc/2).</a:t>
            </a:r>
            <a:endParaRPr lang="en-US" sz="1100" dirty="0"/>
          </a:p>
        </p:txBody>
      </p:sp>
      <p:sp>
        <p:nvSpPr>
          <p:cNvPr id="9" name="Text 5"/>
          <p:cNvSpPr/>
          <p:nvPr/>
        </p:nvSpPr>
        <p:spPr>
          <a:xfrm>
            <a:off x="571500" y="4135115"/>
            <a:ext cx="3786188" cy="1005818"/>
          </a:xfrm>
          <a:prstGeom prst="rect">
            <a:avLst/>
          </a:prstGeom>
          <a:noFill/>
          <a:ln/>
        </p:spPr>
        <p:txBody>
          <a:bodyPr wrap="square" lIns="255143" tIns="0" rIns="0" bIns="0" rtlCol="0" anchor="t">
            <a:spAutoFit/>
          </a:bodyPr>
          <a:lstStyle/>
          <a:p>
            <a:pPr algn="l" indent="0" marL="0">
              <a:lnSpc>
                <a:spcPct val="128000"/>
              </a:lnSpc>
              <a:buNone/>
            </a:pPr>
            <a:r>
              <a:rPr lang="en-US" sz="1100" b="1" dirty="0">
                <a:solidFill>
                  <a:srgbClr val="000000"/>
                </a:solidFill>
                <a:latin typeface="Inter Bold" pitchFamily="34" charset="0"/>
                <a:ea typeface="Inter Bold" pitchFamily="34" charset="-122"/>
                <a:cs typeface="Inter Bold" pitchFamily="34" charset="-120"/>
              </a:rPr>
              <a:t>Reduced Conduction Loss:</a:t>
            </a:r>
            <a:r>
              <a:rPr lang="en-US" sz="1150" dirty="0">
                <a:solidFill>
                  <a:srgbClr val="000000"/>
                </a:solidFill>
                <a:latin typeface="Inter" pitchFamily="34" charset="0"/>
                <a:ea typeface="Inter" pitchFamily="34" charset="-122"/>
                <a:cs typeface="Inter" pitchFamily="34" charset="-120"/>
              </a:rPr>
              <a:t> FC eliminates the need for clamping diodes required in the NPC, removing components from the conduction path.</a:t>
            </a:r>
            <a:endParaRPr lang="en-US" sz="1100" dirty="0"/>
          </a:p>
        </p:txBody>
      </p:sp>
      <p:sp>
        <p:nvSpPr>
          <p:cNvPr id="10" name="Text 6"/>
          <p:cNvSpPr/>
          <p:nvPr/>
        </p:nvSpPr>
        <p:spPr>
          <a:xfrm>
            <a:off x="571500" y="1752005"/>
            <a:ext cx="121444" cy="342900"/>
          </a:xfrm>
          <a:prstGeom prst="rect">
            <a:avLst/>
          </a:prstGeom>
          <a:noFill/>
          <a:ln/>
        </p:spPr>
        <p:txBody>
          <a:bodyPr wrap="none" lIns="0" tIns="0" rIns="0" bIns="0" rtlCol="0" anchor="t">
            <a:spAutoFit/>
          </a:bodyPr>
          <a:lstStyle/>
          <a:p>
            <a:pPr algn="l" indent="0" marL="0">
              <a:lnSpc>
                <a:spcPct val="128000"/>
              </a:lnSpc>
              <a:buNone/>
            </a:pPr>
            <a:r>
              <a:rPr lang="en-US" sz="1600" dirty="0">
                <a:solidFill>
                  <a:srgbClr val="2563EB"/>
                </a:solidFill>
                <a:latin typeface="Inter" pitchFamily="34" charset="0"/>
                <a:ea typeface="Inter" pitchFamily="34" charset="-122"/>
                <a:cs typeface="Inter" pitchFamily="34" charset="-120"/>
              </a:rPr>
              <a:t>•</a:t>
            </a:r>
            <a:endParaRPr lang="en-US" sz="1600" dirty="0"/>
          </a:p>
        </p:txBody>
      </p:sp>
      <p:sp>
        <p:nvSpPr>
          <p:cNvPr id="11" name="Text 7"/>
          <p:cNvSpPr/>
          <p:nvPr/>
        </p:nvSpPr>
        <p:spPr>
          <a:xfrm>
            <a:off x="571500" y="2929272"/>
            <a:ext cx="121444" cy="342900"/>
          </a:xfrm>
          <a:prstGeom prst="rect">
            <a:avLst/>
          </a:prstGeom>
          <a:noFill/>
          <a:ln/>
        </p:spPr>
        <p:txBody>
          <a:bodyPr wrap="none" lIns="0" tIns="0" rIns="0" bIns="0" rtlCol="0" anchor="t">
            <a:spAutoFit/>
          </a:bodyPr>
          <a:lstStyle/>
          <a:p>
            <a:pPr algn="l" indent="0" marL="0">
              <a:lnSpc>
                <a:spcPct val="128000"/>
              </a:lnSpc>
              <a:buNone/>
            </a:pPr>
            <a:r>
              <a:rPr lang="en-US" sz="1600" dirty="0">
                <a:solidFill>
                  <a:srgbClr val="2563EB"/>
                </a:solidFill>
                <a:latin typeface="Inter" pitchFamily="34" charset="0"/>
                <a:ea typeface="Inter" pitchFamily="34" charset="-122"/>
                <a:cs typeface="Inter" pitchFamily="34" charset="-120"/>
              </a:rPr>
              <a:t>•</a:t>
            </a:r>
            <a:endParaRPr lang="en-US" sz="1600" dirty="0"/>
          </a:p>
        </p:txBody>
      </p:sp>
      <p:sp>
        <p:nvSpPr>
          <p:cNvPr id="12" name="Text 8"/>
          <p:cNvSpPr/>
          <p:nvPr/>
        </p:nvSpPr>
        <p:spPr>
          <a:xfrm>
            <a:off x="571500" y="4106540"/>
            <a:ext cx="121444" cy="342900"/>
          </a:xfrm>
          <a:prstGeom prst="rect">
            <a:avLst/>
          </a:prstGeom>
          <a:noFill/>
          <a:ln/>
        </p:spPr>
        <p:txBody>
          <a:bodyPr wrap="none" lIns="0" tIns="0" rIns="0" bIns="0" rtlCol="0" anchor="t">
            <a:spAutoFit/>
          </a:bodyPr>
          <a:lstStyle/>
          <a:p>
            <a:pPr algn="l" indent="0" marL="0">
              <a:lnSpc>
                <a:spcPct val="128000"/>
              </a:lnSpc>
              <a:buNone/>
            </a:pPr>
            <a:r>
              <a:rPr lang="en-US" sz="1600" dirty="0">
                <a:solidFill>
                  <a:srgbClr val="2563EB"/>
                </a:solidFill>
                <a:latin typeface="Inter" pitchFamily="34" charset="0"/>
                <a:ea typeface="Inter" pitchFamily="34" charset="-122"/>
                <a:cs typeface="Inter" pitchFamily="34" charset="-120"/>
              </a:rPr>
              <a:t>•</a:t>
            </a:r>
            <a:endParaRPr lang="en-US" sz="1600" dirty="0"/>
          </a:p>
        </p:txBody>
      </p:sp>
      <p:sp>
        <p:nvSpPr>
          <p:cNvPr id="13" name="Text 9"/>
          <p:cNvSpPr/>
          <p:nvPr/>
        </p:nvSpPr>
        <p:spPr>
          <a:xfrm>
            <a:off x="4786313" y="1412677"/>
            <a:ext cx="3786188" cy="225028"/>
          </a:xfrm>
          <a:prstGeom prst="rect">
            <a:avLst/>
          </a:prstGeom>
          <a:noFill/>
          <a:ln/>
        </p:spPr>
        <p:txBody>
          <a:bodyPr wrap="square" lIns="0" tIns="0" rIns="0" bIns="0" rtlCol="0" anchor="t">
            <a:spAutoFit/>
          </a:bodyPr>
          <a:lstStyle/>
          <a:p>
            <a:pPr algn="l" indent="0" marL="0">
              <a:buNone/>
            </a:pPr>
            <a:r>
              <a:rPr lang="en-US" sz="1300" b="1" dirty="0">
                <a:solidFill>
                  <a:srgbClr val="2563EB"/>
                </a:solidFill>
                <a:latin typeface="Inter Bold" pitchFamily="34" charset="0"/>
                <a:ea typeface="Inter Bold" pitchFamily="34" charset="-122"/>
                <a:cs typeface="Inter Bold" pitchFamily="34" charset="-120"/>
              </a:rPr>
              <a:t>Dynamic Load Balancing</a:t>
            </a:r>
            <a:endParaRPr lang="en-US" sz="1300" dirty="0"/>
          </a:p>
        </p:txBody>
      </p:sp>
      <p:sp>
        <p:nvSpPr>
          <p:cNvPr id="14" name="Text 10"/>
          <p:cNvSpPr/>
          <p:nvPr/>
        </p:nvSpPr>
        <p:spPr>
          <a:xfrm>
            <a:off x="4786313" y="1780580"/>
            <a:ext cx="3786188" cy="1005818"/>
          </a:xfrm>
          <a:prstGeom prst="rect">
            <a:avLst/>
          </a:prstGeom>
          <a:noFill/>
          <a:ln/>
        </p:spPr>
        <p:txBody>
          <a:bodyPr wrap="square" lIns="255143" tIns="0" rIns="0" bIns="0" rtlCol="0" anchor="t">
            <a:spAutoFit/>
          </a:bodyPr>
          <a:lstStyle/>
          <a:p>
            <a:pPr algn="l" indent="0" marL="0">
              <a:lnSpc>
                <a:spcPct val="128000"/>
              </a:lnSpc>
              <a:buNone/>
            </a:pPr>
            <a:r>
              <a:rPr lang="en-US" sz="1100" b="1" dirty="0">
                <a:solidFill>
                  <a:srgbClr val="000000"/>
                </a:solidFill>
                <a:latin typeface="Inter Bold" pitchFamily="34" charset="0"/>
                <a:ea typeface="Inter Bold" pitchFamily="34" charset="-122"/>
                <a:cs typeface="Inter Bold" pitchFamily="34" charset="-120"/>
              </a:rPr>
              <a:t>Transient Instability in NPC:</a:t>
            </a:r>
            <a:r>
              <a:rPr lang="en-US" sz="1150" dirty="0">
                <a:solidFill>
                  <a:srgbClr val="000000"/>
                </a:solidFill>
                <a:latin typeface="Inter" pitchFamily="34" charset="0"/>
                <a:ea typeface="Inter" pitchFamily="34" charset="-122"/>
                <a:cs typeface="Inter" pitchFamily="34" charset="-120"/>
              </a:rPr>
              <a:t> The NPC neutral point is notoriously difficult to keep balanced under highly dynamic, rapidly fluctuating EV loads.</a:t>
            </a:r>
            <a:endParaRPr lang="en-US" sz="1100" dirty="0"/>
          </a:p>
        </p:txBody>
      </p:sp>
      <p:sp>
        <p:nvSpPr>
          <p:cNvPr id="15" name="Text 11"/>
          <p:cNvSpPr/>
          <p:nvPr/>
        </p:nvSpPr>
        <p:spPr>
          <a:xfrm>
            <a:off x="4786313" y="2957847"/>
            <a:ext cx="3786188" cy="754363"/>
          </a:xfrm>
          <a:prstGeom prst="rect">
            <a:avLst/>
          </a:prstGeom>
          <a:noFill/>
          <a:ln/>
        </p:spPr>
        <p:txBody>
          <a:bodyPr wrap="square" lIns="255143" tIns="0" rIns="0" bIns="0" rtlCol="0" anchor="t">
            <a:spAutoFit/>
          </a:bodyPr>
          <a:lstStyle/>
          <a:p>
            <a:pPr algn="l" indent="0" marL="0">
              <a:lnSpc>
                <a:spcPct val="128000"/>
              </a:lnSpc>
              <a:buNone/>
            </a:pPr>
            <a:r>
              <a:rPr lang="en-US" sz="1100" b="1" dirty="0">
                <a:solidFill>
                  <a:srgbClr val="000000"/>
                </a:solidFill>
                <a:latin typeface="Inter Bold" pitchFamily="34" charset="0"/>
                <a:ea typeface="Inter Bold" pitchFamily="34" charset="-122"/>
                <a:cs typeface="Inter Bold" pitchFamily="34" charset="-120"/>
              </a:rPr>
              <a:t>Natural Balancing in FC:</a:t>
            </a:r>
            <a:r>
              <a:rPr lang="en-US" sz="1150" dirty="0">
                <a:solidFill>
                  <a:srgbClr val="000000"/>
                </a:solidFill>
                <a:latin typeface="Inter" pitchFamily="34" charset="0"/>
                <a:ea typeface="Inter" pitchFamily="34" charset="-122"/>
                <a:cs typeface="Inter" pitchFamily="34" charset="-120"/>
              </a:rPr>
              <a:t> FC utilizes redundant switching states to naturally balance the flying capacitor voltage.</a:t>
            </a:r>
            <a:endParaRPr lang="en-US" sz="1100" dirty="0"/>
          </a:p>
        </p:txBody>
      </p:sp>
      <p:sp>
        <p:nvSpPr>
          <p:cNvPr id="16" name="Text 12"/>
          <p:cNvSpPr/>
          <p:nvPr/>
        </p:nvSpPr>
        <p:spPr>
          <a:xfrm>
            <a:off x="4786313" y="3883661"/>
            <a:ext cx="3786188" cy="1257272"/>
          </a:xfrm>
          <a:prstGeom prst="rect">
            <a:avLst/>
          </a:prstGeom>
          <a:noFill/>
          <a:ln/>
        </p:spPr>
        <p:txBody>
          <a:bodyPr wrap="square" lIns="255143" tIns="0" rIns="0" bIns="0" rtlCol="0" anchor="t">
            <a:spAutoFit/>
          </a:bodyPr>
          <a:lstStyle/>
          <a:p>
            <a:pPr algn="l" indent="0" marL="0">
              <a:lnSpc>
                <a:spcPct val="128000"/>
              </a:lnSpc>
              <a:buNone/>
            </a:pPr>
            <a:r>
              <a:rPr lang="en-US" sz="1100" b="1" dirty="0">
                <a:solidFill>
                  <a:srgbClr val="000000"/>
                </a:solidFill>
                <a:latin typeface="Inter Bold" pitchFamily="34" charset="0"/>
                <a:ea typeface="Inter Bold" pitchFamily="34" charset="-122"/>
                <a:cs typeface="Inter Bold" pitchFamily="34" charset="-120"/>
              </a:rPr>
              <a:t>Power Factor Independence:</a:t>
            </a:r>
            <a:r>
              <a:rPr lang="en-US" sz="1150" dirty="0">
                <a:solidFill>
                  <a:srgbClr val="000000"/>
                </a:solidFill>
                <a:latin typeface="Inter" pitchFamily="34" charset="0"/>
                <a:ea typeface="Inter" pitchFamily="34" charset="-122"/>
                <a:cs typeface="Inter" pitchFamily="34" charset="-120"/>
              </a:rPr>
              <a:t> By actively selecting between redundant states based on the phase current direction, the FC remains balanced at Vdc/2 regardless of the load power factor.</a:t>
            </a:r>
            <a:endParaRPr lang="en-US" sz="1100" dirty="0"/>
          </a:p>
        </p:txBody>
      </p:sp>
      <p:sp>
        <p:nvSpPr>
          <p:cNvPr id="17" name="Text 13"/>
          <p:cNvSpPr/>
          <p:nvPr/>
        </p:nvSpPr>
        <p:spPr>
          <a:xfrm>
            <a:off x="4786313" y="1752005"/>
            <a:ext cx="121444" cy="342900"/>
          </a:xfrm>
          <a:prstGeom prst="rect">
            <a:avLst/>
          </a:prstGeom>
          <a:noFill/>
          <a:ln/>
        </p:spPr>
        <p:txBody>
          <a:bodyPr wrap="none" lIns="0" tIns="0" rIns="0" bIns="0" rtlCol="0" anchor="t">
            <a:spAutoFit/>
          </a:bodyPr>
          <a:lstStyle/>
          <a:p>
            <a:pPr algn="l" indent="0" marL="0">
              <a:lnSpc>
                <a:spcPct val="128000"/>
              </a:lnSpc>
              <a:buNone/>
            </a:pPr>
            <a:r>
              <a:rPr lang="en-US" sz="1600" dirty="0">
                <a:solidFill>
                  <a:srgbClr val="2563EB"/>
                </a:solidFill>
                <a:latin typeface="Inter" pitchFamily="34" charset="0"/>
                <a:ea typeface="Inter" pitchFamily="34" charset="-122"/>
                <a:cs typeface="Inter" pitchFamily="34" charset="-120"/>
              </a:rPr>
              <a:t>•</a:t>
            </a:r>
            <a:endParaRPr lang="en-US" sz="1600" dirty="0"/>
          </a:p>
        </p:txBody>
      </p:sp>
      <p:sp>
        <p:nvSpPr>
          <p:cNvPr id="18" name="Text 14"/>
          <p:cNvSpPr/>
          <p:nvPr/>
        </p:nvSpPr>
        <p:spPr>
          <a:xfrm>
            <a:off x="4786313" y="2929272"/>
            <a:ext cx="121444" cy="342900"/>
          </a:xfrm>
          <a:prstGeom prst="rect">
            <a:avLst/>
          </a:prstGeom>
          <a:noFill/>
          <a:ln/>
        </p:spPr>
        <p:txBody>
          <a:bodyPr wrap="none" lIns="0" tIns="0" rIns="0" bIns="0" rtlCol="0" anchor="t">
            <a:spAutoFit/>
          </a:bodyPr>
          <a:lstStyle/>
          <a:p>
            <a:pPr algn="l" indent="0" marL="0">
              <a:lnSpc>
                <a:spcPct val="128000"/>
              </a:lnSpc>
              <a:buNone/>
            </a:pPr>
            <a:r>
              <a:rPr lang="en-US" sz="1600" dirty="0">
                <a:solidFill>
                  <a:srgbClr val="2563EB"/>
                </a:solidFill>
                <a:latin typeface="Inter" pitchFamily="34" charset="0"/>
                <a:ea typeface="Inter" pitchFamily="34" charset="-122"/>
                <a:cs typeface="Inter" pitchFamily="34" charset="-120"/>
              </a:rPr>
              <a:t>•</a:t>
            </a:r>
            <a:endParaRPr lang="en-US" sz="1600" dirty="0"/>
          </a:p>
        </p:txBody>
      </p:sp>
      <p:sp>
        <p:nvSpPr>
          <p:cNvPr id="19" name="Text 15"/>
          <p:cNvSpPr/>
          <p:nvPr/>
        </p:nvSpPr>
        <p:spPr>
          <a:xfrm>
            <a:off x="4786313" y="3855086"/>
            <a:ext cx="121444" cy="342900"/>
          </a:xfrm>
          <a:prstGeom prst="rect">
            <a:avLst/>
          </a:prstGeom>
          <a:noFill/>
          <a:ln/>
        </p:spPr>
        <p:txBody>
          <a:bodyPr wrap="none" lIns="0" tIns="0" rIns="0" bIns="0" rtlCol="0" anchor="t">
            <a:spAutoFit/>
          </a:bodyPr>
          <a:lstStyle/>
          <a:p>
            <a:pPr algn="l" indent="0" marL="0">
              <a:lnSpc>
                <a:spcPct val="128000"/>
              </a:lnSpc>
              <a:buNone/>
            </a:pPr>
            <a:r>
              <a:rPr lang="en-US" sz="1600" dirty="0">
                <a:solidFill>
                  <a:srgbClr val="2563EB"/>
                </a:solidFill>
                <a:latin typeface="Inter" pitchFamily="34" charset="0"/>
                <a:ea typeface="Inter" pitchFamily="34" charset="-122"/>
                <a:cs typeface="Inter" pitchFamily="34" charset="-120"/>
              </a:rPr>
              <a:t>•</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571500" y="285750"/>
            <a:ext cx="1794867" cy="121444"/>
          </a:xfrm>
          <a:prstGeom prst="rect">
            <a:avLst/>
          </a:prstGeom>
          <a:noFill/>
          <a:ln/>
        </p:spPr>
        <p:txBody>
          <a:bodyPr wrap="square" lIns="0" tIns="0" rIns="0" bIns="0" rtlCol="0" anchor="t">
            <a:spAutoFit/>
          </a:bodyPr>
          <a:lstStyle/>
          <a:p>
            <a:pPr algn="l" indent="0" marL="0">
              <a:buNone/>
            </a:pPr>
            <a:r>
              <a:rPr lang="en-US" sz="700" b="1" spc="1" kern="0" dirty="0">
                <a:solidFill>
                  <a:srgbClr val="2563EB"/>
                </a:solidFill>
                <a:latin typeface="Inter Bold" pitchFamily="34" charset="0"/>
                <a:ea typeface="Inter Bold" pitchFamily="34" charset="-122"/>
                <a:cs typeface="Inter Bold" pitchFamily="34" charset="-120"/>
              </a:rPr>
              <a:t>ECE 595 — PURDUE UNIVERSITY</a:t>
            </a:r>
            <a:endParaRPr lang="en-US" sz="700" dirty="0"/>
          </a:p>
        </p:txBody>
      </p:sp>
      <p:sp>
        <p:nvSpPr>
          <p:cNvPr id="5" name="Text 1"/>
          <p:cNvSpPr/>
          <p:nvPr/>
        </p:nvSpPr>
        <p:spPr>
          <a:xfrm>
            <a:off x="571500" y="714375"/>
            <a:ext cx="4261247" cy="412552"/>
          </a:xfrm>
          <a:prstGeom prst="rect">
            <a:avLst/>
          </a:prstGeom>
          <a:noFill/>
          <a:ln/>
        </p:spPr>
        <p:txBody>
          <a:bodyPr wrap="square" lIns="0" tIns="0" rIns="0" bIns="85090" rtlCol="0" anchor="t">
            <a:spAutoFit/>
          </a:bodyPr>
          <a:lstStyle/>
          <a:p>
            <a:pPr algn="l" indent="0" marL="0">
              <a:buNone/>
            </a:pPr>
            <a:r>
              <a:rPr lang="en-US" sz="1800" b="1" dirty="0">
                <a:solidFill>
                  <a:srgbClr val="000000"/>
                </a:solidFill>
                <a:latin typeface="Inter Bold" pitchFamily="34" charset="0"/>
                <a:ea typeface="Inter Bold" pitchFamily="34" charset="-122"/>
                <a:cs typeface="Inter Bold" pitchFamily="34" charset="-120"/>
              </a:rPr>
              <a:t>FC Switching States and PD-PWM</a:t>
            </a:r>
            <a:endParaRPr lang="en-US" sz="1800" dirty="0"/>
          </a:p>
        </p:txBody>
      </p:sp>
      <p:sp>
        <p:nvSpPr>
          <p:cNvPr id="6" name="Text 2"/>
          <p:cNvSpPr/>
          <p:nvPr/>
        </p:nvSpPr>
        <p:spPr>
          <a:xfrm>
            <a:off x="571500" y="1384102"/>
            <a:ext cx="121444" cy="342900"/>
          </a:xfrm>
          <a:prstGeom prst="rect">
            <a:avLst/>
          </a:prstGeom>
          <a:noFill/>
          <a:ln/>
        </p:spPr>
        <p:txBody>
          <a:bodyPr wrap="none" lIns="0" tIns="0" rIns="0" bIns="0" rtlCol="0" anchor="t">
            <a:spAutoFit/>
          </a:bodyPr>
          <a:lstStyle/>
          <a:p>
            <a:pPr algn="l" indent="0" marL="0">
              <a:lnSpc>
                <a:spcPct val="128000"/>
              </a:lnSpc>
              <a:buNone/>
            </a:pPr>
            <a:r>
              <a:rPr lang="en-US" sz="1600" dirty="0">
                <a:solidFill>
                  <a:srgbClr val="2563EB"/>
                </a:solidFill>
                <a:latin typeface="Inter" pitchFamily="34" charset="0"/>
                <a:ea typeface="Inter" pitchFamily="34" charset="-122"/>
                <a:cs typeface="Inter" pitchFamily="34" charset="-120"/>
              </a:rPr>
              <a:t>•</a:t>
            </a:r>
            <a:endParaRPr lang="en-US" sz="1600" dirty="0"/>
          </a:p>
        </p:txBody>
      </p:sp>
      <p:sp>
        <p:nvSpPr>
          <p:cNvPr id="7" name="Text 3"/>
          <p:cNvSpPr/>
          <p:nvPr/>
        </p:nvSpPr>
        <p:spPr>
          <a:xfrm>
            <a:off x="785813" y="1443038"/>
            <a:ext cx="1200150" cy="189309"/>
          </a:xfrm>
          <a:prstGeom prst="rect">
            <a:avLst/>
          </a:prstGeom>
          <a:noFill/>
          <a:ln/>
        </p:spPr>
        <p:txBody>
          <a:bodyPr wrap="none" lIns="0" tIns="0" rIns="0" bIns="0" rtlCol="0" anchor="t">
            <a:spAutoFit/>
          </a:bodyPr>
          <a:lstStyle/>
          <a:p>
            <a:pPr algn="l" indent="0" marL="0">
              <a:lnSpc>
                <a:spcPct val="128000"/>
              </a:lnSpc>
              <a:buNone/>
            </a:pPr>
            <a:r>
              <a:rPr lang="en-US" sz="1100" b="1" dirty="0">
                <a:solidFill>
                  <a:srgbClr val="000000"/>
                </a:solidFill>
                <a:latin typeface="Inter Bold" pitchFamily="34" charset="0"/>
                <a:ea typeface="Inter Bold" pitchFamily="34" charset="-122"/>
                <a:cs typeface="Inter Bold" pitchFamily="34" charset="-120"/>
              </a:rPr>
              <a:t>3-Level Output:</a:t>
            </a:r>
            <a:endParaRPr lang="en-US" sz="1100" dirty="0"/>
          </a:p>
        </p:txBody>
      </p:sp>
      <p:sp>
        <p:nvSpPr>
          <p:cNvPr id="8" name="Text 4"/>
          <p:cNvSpPr/>
          <p:nvPr/>
        </p:nvSpPr>
        <p:spPr>
          <a:xfrm>
            <a:off x="1985963" y="1443038"/>
            <a:ext cx="1189434" cy="189309"/>
          </a:xfrm>
          <a:prstGeom prst="rect">
            <a:avLst/>
          </a:prstGeom>
          <a:noFill/>
          <a:ln/>
        </p:spPr>
        <p:txBody>
          <a:bodyPr wrap="none" lIns="0" tIns="0" rIns="0" bIns="0" rtlCol="0" anchor="t">
            <a:spAutoFit/>
          </a:bodyPr>
          <a:lstStyle/>
          <a:p>
            <a:pPr algn="l" indent="0" marL="0">
              <a:lnSpc>
                <a:spcPct val="128000"/>
              </a:lnSpc>
              <a:buNone/>
            </a:pPr>
            <a:r>
              <a:rPr lang="en-US" sz="1150" dirty="0">
                <a:solidFill>
                  <a:srgbClr val="000000"/>
                </a:solidFill>
                <a:latin typeface="Inter" pitchFamily="34" charset="0"/>
                <a:ea typeface="Inter" pitchFamily="34" charset="-122"/>
                <a:cs typeface="Inter" pitchFamily="34" charset="-120"/>
              </a:rPr>
              <a:t>Synthesizes +V</a:t>
            </a:r>
            <a:endParaRPr lang="en-US" sz="1150" dirty="0"/>
          </a:p>
        </p:txBody>
      </p:sp>
      <p:sp>
        <p:nvSpPr>
          <p:cNvPr id="9" name="Text 5"/>
          <p:cNvSpPr/>
          <p:nvPr/>
        </p:nvSpPr>
        <p:spPr>
          <a:xfrm>
            <a:off x="3175397" y="1501248"/>
            <a:ext cx="155377" cy="158948"/>
          </a:xfrm>
          <a:prstGeom prst="rect">
            <a:avLst/>
          </a:prstGeom>
          <a:noFill/>
          <a:ln/>
        </p:spPr>
        <p:txBody>
          <a:bodyPr wrap="none" lIns="0" tIns="0" rIns="0" bIns="0" rtlCol="0" anchor="t">
            <a:spAutoFit/>
          </a:bodyPr>
          <a:lstStyle/>
          <a:p>
            <a:pPr algn="l" indent="0" marL="0">
              <a:lnSpc>
                <a:spcPct val="128023"/>
              </a:lnSpc>
              <a:buNone/>
            </a:pPr>
            <a:r>
              <a:rPr lang="en-US" sz="950" baseline="-40000" dirty="0">
                <a:solidFill>
                  <a:srgbClr val="000000"/>
                </a:solidFill>
                <a:latin typeface="Inter" pitchFamily="34" charset="0"/>
                <a:ea typeface="Inter" pitchFamily="34" charset="-122"/>
                <a:cs typeface="Inter" pitchFamily="34" charset="-120"/>
              </a:rPr>
              <a:t>dc</a:t>
            </a:r>
            <a:endParaRPr lang="en-US" sz="950" dirty="0"/>
          </a:p>
        </p:txBody>
      </p:sp>
      <p:sp>
        <p:nvSpPr>
          <p:cNvPr id="10" name="Text 6"/>
          <p:cNvSpPr/>
          <p:nvPr/>
        </p:nvSpPr>
        <p:spPr>
          <a:xfrm>
            <a:off x="3330773" y="1443038"/>
            <a:ext cx="923330" cy="189309"/>
          </a:xfrm>
          <a:prstGeom prst="rect">
            <a:avLst/>
          </a:prstGeom>
          <a:noFill/>
          <a:ln/>
        </p:spPr>
        <p:txBody>
          <a:bodyPr wrap="none" lIns="0" tIns="0" rIns="0" bIns="0" rtlCol="0" anchor="t">
            <a:spAutoFit/>
          </a:bodyPr>
          <a:lstStyle/>
          <a:p>
            <a:pPr algn="l" indent="0" marL="0">
              <a:lnSpc>
                <a:spcPct val="128000"/>
              </a:lnSpc>
              <a:buNone/>
            </a:pPr>
            <a:r>
              <a:rPr lang="en-US" sz="1150" dirty="0">
                <a:solidFill>
                  <a:srgbClr val="000000"/>
                </a:solidFill>
                <a:latin typeface="Inter" pitchFamily="34" charset="0"/>
                <a:ea typeface="Inter" pitchFamily="34" charset="-122"/>
                <a:cs typeface="Inter" pitchFamily="34" charset="-120"/>
              </a:rPr>
              <a:t>/2, 0, and -V</a:t>
            </a:r>
            <a:endParaRPr lang="en-US" sz="1150" dirty="0"/>
          </a:p>
        </p:txBody>
      </p:sp>
      <p:sp>
        <p:nvSpPr>
          <p:cNvPr id="11" name="Text 7"/>
          <p:cNvSpPr/>
          <p:nvPr/>
        </p:nvSpPr>
        <p:spPr>
          <a:xfrm>
            <a:off x="4254103" y="1501248"/>
            <a:ext cx="155377" cy="158948"/>
          </a:xfrm>
          <a:prstGeom prst="rect">
            <a:avLst/>
          </a:prstGeom>
          <a:noFill/>
          <a:ln/>
        </p:spPr>
        <p:txBody>
          <a:bodyPr wrap="none" lIns="0" tIns="0" rIns="0" bIns="0" rtlCol="0" anchor="t">
            <a:spAutoFit/>
          </a:bodyPr>
          <a:lstStyle/>
          <a:p>
            <a:pPr algn="l" indent="0" marL="0">
              <a:lnSpc>
                <a:spcPct val="128023"/>
              </a:lnSpc>
              <a:buNone/>
            </a:pPr>
            <a:r>
              <a:rPr lang="en-US" sz="950" baseline="-40000" dirty="0">
                <a:solidFill>
                  <a:srgbClr val="000000"/>
                </a:solidFill>
                <a:latin typeface="Inter" pitchFamily="34" charset="0"/>
                <a:ea typeface="Inter" pitchFamily="34" charset="-122"/>
                <a:cs typeface="Inter" pitchFamily="34" charset="-120"/>
              </a:rPr>
              <a:t>dc</a:t>
            </a:r>
            <a:endParaRPr lang="en-US" sz="950" dirty="0"/>
          </a:p>
        </p:txBody>
      </p:sp>
      <p:sp>
        <p:nvSpPr>
          <p:cNvPr id="12" name="Text 8"/>
          <p:cNvSpPr/>
          <p:nvPr/>
        </p:nvSpPr>
        <p:spPr>
          <a:xfrm>
            <a:off x="785813" y="1443038"/>
            <a:ext cx="3777258" cy="713845"/>
          </a:xfrm>
          <a:prstGeom prst="rect">
            <a:avLst/>
          </a:prstGeom>
          <a:noFill/>
          <a:ln/>
        </p:spPr>
        <p:txBody>
          <a:bodyPr wrap="square" lIns="0" tIns="0" rIns="0" bIns="0" rtlCol="0" anchor="t">
            <a:spAutoFit/>
          </a:bodyPr>
          <a:lstStyle/>
          <a:p>
            <a:pPr algn="l" indent="0" marL="0">
              <a:lnSpc>
                <a:spcPct val="128000"/>
              </a:lnSpc>
              <a:buNone/>
            </a:pPr>
            <a:r>
              <a:rPr lang="en-US" sz="1150" dirty="0">
                <a:solidFill>
                  <a:srgbClr val="000000"/>
                </a:solidFill>
                <a:latin typeface="Inter" pitchFamily="34" charset="0"/>
                <a:ea typeface="Inter" pitchFamily="34" charset="-122"/>
                <a:cs typeface="Inter" pitchFamily="34" charset="-120"/>
              </a:rPr>
              <a:t>/2 using four switches per phase, reducing voltage steps and dv/dt stress.</a:t>
            </a:r>
            <a:endParaRPr lang="en-US" sz="1150" dirty="0"/>
          </a:p>
        </p:txBody>
      </p:sp>
      <p:sp>
        <p:nvSpPr>
          <p:cNvPr id="13" name="Text 9"/>
          <p:cNvSpPr/>
          <p:nvPr/>
        </p:nvSpPr>
        <p:spPr>
          <a:xfrm>
            <a:off x="571500" y="2260104"/>
            <a:ext cx="4143375" cy="754363"/>
          </a:xfrm>
          <a:prstGeom prst="rect">
            <a:avLst/>
          </a:prstGeom>
          <a:noFill/>
          <a:ln/>
        </p:spPr>
        <p:txBody>
          <a:bodyPr wrap="square" lIns="255143" tIns="0" rIns="0" bIns="0" rtlCol="0" anchor="t">
            <a:spAutoFit/>
          </a:bodyPr>
          <a:lstStyle/>
          <a:p>
            <a:pPr algn="l" indent="0" marL="0">
              <a:lnSpc>
                <a:spcPct val="128000"/>
              </a:lnSpc>
              <a:buNone/>
            </a:pPr>
            <a:r>
              <a:rPr lang="en-US" sz="1100" b="1" dirty="0">
                <a:solidFill>
                  <a:srgbClr val="000000"/>
                </a:solidFill>
                <a:latin typeface="Inter Bold" pitchFamily="34" charset="0"/>
                <a:ea typeface="Inter Bold" pitchFamily="34" charset="-122"/>
                <a:cs typeface="Inter Bold" pitchFamily="34" charset="-120"/>
              </a:rPr>
              <a:t>Redundant Zero States:</a:t>
            </a:r>
            <a:r>
              <a:rPr lang="en-US" sz="1150" dirty="0">
                <a:solidFill>
                  <a:srgbClr val="000000"/>
                </a:solidFill>
                <a:latin typeface="Inter" pitchFamily="34" charset="0"/>
                <a:ea typeface="Inter" pitchFamily="34" charset="-122"/>
                <a:cs typeface="Inter" pitchFamily="34" charset="-120"/>
              </a:rPr>
              <a:t> The '0' voltage level can be achieved by two different switch combinations, providing a degree of freedom in control.</a:t>
            </a:r>
            <a:endParaRPr lang="en-US" sz="1100" dirty="0"/>
          </a:p>
        </p:txBody>
      </p:sp>
      <p:sp>
        <p:nvSpPr>
          <p:cNvPr id="14" name="Text 10"/>
          <p:cNvSpPr/>
          <p:nvPr/>
        </p:nvSpPr>
        <p:spPr>
          <a:xfrm>
            <a:off x="571500" y="3085905"/>
            <a:ext cx="4143375" cy="754363"/>
          </a:xfrm>
          <a:prstGeom prst="rect">
            <a:avLst/>
          </a:prstGeom>
          <a:noFill/>
          <a:ln/>
        </p:spPr>
        <p:txBody>
          <a:bodyPr wrap="square" lIns="255143" tIns="0" rIns="0" bIns="0" rtlCol="0" anchor="t">
            <a:spAutoFit/>
          </a:bodyPr>
          <a:lstStyle/>
          <a:p>
            <a:pPr algn="l" indent="0" marL="0">
              <a:lnSpc>
                <a:spcPct val="128000"/>
              </a:lnSpc>
              <a:buNone/>
            </a:pPr>
            <a:r>
              <a:rPr lang="en-US" sz="1100" b="1" dirty="0">
                <a:solidFill>
                  <a:srgbClr val="000000"/>
                </a:solidFill>
                <a:latin typeface="Inter Bold" pitchFamily="34" charset="0"/>
                <a:ea typeface="Inter Bold" pitchFamily="34" charset="-122"/>
                <a:cs typeface="Inter Bold" pitchFamily="34" charset="-120"/>
              </a:rPr>
              <a:t>Natural Balancing:</a:t>
            </a:r>
            <a:r>
              <a:rPr lang="en-US" sz="1150" dirty="0">
                <a:solidFill>
                  <a:srgbClr val="000000"/>
                </a:solidFill>
                <a:latin typeface="Inter" pitchFamily="34" charset="0"/>
                <a:ea typeface="Inter" pitchFamily="34" charset="-122"/>
                <a:cs typeface="Inter" pitchFamily="34" charset="-120"/>
              </a:rPr>
              <a:t> Phase-Disposition PWM (PD-PWM) naturally balances the flying capacitor voltage without complex closed-loop control.</a:t>
            </a:r>
            <a:endParaRPr lang="en-US" sz="1100" dirty="0"/>
          </a:p>
        </p:txBody>
      </p:sp>
      <p:sp>
        <p:nvSpPr>
          <p:cNvPr id="15" name="Text 11"/>
          <p:cNvSpPr/>
          <p:nvPr/>
        </p:nvSpPr>
        <p:spPr>
          <a:xfrm>
            <a:off x="571500" y="2231529"/>
            <a:ext cx="121444" cy="342900"/>
          </a:xfrm>
          <a:prstGeom prst="rect">
            <a:avLst/>
          </a:prstGeom>
          <a:noFill/>
          <a:ln/>
        </p:spPr>
        <p:txBody>
          <a:bodyPr wrap="none" lIns="0" tIns="0" rIns="0" bIns="0" rtlCol="0" anchor="t">
            <a:spAutoFit/>
          </a:bodyPr>
          <a:lstStyle/>
          <a:p>
            <a:pPr algn="l" indent="0" marL="0">
              <a:lnSpc>
                <a:spcPct val="128000"/>
              </a:lnSpc>
              <a:buNone/>
            </a:pPr>
            <a:r>
              <a:rPr lang="en-US" sz="1600" dirty="0">
                <a:solidFill>
                  <a:srgbClr val="2563EB"/>
                </a:solidFill>
                <a:latin typeface="Inter" pitchFamily="34" charset="0"/>
                <a:ea typeface="Inter" pitchFamily="34" charset="-122"/>
                <a:cs typeface="Inter" pitchFamily="34" charset="-120"/>
              </a:rPr>
              <a:t>•</a:t>
            </a:r>
            <a:endParaRPr lang="en-US" sz="1600" dirty="0"/>
          </a:p>
        </p:txBody>
      </p:sp>
      <p:sp>
        <p:nvSpPr>
          <p:cNvPr id="16" name="Text 12"/>
          <p:cNvSpPr/>
          <p:nvPr/>
        </p:nvSpPr>
        <p:spPr>
          <a:xfrm>
            <a:off x="571500" y="3057330"/>
            <a:ext cx="121444" cy="342900"/>
          </a:xfrm>
          <a:prstGeom prst="rect">
            <a:avLst/>
          </a:prstGeom>
          <a:noFill/>
          <a:ln/>
        </p:spPr>
        <p:txBody>
          <a:bodyPr wrap="none" lIns="0" tIns="0" rIns="0" bIns="0" rtlCol="0" anchor="t">
            <a:spAutoFit/>
          </a:bodyPr>
          <a:lstStyle/>
          <a:p>
            <a:pPr algn="l" indent="0" marL="0">
              <a:lnSpc>
                <a:spcPct val="128000"/>
              </a:lnSpc>
              <a:buNone/>
            </a:pPr>
            <a:r>
              <a:rPr lang="en-US" sz="1600" dirty="0">
                <a:solidFill>
                  <a:srgbClr val="2563EB"/>
                </a:solidFill>
                <a:latin typeface="Inter" pitchFamily="34" charset="0"/>
                <a:ea typeface="Inter" pitchFamily="34" charset="-122"/>
                <a:cs typeface="Inter" pitchFamily="34" charset="-120"/>
              </a:rPr>
              <a:t>•</a:t>
            </a:r>
            <a:endParaRPr lang="en-US" sz="1600" dirty="0"/>
          </a:p>
        </p:txBody>
      </p:sp>
      <p:sp>
        <p:nvSpPr>
          <p:cNvPr id="17" name="Text 13"/>
          <p:cNvSpPr/>
          <p:nvPr/>
        </p:nvSpPr>
        <p:spPr>
          <a:xfrm>
            <a:off x="571500" y="3883130"/>
            <a:ext cx="121444" cy="342900"/>
          </a:xfrm>
          <a:prstGeom prst="rect">
            <a:avLst/>
          </a:prstGeom>
          <a:noFill/>
          <a:ln/>
        </p:spPr>
        <p:txBody>
          <a:bodyPr wrap="none" lIns="0" tIns="0" rIns="0" bIns="0" rtlCol="0" anchor="t">
            <a:spAutoFit/>
          </a:bodyPr>
          <a:lstStyle/>
          <a:p>
            <a:pPr algn="l" indent="0" marL="0">
              <a:lnSpc>
                <a:spcPct val="128000"/>
              </a:lnSpc>
              <a:buNone/>
            </a:pPr>
            <a:r>
              <a:rPr lang="en-US" sz="1600" dirty="0">
                <a:solidFill>
                  <a:srgbClr val="2563EB"/>
                </a:solidFill>
                <a:latin typeface="Inter" pitchFamily="34" charset="0"/>
                <a:ea typeface="Inter" pitchFamily="34" charset="-122"/>
                <a:cs typeface="Inter" pitchFamily="34" charset="-120"/>
              </a:rPr>
              <a:t>•</a:t>
            </a:r>
            <a:endParaRPr lang="en-US" sz="1600" dirty="0"/>
          </a:p>
        </p:txBody>
      </p:sp>
      <p:sp>
        <p:nvSpPr>
          <p:cNvPr id="18" name="Text 14"/>
          <p:cNvSpPr/>
          <p:nvPr/>
        </p:nvSpPr>
        <p:spPr>
          <a:xfrm>
            <a:off x="785813" y="3942066"/>
            <a:ext cx="944761" cy="189309"/>
          </a:xfrm>
          <a:prstGeom prst="rect">
            <a:avLst/>
          </a:prstGeom>
          <a:noFill/>
          <a:ln/>
        </p:spPr>
        <p:txBody>
          <a:bodyPr wrap="none" lIns="0" tIns="0" rIns="0" bIns="0" rtlCol="0" anchor="t">
            <a:spAutoFit/>
          </a:bodyPr>
          <a:lstStyle/>
          <a:p>
            <a:pPr algn="l" indent="0" marL="0">
              <a:lnSpc>
                <a:spcPct val="128000"/>
              </a:lnSpc>
              <a:buNone/>
            </a:pPr>
            <a:r>
              <a:rPr lang="en-US" sz="1100" b="1" dirty="0">
                <a:solidFill>
                  <a:srgbClr val="000000"/>
                </a:solidFill>
                <a:latin typeface="Inter Bold" pitchFamily="34" charset="0"/>
                <a:ea typeface="Inter Bold" pitchFamily="34" charset="-122"/>
                <a:cs typeface="Inter Bold" pitchFamily="34" charset="-120"/>
              </a:rPr>
              <a:t>Mechanism:</a:t>
            </a:r>
            <a:endParaRPr lang="en-US" sz="1100" dirty="0"/>
          </a:p>
        </p:txBody>
      </p:sp>
      <p:sp>
        <p:nvSpPr>
          <p:cNvPr id="19" name="Text 15"/>
          <p:cNvSpPr/>
          <p:nvPr/>
        </p:nvSpPr>
        <p:spPr>
          <a:xfrm>
            <a:off x="785813" y="3942066"/>
            <a:ext cx="3875484" cy="943673"/>
          </a:xfrm>
          <a:prstGeom prst="rect">
            <a:avLst/>
          </a:prstGeom>
          <a:noFill/>
          <a:ln/>
        </p:spPr>
        <p:txBody>
          <a:bodyPr wrap="square" lIns="0" tIns="0" rIns="0" bIns="0" rtlCol="0" anchor="t">
            <a:spAutoFit/>
          </a:bodyPr>
          <a:lstStyle/>
          <a:p>
            <a:pPr algn="l" indent="0" marL="0">
              <a:lnSpc>
                <a:spcPct val="128000"/>
              </a:lnSpc>
              <a:buNone/>
            </a:pPr>
            <a:r>
              <a:rPr lang="en-US" sz="1150" dirty="0">
                <a:solidFill>
                  <a:srgbClr val="000000"/>
                </a:solidFill>
                <a:latin typeface="Inter" pitchFamily="34" charset="0"/>
                <a:ea typeface="Inter" pitchFamily="34" charset="-122"/>
                <a:cs typeface="Inter" pitchFamily="34" charset="-120"/>
              </a:rPr>
              <a:t>By alternating between redundant zero states based on the phase current direction, the capacitor charges or discharges to maintain exactly V</a:t>
            </a:r>
            <a:endParaRPr lang="en-US" sz="1150" dirty="0"/>
          </a:p>
        </p:txBody>
      </p:sp>
      <p:sp>
        <p:nvSpPr>
          <p:cNvPr id="20" name="Text 16"/>
          <p:cNvSpPr/>
          <p:nvPr/>
        </p:nvSpPr>
        <p:spPr>
          <a:xfrm>
            <a:off x="894755" y="4754640"/>
            <a:ext cx="155377" cy="158948"/>
          </a:xfrm>
          <a:prstGeom prst="rect">
            <a:avLst/>
          </a:prstGeom>
          <a:noFill/>
          <a:ln/>
        </p:spPr>
        <p:txBody>
          <a:bodyPr wrap="none" lIns="0" tIns="0" rIns="0" bIns="0" rtlCol="0" anchor="t">
            <a:spAutoFit/>
          </a:bodyPr>
          <a:lstStyle/>
          <a:p>
            <a:pPr algn="l" indent="0" marL="0">
              <a:lnSpc>
                <a:spcPct val="128023"/>
              </a:lnSpc>
              <a:buNone/>
            </a:pPr>
            <a:r>
              <a:rPr lang="en-US" sz="950" baseline="-40000" dirty="0">
                <a:solidFill>
                  <a:srgbClr val="000000"/>
                </a:solidFill>
                <a:latin typeface="Inter" pitchFamily="34" charset="0"/>
                <a:ea typeface="Inter" pitchFamily="34" charset="-122"/>
                <a:cs typeface="Inter" pitchFamily="34" charset="-120"/>
              </a:rPr>
              <a:t>dc</a:t>
            </a:r>
            <a:endParaRPr lang="en-US" sz="950" dirty="0"/>
          </a:p>
        </p:txBody>
      </p:sp>
      <p:sp>
        <p:nvSpPr>
          <p:cNvPr id="21" name="Text 17"/>
          <p:cNvSpPr/>
          <p:nvPr/>
        </p:nvSpPr>
        <p:spPr>
          <a:xfrm>
            <a:off x="1050131" y="4696430"/>
            <a:ext cx="198239" cy="189309"/>
          </a:xfrm>
          <a:prstGeom prst="rect">
            <a:avLst/>
          </a:prstGeom>
          <a:noFill/>
          <a:ln/>
        </p:spPr>
        <p:txBody>
          <a:bodyPr wrap="none" lIns="0" tIns="0" rIns="0" bIns="0" rtlCol="0" anchor="t">
            <a:spAutoFit/>
          </a:bodyPr>
          <a:lstStyle/>
          <a:p>
            <a:pPr algn="l" indent="0" marL="0">
              <a:lnSpc>
                <a:spcPct val="128000"/>
              </a:lnSpc>
              <a:buNone/>
            </a:pPr>
            <a:r>
              <a:rPr lang="en-US" sz="1150" dirty="0">
                <a:solidFill>
                  <a:srgbClr val="000000"/>
                </a:solidFill>
                <a:latin typeface="Inter" pitchFamily="34" charset="0"/>
                <a:ea typeface="Inter" pitchFamily="34" charset="-122"/>
                <a:cs typeface="Inter" pitchFamily="34" charset="-120"/>
              </a:rPr>
              <a:t>/2.</a:t>
            </a:r>
            <a:endParaRPr lang="en-US" sz="1150" dirty="0"/>
          </a:p>
        </p:txBody>
      </p:sp>
      <p:pic>
        <p:nvPicPr>
          <p:cNvPr id="22" name="Image 1" descr="preencoded.png">    </p:cNvPr>
          <p:cNvPicPr>
            <a:picLocks noChangeAspect="1"/>
          </p:cNvPicPr>
          <p:nvPr/>
        </p:nvPicPr>
        <p:blipFill>
          <a:blip r:embed="rId2"/>
          <a:stretch>
            <a:fillRect/>
          </a:stretch>
        </p:blipFill>
        <p:spPr>
          <a:xfrm>
            <a:off x="5000625" y="1547906"/>
            <a:ext cx="3571875" cy="2229827"/>
          </a:xfrm>
          <a:prstGeom prst="rect">
            <a:avLst/>
          </a:prstGeom>
        </p:spPr>
      </p:pic>
      <p:sp>
        <p:nvSpPr>
          <p:cNvPr id="23" name="Text 18"/>
          <p:cNvSpPr/>
          <p:nvPr/>
        </p:nvSpPr>
        <p:spPr>
          <a:xfrm>
            <a:off x="5000625" y="3984427"/>
            <a:ext cx="3571875" cy="420002"/>
          </a:xfrm>
          <a:prstGeom prst="rect">
            <a:avLst/>
          </a:prstGeom>
          <a:noFill/>
          <a:ln/>
        </p:spPr>
        <p:txBody>
          <a:bodyPr wrap="square" lIns="170053" tIns="0" rIns="170053" bIns="0" rtlCol="0" anchor="t">
            <a:spAutoFit/>
          </a:bodyPr>
          <a:lstStyle/>
          <a:p>
            <a:pPr algn="ctr" indent="0" marL="0">
              <a:lnSpc>
                <a:spcPct val="112000"/>
              </a:lnSpc>
              <a:buNone/>
            </a:pPr>
            <a:r>
              <a:rPr lang="en-US" sz="750" dirty="0">
                <a:solidFill>
                  <a:srgbClr val="4B5563"/>
                </a:solidFill>
                <a:latin typeface="Inter" pitchFamily="34" charset="0"/>
                <a:ea typeface="Inter" pitchFamily="34" charset="-122"/>
                <a:cs typeface="Inter" pitchFamily="34" charset="-120"/>
              </a:rPr>
              <a:t>Fig. 1. Three-phase schematic diagram of the 3-level flying capacitor </a:t>
            </a:r>
            <a:r>
              <a:rPr lang="en-US" sz="750" dirty="0">
                <a:solidFill>
                  <a:srgbClr val="4B5563"/>
                </a:solidFill>
                <a:latin typeface="Inter" pitchFamily="34" charset="0"/>
                <a:ea typeface="Inter" pitchFamily="34" charset="-122"/>
                <a:cs typeface="Inter" pitchFamily="34" charset="-120"/>
              </a:rPr>
              <a:t>traction inverter.</a:t>
            </a:r>
            <a:r>
              <a:rPr lang="en-US" sz="750" dirty="0">
                <a:solidFill>
                  <a:srgbClr val="4B5563"/>
                </a:solidFill>
                <a:latin typeface="Inter" pitchFamily="34" charset="0"/>
                <a:ea typeface="Inter" pitchFamily="34" charset="-122"/>
                <a:cs typeface="Inter" pitchFamily="34" charset="-120"/>
              </a:rPr>
              <a:t>
</a:t>
            </a:r>
            <a:r>
              <a:rPr lang="en-US" sz="750" dirty="0">
                <a:solidFill>
                  <a:srgbClr val="4B5563"/>
                </a:solidFill>
                <a:latin typeface="Inter" pitchFamily="34" charset="0"/>
                <a:ea typeface="Inter" pitchFamily="34" charset="-122"/>
                <a:cs typeface="Inter" pitchFamily="34" charset="-120"/>
              </a:rPr>
              <a:t>Source: Advanced Power Electronics Converters (E. Cipriano).</a:t>
            </a:r>
            <a:endParaRPr lang="en-US" sz="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571500" y="285750"/>
            <a:ext cx="1794867" cy="121444"/>
          </a:xfrm>
          <a:prstGeom prst="rect">
            <a:avLst/>
          </a:prstGeom>
          <a:noFill/>
          <a:ln/>
        </p:spPr>
        <p:txBody>
          <a:bodyPr wrap="square" lIns="0" tIns="0" rIns="0" bIns="0" rtlCol="0" anchor="t">
            <a:spAutoFit/>
          </a:bodyPr>
          <a:lstStyle/>
          <a:p>
            <a:pPr algn="l" indent="0" marL="0">
              <a:buNone/>
            </a:pPr>
            <a:r>
              <a:rPr lang="en-US" sz="700" b="1" spc="1" kern="0" dirty="0">
                <a:solidFill>
                  <a:srgbClr val="2563EB"/>
                </a:solidFill>
                <a:latin typeface="Inter Bold" pitchFamily="34" charset="0"/>
                <a:ea typeface="Inter Bold" pitchFamily="34" charset="-122"/>
                <a:cs typeface="Inter Bold" pitchFamily="34" charset="-120"/>
              </a:rPr>
              <a:t>ECE 595 — PURDUE UNIVERSITY</a:t>
            </a:r>
            <a:endParaRPr lang="en-US" sz="700" dirty="0"/>
          </a:p>
        </p:txBody>
      </p:sp>
      <p:sp>
        <p:nvSpPr>
          <p:cNvPr id="5" name="Text 1"/>
          <p:cNvSpPr/>
          <p:nvPr/>
        </p:nvSpPr>
        <p:spPr>
          <a:xfrm>
            <a:off x="571500" y="714375"/>
            <a:ext cx="2711053" cy="412552"/>
          </a:xfrm>
          <a:prstGeom prst="rect">
            <a:avLst/>
          </a:prstGeom>
          <a:noFill/>
          <a:ln/>
        </p:spPr>
        <p:txBody>
          <a:bodyPr wrap="square" lIns="0" tIns="0" rIns="0" bIns="85090" rtlCol="0" anchor="t">
            <a:spAutoFit/>
          </a:bodyPr>
          <a:lstStyle/>
          <a:p>
            <a:pPr algn="l" indent="0" marL="0">
              <a:buNone/>
            </a:pPr>
            <a:r>
              <a:rPr lang="en-US" sz="1800" b="1" dirty="0">
                <a:solidFill>
                  <a:srgbClr val="000000"/>
                </a:solidFill>
                <a:latin typeface="Inter Bold" pitchFamily="34" charset="0"/>
                <a:ea typeface="Inter Bold" pitchFamily="34" charset="-122"/>
                <a:cs typeface="Inter Bold" pitchFamily="34" charset="-120"/>
              </a:rPr>
              <a:t>Component Selection</a:t>
            </a:r>
            <a:endParaRPr lang="en-US" sz="1800" dirty="0"/>
          </a:p>
        </p:txBody>
      </p:sp>
      <p:sp>
        <p:nvSpPr>
          <p:cNvPr id="6" name="Text 2"/>
          <p:cNvSpPr/>
          <p:nvPr/>
        </p:nvSpPr>
        <p:spPr>
          <a:xfrm>
            <a:off x="571500" y="1298377"/>
            <a:ext cx="3857625" cy="242888"/>
          </a:xfrm>
          <a:prstGeom prst="rect">
            <a:avLst/>
          </a:prstGeom>
          <a:noFill/>
          <a:ln/>
        </p:spPr>
        <p:txBody>
          <a:bodyPr wrap="square" lIns="0" tIns="0" rIns="0" bIns="0" rtlCol="0" anchor="t">
            <a:spAutoFit/>
          </a:bodyPr>
          <a:lstStyle/>
          <a:p>
            <a:pPr algn="l" indent="0" marL="0">
              <a:buNone/>
            </a:pPr>
            <a:r>
              <a:rPr lang="en-US" sz="1400" b="1" dirty="0">
                <a:solidFill>
                  <a:srgbClr val="2563EB"/>
                </a:solidFill>
                <a:latin typeface="Inter Bold" pitchFamily="34" charset="0"/>
                <a:ea typeface="Inter Bold" pitchFamily="34" charset="-122"/>
                <a:cs typeface="Inter Bold" pitchFamily="34" charset="-120"/>
              </a:rPr>
              <a:t>Active Switch: SiC Module</a:t>
            </a:r>
            <a:endParaRPr lang="en-US" sz="1400" dirty="0"/>
          </a:p>
        </p:txBody>
      </p:sp>
      <p:sp>
        <p:nvSpPr>
          <p:cNvPr id="7" name="Text 3"/>
          <p:cNvSpPr/>
          <p:nvPr/>
        </p:nvSpPr>
        <p:spPr>
          <a:xfrm>
            <a:off x="571500" y="1626989"/>
            <a:ext cx="3857625" cy="455749"/>
          </a:xfrm>
          <a:prstGeom prst="rect">
            <a:avLst/>
          </a:prstGeom>
          <a:noFill/>
          <a:ln/>
        </p:spPr>
        <p:txBody>
          <a:bodyPr wrap="square" lIns="255143" tIns="0" rIns="0" bIns="0" rtlCol="0" anchor="t">
            <a:spAutoFit/>
          </a:bodyPr>
          <a:lstStyle/>
          <a:p>
            <a:pPr algn="l" indent="0" marL="0">
              <a:lnSpc>
                <a:spcPct val="116000"/>
              </a:lnSpc>
              <a:buNone/>
            </a:pPr>
            <a:r>
              <a:rPr lang="en-US" sz="1100" b="1" dirty="0">
                <a:solidFill>
                  <a:srgbClr val="000000"/>
                </a:solidFill>
                <a:latin typeface="Inter Bold" pitchFamily="34" charset="0"/>
                <a:ea typeface="Inter Bold" pitchFamily="34" charset="-122"/>
                <a:cs typeface="Inter Bold" pitchFamily="34" charset="-120"/>
              </a:rPr>
              <a:t>Wolfspeed CAB450M12XM3:</a:t>
            </a:r>
            <a:r>
              <a:rPr lang="en-US" sz="1150" dirty="0">
                <a:solidFill>
                  <a:srgbClr val="000000"/>
                </a:solidFill>
                <a:latin typeface="Inter" pitchFamily="34" charset="0"/>
                <a:ea typeface="Inter" pitchFamily="34" charset="-122"/>
                <a:cs typeface="Inter" pitchFamily="34" charset="-120"/>
              </a:rPr>
              <a:t> 1200V, 450A SiC half-bridge module.</a:t>
            </a:r>
            <a:endParaRPr lang="en-US" sz="1100" dirty="0"/>
          </a:p>
        </p:txBody>
      </p:sp>
      <p:sp>
        <p:nvSpPr>
          <p:cNvPr id="8" name="Text 4"/>
          <p:cNvSpPr/>
          <p:nvPr/>
        </p:nvSpPr>
        <p:spPr>
          <a:xfrm>
            <a:off x="571500" y="1626989"/>
            <a:ext cx="105370" cy="269286"/>
          </a:xfrm>
          <a:prstGeom prst="rect">
            <a:avLst/>
          </a:prstGeom>
          <a:noFill/>
          <a:ln/>
        </p:spPr>
        <p:txBody>
          <a:bodyPr wrap="none" lIns="0" tIns="0" rIns="0" bIns="0" rtlCol="0" anchor="t">
            <a:spAutoFit/>
          </a:bodyPr>
          <a:lstStyle/>
          <a:p>
            <a:pPr algn="l" indent="0" marL="0">
              <a:lnSpc>
                <a:spcPct val="116000"/>
              </a:lnSpc>
              <a:buNone/>
            </a:pPr>
            <a:r>
              <a:rPr lang="en-US" sz="1400" dirty="0">
                <a:solidFill>
                  <a:srgbClr val="2563EB"/>
                </a:solidFill>
                <a:latin typeface="Inter" pitchFamily="34" charset="0"/>
                <a:ea typeface="Inter" pitchFamily="34" charset="-122"/>
                <a:cs typeface="Inter" pitchFamily="34" charset="-120"/>
              </a:rPr>
              <a:t>•</a:t>
            </a:r>
            <a:endParaRPr lang="en-US" sz="1400" dirty="0"/>
          </a:p>
        </p:txBody>
      </p:sp>
      <p:sp>
        <p:nvSpPr>
          <p:cNvPr id="9" name="Text 5"/>
          <p:cNvSpPr/>
          <p:nvPr/>
        </p:nvSpPr>
        <p:spPr>
          <a:xfrm>
            <a:off x="571500" y="2211325"/>
            <a:ext cx="105370" cy="269286"/>
          </a:xfrm>
          <a:prstGeom prst="rect">
            <a:avLst/>
          </a:prstGeom>
          <a:noFill/>
          <a:ln/>
        </p:spPr>
        <p:txBody>
          <a:bodyPr wrap="none" lIns="0" tIns="0" rIns="0" bIns="0" rtlCol="0" anchor="t">
            <a:spAutoFit/>
          </a:bodyPr>
          <a:lstStyle/>
          <a:p>
            <a:pPr algn="l" indent="0" marL="0">
              <a:lnSpc>
                <a:spcPct val="116000"/>
              </a:lnSpc>
              <a:buNone/>
            </a:pPr>
            <a:r>
              <a:rPr lang="en-US" sz="1400" dirty="0">
                <a:solidFill>
                  <a:srgbClr val="2563EB"/>
                </a:solidFill>
                <a:latin typeface="Inter" pitchFamily="34" charset="0"/>
                <a:ea typeface="Inter" pitchFamily="34" charset="-122"/>
                <a:cs typeface="Inter" pitchFamily="34" charset="-120"/>
              </a:rPr>
              <a:t>•</a:t>
            </a:r>
            <a:endParaRPr lang="en-US" sz="1400" dirty="0"/>
          </a:p>
        </p:txBody>
      </p:sp>
      <p:sp>
        <p:nvSpPr>
          <p:cNvPr id="10" name="Text 6"/>
          <p:cNvSpPr/>
          <p:nvPr/>
        </p:nvSpPr>
        <p:spPr>
          <a:xfrm>
            <a:off x="785813" y="2229185"/>
            <a:ext cx="1866305" cy="189309"/>
          </a:xfrm>
          <a:prstGeom prst="rect">
            <a:avLst/>
          </a:prstGeom>
          <a:noFill/>
          <a:ln/>
        </p:spPr>
        <p:txBody>
          <a:bodyPr wrap="none" lIns="0" tIns="0" rIns="0" bIns="0" rtlCol="0" anchor="t">
            <a:spAutoFit/>
          </a:bodyPr>
          <a:lstStyle/>
          <a:p>
            <a:pPr algn="l" indent="0" marL="0">
              <a:lnSpc>
                <a:spcPct val="116000"/>
              </a:lnSpc>
              <a:buNone/>
            </a:pPr>
            <a:r>
              <a:rPr lang="en-US" sz="1100" b="1" dirty="0">
                <a:solidFill>
                  <a:srgbClr val="000000"/>
                </a:solidFill>
                <a:latin typeface="Inter Bold" pitchFamily="34" charset="0"/>
                <a:ea typeface="Inter Bold" pitchFamily="34" charset="-122"/>
                <a:cs typeface="Inter Bold" pitchFamily="34" charset="-120"/>
              </a:rPr>
              <a:t>Voltage Margin (1200V):</a:t>
            </a:r>
            <a:endParaRPr lang="en-US" sz="1100" dirty="0"/>
          </a:p>
        </p:txBody>
      </p:sp>
      <p:sp>
        <p:nvSpPr>
          <p:cNvPr id="11" name="Text 7"/>
          <p:cNvSpPr/>
          <p:nvPr/>
        </p:nvSpPr>
        <p:spPr>
          <a:xfrm>
            <a:off x="785813" y="2229185"/>
            <a:ext cx="3330773" cy="417184"/>
          </a:xfrm>
          <a:prstGeom prst="rect">
            <a:avLst/>
          </a:prstGeom>
          <a:noFill/>
          <a:ln/>
        </p:spPr>
        <p:txBody>
          <a:bodyPr wrap="square" lIns="0" tIns="0" rIns="0" bIns="0" rtlCol="0" anchor="t">
            <a:spAutoFit/>
          </a:bodyPr>
          <a:lstStyle/>
          <a:p>
            <a:pPr algn="l" indent="0" marL="0">
              <a:lnSpc>
                <a:spcPct val="116000"/>
              </a:lnSpc>
              <a:buNone/>
            </a:pPr>
            <a:r>
              <a:rPr lang="en-US" sz="1150" dirty="0">
                <a:solidFill>
                  <a:srgbClr val="000000"/>
                </a:solidFill>
                <a:latin typeface="Inter" pitchFamily="34" charset="0"/>
                <a:ea typeface="Inter" pitchFamily="34" charset="-122"/>
                <a:cs typeface="Inter" pitchFamily="34" charset="-120"/>
              </a:rPr>
              <a:t>Each switch blocks V</a:t>
            </a:r>
            <a:endParaRPr lang="en-US" sz="1150" dirty="0"/>
          </a:p>
        </p:txBody>
      </p:sp>
      <p:sp>
        <p:nvSpPr>
          <p:cNvPr id="12" name="Text 8"/>
          <p:cNvSpPr/>
          <p:nvPr/>
        </p:nvSpPr>
        <p:spPr>
          <a:xfrm>
            <a:off x="894755" y="2515270"/>
            <a:ext cx="155377" cy="158948"/>
          </a:xfrm>
          <a:prstGeom prst="rect">
            <a:avLst/>
          </a:prstGeom>
          <a:noFill/>
          <a:ln/>
        </p:spPr>
        <p:txBody>
          <a:bodyPr wrap="none" lIns="0" tIns="0" rIns="0" bIns="0" rtlCol="0" anchor="t">
            <a:spAutoFit/>
          </a:bodyPr>
          <a:lstStyle/>
          <a:p>
            <a:pPr algn="l" indent="0" marL="0">
              <a:lnSpc>
                <a:spcPct val="116021"/>
              </a:lnSpc>
              <a:buNone/>
            </a:pPr>
            <a:r>
              <a:rPr lang="en-US" sz="950" baseline="-40000" dirty="0">
                <a:solidFill>
                  <a:srgbClr val="000000"/>
                </a:solidFill>
                <a:latin typeface="Inter" pitchFamily="34" charset="0"/>
                <a:ea typeface="Inter" pitchFamily="34" charset="-122"/>
                <a:cs typeface="Inter" pitchFamily="34" charset="-120"/>
              </a:rPr>
              <a:t>dc</a:t>
            </a:r>
            <a:endParaRPr lang="en-US" sz="950" dirty="0"/>
          </a:p>
        </p:txBody>
      </p:sp>
      <p:sp>
        <p:nvSpPr>
          <p:cNvPr id="13" name="Text 9"/>
          <p:cNvSpPr/>
          <p:nvPr/>
        </p:nvSpPr>
        <p:spPr>
          <a:xfrm>
            <a:off x="785813" y="2457059"/>
            <a:ext cx="3457575" cy="440959"/>
          </a:xfrm>
          <a:prstGeom prst="rect">
            <a:avLst/>
          </a:prstGeom>
          <a:noFill/>
          <a:ln/>
        </p:spPr>
        <p:txBody>
          <a:bodyPr wrap="square" lIns="0" tIns="0" rIns="0" bIns="0" rtlCol="0" anchor="t">
            <a:spAutoFit/>
          </a:bodyPr>
          <a:lstStyle/>
          <a:p>
            <a:pPr algn="l" indent="0" marL="0">
              <a:lnSpc>
                <a:spcPct val="116000"/>
              </a:lnSpc>
              <a:buNone/>
            </a:pPr>
            <a:r>
              <a:rPr lang="en-US" sz="1150" dirty="0">
                <a:solidFill>
                  <a:srgbClr val="000000"/>
                </a:solidFill>
                <a:latin typeface="Inter" pitchFamily="34" charset="0"/>
                <a:ea typeface="Inter" pitchFamily="34" charset="-122"/>
                <a:cs typeface="Inter" pitchFamily="34" charset="-120"/>
              </a:rPr>
              <a:t>/2 = 400V; 33% voltage utilization per IPC-9592B derating.</a:t>
            </a:r>
            <a:endParaRPr lang="en-US" sz="1150" dirty="0"/>
          </a:p>
        </p:txBody>
      </p:sp>
      <p:sp>
        <p:nvSpPr>
          <p:cNvPr id="14" name="Text 10"/>
          <p:cNvSpPr/>
          <p:nvPr/>
        </p:nvSpPr>
        <p:spPr>
          <a:xfrm>
            <a:off x="571500" y="3047312"/>
            <a:ext cx="3857625" cy="455749"/>
          </a:xfrm>
          <a:prstGeom prst="rect">
            <a:avLst/>
          </a:prstGeom>
          <a:noFill/>
          <a:ln/>
        </p:spPr>
        <p:txBody>
          <a:bodyPr wrap="square" lIns="255143" tIns="0" rIns="0" bIns="0" rtlCol="0" anchor="t">
            <a:spAutoFit/>
          </a:bodyPr>
          <a:lstStyle/>
          <a:p>
            <a:pPr algn="l" indent="0" marL="0">
              <a:lnSpc>
                <a:spcPct val="116000"/>
              </a:lnSpc>
              <a:buNone/>
            </a:pPr>
            <a:r>
              <a:rPr lang="en-US" sz="1100" b="1" dirty="0">
                <a:solidFill>
                  <a:srgbClr val="000000"/>
                </a:solidFill>
                <a:latin typeface="Inter Bold" pitchFamily="34" charset="0"/>
                <a:ea typeface="Inter Bold" pitchFamily="34" charset="-122"/>
                <a:cs typeface="Inter Bold" pitchFamily="34" charset="-120"/>
              </a:rPr>
              <a:t>Current Margin (450A):</a:t>
            </a:r>
            <a:r>
              <a:rPr lang="en-US" sz="1150" dirty="0">
                <a:solidFill>
                  <a:srgbClr val="000000"/>
                </a:solidFill>
                <a:latin typeface="Inter" pitchFamily="34" charset="0"/>
                <a:ea typeface="Inter" pitchFamily="34" charset="-122"/>
                <a:cs typeface="Inter" pitchFamily="34" charset="-120"/>
              </a:rPr>
              <a:t> ~3.3x margin vs. 136A peak phase current.</a:t>
            </a:r>
            <a:endParaRPr lang="en-US" sz="1100" dirty="0"/>
          </a:p>
        </p:txBody>
      </p:sp>
      <p:sp>
        <p:nvSpPr>
          <p:cNvPr id="15" name="Text 11"/>
          <p:cNvSpPr/>
          <p:nvPr/>
        </p:nvSpPr>
        <p:spPr>
          <a:xfrm>
            <a:off x="571500" y="3047312"/>
            <a:ext cx="105370" cy="269286"/>
          </a:xfrm>
          <a:prstGeom prst="rect">
            <a:avLst/>
          </a:prstGeom>
          <a:noFill/>
          <a:ln/>
        </p:spPr>
        <p:txBody>
          <a:bodyPr wrap="none" lIns="0" tIns="0" rIns="0" bIns="0" rtlCol="0" anchor="t">
            <a:spAutoFit/>
          </a:bodyPr>
          <a:lstStyle/>
          <a:p>
            <a:pPr algn="l" indent="0" marL="0">
              <a:lnSpc>
                <a:spcPct val="116000"/>
              </a:lnSpc>
              <a:buNone/>
            </a:pPr>
            <a:r>
              <a:rPr lang="en-US" sz="1400" dirty="0">
                <a:solidFill>
                  <a:srgbClr val="2563EB"/>
                </a:solidFill>
                <a:latin typeface="Inter" pitchFamily="34" charset="0"/>
                <a:ea typeface="Inter" pitchFamily="34" charset="-122"/>
                <a:cs typeface="Inter" pitchFamily="34" charset="-120"/>
              </a:rPr>
              <a:t>•</a:t>
            </a:r>
            <a:endParaRPr lang="en-US" sz="1400" dirty="0"/>
          </a:p>
        </p:txBody>
      </p:sp>
      <p:sp>
        <p:nvSpPr>
          <p:cNvPr id="16" name="Text 12"/>
          <p:cNvSpPr/>
          <p:nvPr/>
        </p:nvSpPr>
        <p:spPr>
          <a:xfrm>
            <a:off x="571500" y="3631648"/>
            <a:ext cx="105370" cy="269286"/>
          </a:xfrm>
          <a:prstGeom prst="rect">
            <a:avLst/>
          </a:prstGeom>
          <a:noFill/>
          <a:ln/>
        </p:spPr>
        <p:txBody>
          <a:bodyPr wrap="none" lIns="0" tIns="0" rIns="0" bIns="0" rtlCol="0" anchor="t">
            <a:spAutoFit/>
          </a:bodyPr>
          <a:lstStyle/>
          <a:p>
            <a:pPr algn="l" indent="0" marL="0">
              <a:lnSpc>
                <a:spcPct val="116000"/>
              </a:lnSpc>
              <a:buNone/>
            </a:pPr>
            <a:r>
              <a:rPr lang="en-US" sz="1400" dirty="0">
                <a:solidFill>
                  <a:srgbClr val="2563EB"/>
                </a:solidFill>
                <a:latin typeface="Inter" pitchFamily="34" charset="0"/>
                <a:ea typeface="Inter" pitchFamily="34" charset="-122"/>
                <a:cs typeface="Inter" pitchFamily="34" charset="-120"/>
              </a:rPr>
              <a:t>•</a:t>
            </a:r>
            <a:endParaRPr lang="en-US" sz="1400" dirty="0"/>
          </a:p>
        </p:txBody>
      </p:sp>
      <p:sp>
        <p:nvSpPr>
          <p:cNvPr id="17" name="Text 13"/>
          <p:cNvSpPr/>
          <p:nvPr/>
        </p:nvSpPr>
        <p:spPr>
          <a:xfrm>
            <a:off x="785813" y="3649507"/>
            <a:ext cx="1362670" cy="189309"/>
          </a:xfrm>
          <a:prstGeom prst="rect">
            <a:avLst/>
          </a:prstGeom>
          <a:noFill/>
          <a:ln/>
        </p:spPr>
        <p:txBody>
          <a:bodyPr wrap="none" lIns="0" tIns="0" rIns="0" bIns="0" rtlCol="0" anchor="t">
            <a:spAutoFit/>
          </a:bodyPr>
          <a:lstStyle/>
          <a:p>
            <a:pPr algn="l" indent="0" marL="0">
              <a:lnSpc>
                <a:spcPct val="116000"/>
              </a:lnSpc>
              <a:buNone/>
            </a:pPr>
            <a:r>
              <a:rPr lang="en-US" sz="1100" b="1" dirty="0">
                <a:solidFill>
                  <a:srgbClr val="000000"/>
                </a:solidFill>
                <a:latin typeface="Inter Bold" pitchFamily="34" charset="0"/>
                <a:ea typeface="Inter Bold" pitchFamily="34" charset="-122"/>
                <a:cs typeface="Inter Bold" pitchFamily="34" charset="-120"/>
              </a:rPr>
              <a:t>Thermal Stability:</a:t>
            </a:r>
            <a:endParaRPr lang="en-US" sz="1100" dirty="0"/>
          </a:p>
        </p:txBody>
      </p:sp>
      <p:sp>
        <p:nvSpPr>
          <p:cNvPr id="18" name="Text 14"/>
          <p:cNvSpPr/>
          <p:nvPr/>
        </p:nvSpPr>
        <p:spPr>
          <a:xfrm>
            <a:off x="785813" y="3649507"/>
            <a:ext cx="3116461" cy="417184"/>
          </a:xfrm>
          <a:prstGeom prst="rect">
            <a:avLst/>
          </a:prstGeom>
          <a:noFill/>
          <a:ln/>
        </p:spPr>
        <p:txBody>
          <a:bodyPr wrap="square" lIns="0" tIns="0" rIns="0" bIns="0" rtlCol="0" anchor="t">
            <a:spAutoFit/>
          </a:bodyPr>
          <a:lstStyle/>
          <a:p>
            <a:pPr algn="l" indent="0" marL="0">
              <a:lnSpc>
                <a:spcPct val="116000"/>
              </a:lnSpc>
              <a:buNone/>
            </a:pPr>
            <a:r>
              <a:rPr lang="en-US" sz="1150" dirty="0">
                <a:solidFill>
                  <a:srgbClr val="000000"/>
                </a:solidFill>
                <a:latin typeface="Inter" pitchFamily="34" charset="0"/>
                <a:ea typeface="Inter" pitchFamily="34" charset="-122"/>
                <a:cs typeface="Inter" pitchFamily="34" charset="-120"/>
              </a:rPr>
              <a:t>Positive temp. coeff. of R</a:t>
            </a:r>
            <a:endParaRPr lang="en-US" sz="1150" dirty="0"/>
          </a:p>
        </p:txBody>
      </p:sp>
      <p:sp>
        <p:nvSpPr>
          <p:cNvPr id="19" name="Text 15"/>
          <p:cNvSpPr/>
          <p:nvPr/>
        </p:nvSpPr>
        <p:spPr>
          <a:xfrm>
            <a:off x="887611" y="3935592"/>
            <a:ext cx="400050" cy="158948"/>
          </a:xfrm>
          <a:prstGeom prst="rect">
            <a:avLst/>
          </a:prstGeom>
          <a:noFill/>
          <a:ln/>
        </p:spPr>
        <p:txBody>
          <a:bodyPr wrap="none" lIns="0" tIns="0" rIns="0" bIns="0" rtlCol="0" anchor="t">
            <a:spAutoFit/>
          </a:bodyPr>
          <a:lstStyle/>
          <a:p>
            <a:pPr algn="l" indent="0" marL="0">
              <a:lnSpc>
                <a:spcPct val="116021"/>
              </a:lnSpc>
              <a:buNone/>
            </a:pPr>
            <a:r>
              <a:rPr lang="en-US" sz="950" baseline="-40000" dirty="0">
                <a:solidFill>
                  <a:srgbClr val="000000"/>
                </a:solidFill>
                <a:latin typeface="Inter" pitchFamily="34" charset="0"/>
                <a:ea typeface="Inter" pitchFamily="34" charset="-122"/>
                <a:cs typeface="Inter" pitchFamily="34" charset="-120"/>
              </a:rPr>
              <a:t>ds(on)</a:t>
            </a:r>
            <a:endParaRPr lang="en-US" sz="950" dirty="0"/>
          </a:p>
        </p:txBody>
      </p:sp>
      <p:sp>
        <p:nvSpPr>
          <p:cNvPr id="20" name="Text 16"/>
          <p:cNvSpPr/>
          <p:nvPr/>
        </p:nvSpPr>
        <p:spPr>
          <a:xfrm>
            <a:off x="785813" y="3877382"/>
            <a:ext cx="3564731" cy="440959"/>
          </a:xfrm>
          <a:prstGeom prst="rect">
            <a:avLst/>
          </a:prstGeom>
          <a:noFill/>
          <a:ln/>
        </p:spPr>
        <p:txBody>
          <a:bodyPr wrap="square" lIns="0" tIns="0" rIns="0" bIns="0" rtlCol="0" anchor="t">
            <a:spAutoFit/>
          </a:bodyPr>
          <a:lstStyle/>
          <a:p>
            <a:pPr algn="l" indent="0" marL="0">
              <a:lnSpc>
                <a:spcPct val="116000"/>
              </a:lnSpc>
              <a:buNone/>
            </a:pPr>
            <a:r>
              <a:rPr lang="en-US" sz="1150" dirty="0">
                <a:solidFill>
                  <a:srgbClr val="000000"/>
                </a:solidFill>
                <a:latin typeface="Inter" pitchFamily="34" charset="0"/>
                <a:ea typeface="Inter" pitchFamily="34" charset="-122"/>
                <a:cs typeface="Inter" pitchFamily="34" charset="-120"/>
              </a:rPr>
              <a:t>(die 2.6 + pkg 0.7 = 3.3 mΩ at 25°C, ~2× at 175°C) aids current sharing.</a:t>
            </a:r>
            <a:endParaRPr lang="en-US" sz="1150" dirty="0"/>
          </a:p>
        </p:txBody>
      </p:sp>
      <p:sp>
        <p:nvSpPr>
          <p:cNvPr id="21" name="Text 17"/>
          <p:cNvSpPr/>
          <p:nvPr/>
        </p:nvSpPr>
        <p:spPr>
          <a:xfrm>
            <a:off x="4714875" y="1298377"/>
            <a:ext cx="3857625" cy="242888"/>
          </a:xfrm>
          <a:prstGeom prst="rect">
            <a:avLst/>
          </a:prstGeom>
          <a:noFill/>
          <a:ln/>
        </p:spPr>
        <p:txBody>
          <a:bodyPr wrap="square" lIns="0" tIns="0" rIns="0" bIns="0" rtlCol="0" anchor="t">
            <a:spAutoFit/>
          </a:bodyPr>
          <a:lstStyle/>
          <a:p>
            <a:pPr algn="l" indent="0" marL="0">
              <a:buNone/>
            </a:pPr>
            <a:r>
              <a:rPr lang="en-US" sz="1400" b="1" dirty="0">
                <a:solidFill>
                  <a:srgbClr val="2563EB"/>
                </a:solidFill>
                <a:latin typeface="Inter Bold" pitchFamily="34" charset="0"/>
                <a:ea typeface="Inter Bold" pitchFamily="34" charset="-122"/>
                <a:cs typeface="Inter Bold" pitchFamily="34" charset="-120"/>
              </a:rPr>
              <a:t>Flying Capacitor: Film Tech</a:t>
            </a:r>
            <a:endParaRPr lang="en-US" sz="1400" dirty="0"/>
          </a:p>
        </p:txBody>
      </p:sp>
      <p:sp>
        <p:nvSpPr>
          <p:cNvPr id="22" name="Text 18"/>
          <p:cNvSpPr/>
          <p:nvPr/>
        </p:nvSpPr>
        <p:spPr>
          <a:xfrm>
            <a:off x="4714875" y="1626989"/>
            <a:ext cx="3857625" cy="455749"/>
          </a:xfrm>
          <a:prstGeom prst="rect">
            <a:avLst/>
          </a:prstGeom>
          <a:noFill/>
          <a:ln/>
        </p:spPr>
        <p:txBody>
          <a:bodyPr wrap="square" lIns="255143" tIns="0" rIns="0" bIns="0" rtlCol="0" anchor="t">
            <a:spAutoFit/>
          </a:bodyPr>
          <a:lstStyle/>
          <a:p>
            <a:pPr algn="l" indent="0" marL="0">
              <a:lnSpc>
                <a:spcPct val="116000"/>
              </a:lnSpc>
              <a:buNone/>
            </a:pPr>
            <a:r>
              <a:rPr lang="en-US" sz="1100" b="1" dirty="0">
                <a:solidFill>
                  <a:srgbClr val="000000"/>
                </a:solidFill>
                <a:latin typeface="Inter Bold" pitchFamily="34" charset="0"/>
                <a:ea typeface="Inter Bold" pitchFamily="34" charset="-122"/>
                <a:cs typeface="Inter Bold" pitchFamily="34" charset="-120"/>
              </a:rPr>
              <a:t>Capacitance (680 µF):</a:t>
            </a:r>
            <a:r>
              <a:rPr lang="en-US" sz="1150" dirty="0">
                <a:solidFill>
                  <a:srgbClr val="000000"/>
                </a:solidFill>
                <a:latin typeface="Inter" pitchFamily="34" charset="0"/>
                <a:ea typeface="Inter" pitchFamily="34" charset="-122"/>
                <a:cs typeface="Inter" pitchFamily="34" charset="-120"/>
              </a:rPr>
              <a:t> Keeps ripple within 5% (20V on 400V) at 5 kHz min switching.</a:t>
            </a:r>
            <a:endParaRPr lang="en-US" sz="1100" dirty="0"/>
          </a:p>
        </p:txBody>
      </p:sp>
      <p:sp>
        <p:nvSpPr>
          <p:cNvPr id="23" name="Text 19"/>
          <p:cNvSpPr/>
          <p:nvPr/>
        </p:nvSpPr>
        <p:spPr>
          <a:xfrm>
            <a:off x="4714875" y="2211325"/>
            <a:ext cx="3857625" cy="455749"/>
          </a:xfrm>
          <a:prstGeom prst="rect">
            <a:avLst/>
          </a:prstGeom>
          <a:noFill/>
          <a:ln/>
        </p:spPr>
        <p:txBody>
          <a:bodyPr wrap="square" lIns="255143" tIns="0" rIns="0" bIns="0" rtlCol="0" anchor="t">
            <a:spAutoFit/>
          </a:bodyPr>
          <a:lstStyle/>
          <a:p>
            <a:pPr algn="l" indent="0" marL="0">
              <a:lnSpc>
                <a:spcPct val="116000"/>
              </a:lnSpc>
              <a:buNone/>
            </a:pPr>
            <a:r>
              <a:rPr lang="en-US" sz="1100" b="1" dirty="0">
                <a:solidFill>
                  <a:srgbClr val="000000"/>
                </a:solidFill>
                <a:latin typeface="Inter Bold" pitchFamily="34" charset="0"/>
                <a:ea typeface="Inter Bold" pitchFamily="34" charset="-122"/>
                <a:cs typeface="Inter Bold" pitchFamily="34" charset="-120"/>
              </a:rPr>
              <a:t>Film vs. Electrolytic:</a:t>
            </a:r>
            <a:r>
              <a:rPr lang="en-US" sz="1150" dirty="0">
                <a:solidFill>
                  <a:srgbClr val="000000"/>
                </a:solidFill>
                <a:latin typeface="Inter" pitchFamily="34" charset="0"/>
                <a:ea typeface="Inter" pitchFamily="34" charset="-122"/>
                <a:cs typeface="Inter" pitchFamily="34" charset="-120"/>
              </a:rPr>
              <a:t> Automotive-grade metallized polypropylene chosen.</a:t>
            </a:r>
            <a:endParaRPr lang="en-US" sz="1100" dirty="0"/>
          </a:p>
        </p:txBody>
      </p:sp>
      <p:sp>
        <p:nvSpPr>
          <p:cNvPr id="24" name="Text 20"/>
          <p:cNvSpPr/>
          <p:nvPr/>
        </p:nvSpPr>
        <p:spPr>
          <a:xfrm>
            <a:off x="4714875" y="2795662"/>
            <a:ext cx="3857625" cy="455749"/>
          </a:xfrm>
          <a:prstGeom prst="rect">
            <a:avLst/>
          </a:prstGeom>
          <a:noFill/>
          <a:ln/>
        </p:spPr>
        <p:txBody>
          <a:bodyPr wrap="square" lIns="255143" tIns="0" rIns="0" bIns="0" rtlCol="0" anchor="t">
            <a:spAutoFit/>
          </a:bodyPr>
          <a:lstStyle/>
          <a:p>
            <a:pPr algn="l" indent="0" marL="0">
              <a:lnSpc>
                <a:spcPct val="116000"/>
              </a:lnSpc>
              <a:buNone/>
            </a:pPr>
            <a:r>
              <a:rPr lang="en-US" sz="1100" b="1" dirty="0">
                <a:solidFill>
                  <a:srgbClr val="000000"/>
                </a:solidFill>
                <a:latin typeface="Inter Bold" pitchFamily="34" charset="0"/>
                <a:ea typeface="Inter Bold" pitchFamily="34" charset="-122"/>
                <a:cs typeface="Inter Bold" pitchFamily="34" charset="-120"/>
              </a:rPr>
              <a:t>Key Advantages:</a:t>
            </a:r>
            <a:r>
              <a:rPr lang="en-US" sz="1150" dirty="0">
                <a:solidFill>
                  <a:srgbClr val="000000"/>
                </a:solidFill>
                <a:latin typeface="Inter" pitchFamily="34" charset="0"/>
                <a:ea typeface="Inter" pitchFamily="34" charset="-122"/>
                <a:cs typeface="Inter" pitchFamily="34" charset="-120"/>
              </a:rPr>
              <a:t> Very low ESR (&lt;5 mΩ), long life, handles high-frequency ripple.</a:t>
            </a:r>
            <a:endParaRPr lang="en-US" sz="1100" dirty="0"/>
          </a:p>
        </p:txBody>
      </p:sp>
      <p:sp>
        <p:nvSpPr>
          <p:cNvPr id="25" name="Text 21"/>
          <p:cNvSpPr/>
          <p:nvPr/>
        </p:nvSpPr>
        <p:spPr>
          <a:xfrm>
            <a:off x="4714875" y="1626989"/>
            <a:ext cx="105370" cy="269286"/>
          </a:xfrm>
          <a:prstGeom prst="rect">
            <a:avLst/>
          </a:prstGeom>
          <a:noFill/>
          <a:ln/>
        </p:spPr>
        <p:txBody>
          <a:bodyPr wrap="none" lIns="0" tIns="0" rIns="0" bIns="0" rtlCol="0" anchor="t">
            <a:spAutoFit/>
          </a:bodyPr>
          <a:lstStyle/>
          <a:p>
            <a:pPr algn="l" indent="0" marL="0">
              <a:lnSpc>
                <a:spcPct val="116000"/>
              </a:lnSpc>
              <a:buNone/>
            </a:pPr>
            <a:r>
              <a:rPr lang="en-US" sz="1400" dirty="0">
                <a:solidFill>
                  <a:srgbClr val="2563EB"/>
                </a:solidFill>
                <a:latin typeface="Inter" pitchFamily="34" charset="0"/>
                <a:ea typeface="Inter" pitchFamily="34" charset="-122"/>
                <a:cs typeface="Inter" pitchFamily="34" charset="-120"/>
              </a:rPr>
              <a:t>•</a:t>
            </a:r>
            <a:endParaRPr lang="en-US" sz="1400" dirty="0"/>
          </a:p>
        </p:txBody>
      </p:sp>
      <p:sp>
        <p:nvSpPr>
          <p:cNvPr id="26" name="Text 22"/>
          <p:cNvSpPr/>
          <p:nvPr/>
        </p:nvSpPr>
        <p:spPr>
          <a:xfrm>
            <a:off x="4714875" y="2211325"/>
            <a:ext cx="105370" cy="269286"/>
          </a:xfrm>
          <a:prstGeom prst="rect">
            <a:avLst/>
          </a:prstGeom>
          <a:noFill/>
          <a:ln/>
        </p:spPr>
        <p:txBody>
          <a:bodyPr wrap="none" lIns="0" tIns="0" rIns="0" bIns="0" rtlCol="0" anchor="t">
            <a:spAutoFit/>
          </a:bodyPr>
          <a:lstStyle/>
          <a:p>
            <a:pPr algn="l" indent="0" marL="0">
              <a:lnSpc>
                <a:spcPct val="116000"/>
              </a:lnSpc>
              <a:buNone/>
            </a:pPr>
            <a:r>
              <a:rPr lang="en-US" sz="1400" dirty="0">
                <a:solidFill>
                  <a:srgbClr val="2563EB"/>
                </a:solidFill>
                <a:latin typeface="Inter" pitchFamily="34" charset="0"/>
                <a:ea typeface="Inter" pitchFamily="34" charset="-122"/>
                <a:cs typeface="Inter" pitchFamily="34" charset="-120"/>
              </a:rPr>
              <a:t>•</a:t>
            </a:r>
            <a:endParaRPr lang="en-US" sz="1400" dirty="0"/>
          </a:p>
        </p:txBody>
      </p:sp>
      <p:sp>
        <p:nvSpPr>
          <p:cNvPr id="27" name="Text 23"/>
          <p:cNvSpPr/>
          <p:nvPr/>
        </p:nvSpPr>
        <p:spPr>
          <a:xfrm>
            <a:off x="4714875" y="2795662"/>
            <a:ext cx="105370" cy="269286"/>
          </a:xfrm>
          <a:prstGeom prst="rect">
            <a:avLst/>
          </a:prstGeom>
          <a:noFill/>
          <a:ln/>
        </p:spPr>
        <p:txBody>
          <a:bodyPr wrap="none" lIns="0" tIns="0" rIns="0" bIns="0" rtlCol="0" anchor="t">
            <a:spAutoFit/>
          </a:bodyPr>
          <a:lstStyle/>
          <a:p>
            <a:pPr algn="l" indent="0" marL="0">
              <a:lnSpc>
                <a:spcPct val="116000"/>
              </a:lnSpc>
              <a:buNone/>
            </a:pPr>
            <a:r>
              <a:rPr lang="en-US" sz="1400" dirty="0">
                <a:solidFill>
                  <a:srgbClr val="2563EB"/>
                </a:solidFill>
                <a:latin typeface="Inter" pitchFamily="34" charset="0"/>
                <a:ea typeface="Inter" pitchFamily="34" charset="-122"/>
                <a:cs typeface="Inter" pitchFamily="34" charset="-120"/>
              </a:rPr>
              <a:t>•</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571500" y="285750"/>
            <a:ext cx="1794867" cy="121444"/>
          </a:xfrm>
          <a:prstGeom prst="rect">
            <a:avLst/>
          </a:prstGeom>
          <a:noFill/>
          <a:ln/>
        </p:spPr>
        <p:txBody>
          <a:bodyPr wrap="square" lIns="0" tIns="0" rIns="0" bIns="0" rtlCol="0" anchor="t">
            <a:spAutoFit/>
          </a:bodyPr>
          <a:lstStyle/>
          <a:p>
            <a:pPr algn="l" indent="0" marL="0">
              <a:buNone/>
            </a:pPr>
            <a:r>
              <a:rPr lang="en-US" sz="700" b="1" spc="1" kern="0" dirty="0">
                <a:solidFill>
                  <a:srgbClr val="2563EB"/>
                </a:solidFill>
                <a:latin typeface="Inter Bold" pitchFamily="34" charset="0"/>
                <a:ea typeface="Inter Bold" pitchFamily="34" charset="-122"/>
                <a:cs typeface="Inter Bold" pitchFamily="34" charset="-120"/>
              </a:rPr>
              <a:t>ECE 595 — PURDUE UNIVERSITY</a:t>
            </a:r>
            <a:endParaRPr lang="en-US" sz="700" dirty="0"/>
          </a:p>
        </p:txBody>
      </p:sp>
      <p:sp>
        <p:nvSpPr>
          <p:cNvPr id="5" name="Text 1"/>
          <p:cNvSpPr/>
          <p:nvPr/>
        </p:nvSpPr>
        <p:spPr>
          <a:xfrm>
            <a:off x="571500" y="714375"/>
            <a:ext cx="3743325" cy="412552"/>
          </a:xfrm>
          <a:prstGeom prst="rect">
            <a:avLst/>
          </a:prstGeom>
          <a:noFill/>
          <a:ln/>
        </p:spPr>
        <p:txBody>
          <a:bodyPr wrap="square" lIns="0" tIns="0" rIns="0" bIns="85090" rtlCol="0" anchor="t">
            <a:spAutoFit/>
          </a:bodyPr>
          <a:lstStyle/>
          <a:p>
            <a:pPr algn="l" indent="0" marL="0">
              <a:buNone/>
            </a:pPr>
            <a:r>
              <a:rPr lang="en-US" sz="1800" b="1" dirty="0">
                <a:solidFill>
                  <a:srgbClr val="000000"/>
                </a:solidFill>
                <a:latin typeface="Inter Bold" pitchFamily="34" charset="0"/>
                <a:ea typeface="Inter Bold" pitchFamily="34" charset="-122"/>
                <a:cs typeface="Inter Bold" pitchFamily="34" charset="-120"/>
              </a:rPr>
              <a:t>Vehicle Architecture Mapping</a:t>
            </a:r>
            <a:endParaRPr lang="en-US" sz="1800" dirty="0"/>
          </a:p>
        </p:txBody>
      </p:sp>
      <p:sp>
        <p:nvSpPr>
          <p:cNvPr id="6" name="Text 2"/>
          <p:cNvSpPr/>
          <p:nvPr/>
        </p:nvSpPr>
        <p:spPr>
          <a:xfrm>
            <a:off x="571500" y="1412677"/>
            <a:ext cx="4000500" cy="707231"/>
          </a:xfrm>
          <a:prstGeom prst="rect">
            <a:avLst/>
          </a:prstGeom>
          <a:noFill/>
          <a:ln/>
        </p:spPr>
        <p:txBody>
          <a:bodyPr wrap="square" lIns="255143" tIns="0" rIns="0" bIns="0" rtlCol="0" anchor="t">
            <a:spAutoFit/>
          </a:bodyPr>
          <a:lstStyle/>
          <a:p>
            <a:pPr algn="l" indent="0" marL="0">
              <a:lnSpc>
                <a:spcPct val="120000"/>
              </a:lnSpc>
              <a:buNone/>
            </a:pPr>
            <a:r>
              <a:rPr lang="en-US" sz="1100" b="1" dirty="0">
                <a:solidFill>
                  <a:srgbClr val="000000"/>
                </a:solidFill>
                <a:latin typeface="Inter Bold" pitchFamily="34" charset="0"/>
                <a:ea typeface="Inter Bold" pitchFamily="34" charset="-122"/>
                <a:cs typeface="Inter Bold" pitchFamily="34" charset="-120"/>
              </a:rPr>
              <a:t>Drivetrain Parameters:</a:t>
            </a:r>
            <a:r>
              <a:rPr lang="en-US" sz="1150" dirty="0">
                <a:solidFill>
                  <a:srgbClr val="000000"/>
                </a:solidFill>
                <a:latin typeface="Inter" pitchFamily="34" charset="0"/>
                <a:ea typeface="Inter" pitchFamily="34" charset="-122"/>
                <a:cs typeface="Inter" pitchFamily="34" charset="-120"/>
              </a:rPr>
              <a:t> Single-speed reduction gear (G = 8.19), tyre radius (r = 0.315 m), and 8-pole PMSM (p = 4).</a:t>
            </a:r>
            <a:endParaRPr lang="en-US" sz="1100" dirty="0"/>
          </a:p>
        </p:txBody>
      </p:sp>
      <p:sp>
        <p:nvSpPr>
          <p:cNvPr id="7" name="Text 3"/>
          <p:cNvSpPr/>
          <p:nvPr/>
        </p:nvSpPr>
        <p:spPr>
          <a:xfrm>
            <a:off x="571500" y="1384102"/>
            <a:ext cx="121444" cy="321469"/>
          </a:xfrm>
          <a:prstGeom prst="rect">
            <a:avLst/>
          </a:prstGeom>
          <a:noFill/>
          <a:ln/>
        </p:spPr>
        <p:txBody>
          <a:bodyPr wrap="none" lIns="0" tIns="0" rIns="0" bIns="0" rtlCol="0" anchor="t">
            <a:spAutoFit/>
          </a:bodyPr>
          <a:lstStyle/>
          <a:p>
            <a:pPr algn="l" indent="0" marL="0">
              <a:lnSpc>
                <a:spcPct val="120000"/>
              </a:lnSpc>
              <a:buNone/>
            </a:pPr>
            <a:r>
              <a:rPr lang="en-US" sz="1600" dirty="0">
                <a:solidFill>
                  <a:srgbClr val="2563EB"/>
                </a:solidFill>
                <a:latin typeface="Inter" pitchFamily="34" charset="0"/>
                <a:ea typeface="Inter" pitchFamily="34" charset="-122"/>
                <a:cs typeface="Inter" pitchFamily="34" charset="-120"/>
              </a:rPr>
              <a:t>•</a:t>
            </a:r>
            <a:endParaRPr lang="en-US" sz="1600" dirty="0"/>
          </a:p>
        </p:txBody>
      </p:sp>
      <p:sp>
        <p:nvSpPr>
          <p:cNvPr id="8" name="Text 4"/>
          <p:cNvSpPr/>
          <p:nvPr/>
        </p:nvSpPr>
        <p:spPr>
          <a:xfrm>
            <a:off x="571500" y="2177058"/>
            <a:ext cx="121444" cy="321469"/>
          </a:xfrm>
          <a:prstGeom prst="rect">
            <a:avLst/>
          </a:prstGeom>
          <a:noFill/>
          <a:ln/>
        </p:spPr>
        <p:txBody>
          <a:bodyPr wrap="none" lIns="0" tIns="0" rIns="0" bIns="0" rtlCol="0" anchor="t">
            <a:spAutoFit/>
          </a:bodyPr>
          <a:lstStyle/>
          <a:p>
            <a:pPr algn="l" indent="0" marL="0">
              <a:lnSpc>
                <a:spcPct val="120000"/>
              </a:lnSpc>
              <a:buNone/>
            </a:pPr>
            <a:r>
              <a:rPr lang="en-US" sz="1600" dirty="0">
                <a:solidFill>
                  <a:srgbClr val="2563EB"/>
                </a:solidFill>
                <a:latin typeface="Inter" pitchFamily="34" charset="0"/>
                <a:ea typeface="Inter" pitchFamily="34" charset="-122"/>
                <a:cs typeface="Inter" pitchFamily="34" charset="-120"/>
              </a:rPr>
              <a:t>•</a:t>
            </a:r>
            <a:endParaRPr lang="en-US" sz="1600" dirty="0"/>
          </a:p>
        </p:txBody>
      </p:sp>
      <p:sp>
        <p:nvSpPr>
          <p:cNvPr id="9" name="Text 5"/>
          <p:cNvSpPr/>
          <p:nvPr/>
        </p:nvSpPr>
        <p:spPr>
          <a:xfrm>
            <a:off x="785813" y="2228850"/>
            <a:ext cx="2009180" cy="189309"/>
          </a:xfrm>
          <a:prstGeom prst="rect">
            <a:avLst/>
          </a:prstGeom>
          <a:noFill/>
          <a:ln/>
        </p:spPr>
        <p:txBody>
          <a:bodyPr wrap="none" lIns="0" tIns="0" rIns="0" bIns="0" rtlCol="0" anchor="t">
            <a:spAutoFit/>
          </a:bodyPr>
          <a:lstStyle/>
          <a:p>
            <a:pPr algn="l" indent="0" marL="0">
              <a:lnSpc>
                <a:spcPct val="120000"/>
              </a:lnSpc>
              <a:buNone/>
            </a:pPr>
            <a:r>
              <a:rPr lang="en-US" sz="1100" b="1" dirty="0">
                <a:solidFill>
                  <a:srgbClr val="000000"/>
                </a:solidFill>
                <a:latin typeface="Inter Bold" pitchFamily="34" charset="0"/>
                <a:ea typeface="Inter Bold" pitchFamily="34" charset="-122"/>
                <a:cs typeface="Inter Bold" pitchFamily="34" charset="-120"/>
              </a:rPr>
              <a:t>Fundamental Frequency (f</a:t>
            </a:r>
            <a:endParaRPr lang="en-US" sz="1100" dirty="0"/>
          </a:p>
        </p:txBody>
      </p:sp>
      <p:sp>
        <p:nvSpPr>
          <p:cNvPr id="10" name="Text 6"/>
          <p:cNvSpPr/>
          <p:nvPr/>
        </p:nvSpPr>
        <p:spPr>
          <a:xfrm>
            <a:off x="2794992" y="2287060"/>
            <a:ext cx="78581" cy="158948"/>
          </a:xfrm>
          <a:prstGeom prst="rect">
            <a:avLst/>
          </a:prstGeom>
          <a:noFill/>
          <a:ln/>
        </p:spPr>
        <p:txBody>
          <a:bodyPr wrap="none" lIns="0" tIns="0" rIns="0" bIns="0" rtlCol="0" anchor="t">
            <a:spAutoFit/>
          </a:bodyPr>
          <a:lstStyle/>
          <a:p>
            <a:pPr algn="l" indent="0" marL="0">
              <a:lnSpc>
                <a:spcPct val="120022"/>
              </a:lnSpc>
              <a:buNone/>
            </a:pPr>
            <a:r>
              <a:rPr lang="en-US" sz="900" b="1" baseline="-40000" dirty="0">
                <a:solidFill>
                  <a:srgbClr val="000000"/>
                </a:solidFill>
                <a:latin typeface="Inter Bold" pitchFamily="34" charset="0"/>
                <a:ea typeface="Inter Bold" pitchFamily="34" charset="-122"/>
                <a:cs typeface="Inter Bold" pitchFamily="34" charset="-120"/>
              </a:rPr>
              <a:t>e</a:t>
            </a:r>
            <a:endParaRPr lang="en-US" sz="900" dirty="0"/>
          </a:p>
        </p:txBody>
      </p:sp>
      <p:sp>
        <p:nvSpPr>
          <p:cNvPr id="11" name="Text 7"/>
          <p:cNvSpPr/>
          <p:nvPr/>
        </p:nvSpPr>
        <p:spPr>
          <a:xfrm>
            <a:off x="2873573" y="2228850"/>
            <a:ext cx="110728" cy="189309"/>
          </a:xfrm>
          <a:prstGeom prst="rect">
            <a:avLst/>
          </a:prstGeom>
          <a:noFill/>
          <a:ln/>
        </p:spPr>
        <p:txBody>
          <a:bodyPr wrap="none" lIns="0" tIns="0" rIns="0" bIns="0" rtlCol="0" anchor="t">
            <a:spAutoFit/>
          </a:bodyPr>
          <a:lstStyle/>
          <a:p>
            <a:pPr algn="l" indent="0" marL="0">
              <a:lnSpc>
                <a:spcPct val="120000"/>
              </a:lnSpc>
              <a:buNone/>
            </a:pPr>
            <a:r>
              <a:rPr lang="en-US" sz="1100" b="1" dirty="0">
                <a:solidFill>
                  <a:srgbClr val="000000"/>
                </a:solidFill>
                <a:latin typeface="Inter Bold" pitchFamily="34" charset="0"/>
                <a:ea typeface="Inter Bold" pitchFamily="34" charset="-122"/>
                <a:cs typeface="Inter Bold" pitchFamily="34" charset="-120"/>
              </a:rPr>
              <a:t>):</a:t>
            </a:r>
            <a:endParaRPr lang="en-US" sz="1100" dirty="0"/>
          </a:p>
        </p:txBody>
      </p:sp>
      <p:sp>
        <p:nvSpPr>
          <p:cNvPr id="12" name="Text 8"/>
          <p:cNvSpPr/>
          <p:nvPr/>
        </p:nvSpPr>
        <p:spPr>
          <a:xfrm>
            <a:off x="785813" y="2228850"/>
            <a:ext cx="3755827" cy="449303"/>
          </a:xfrm>
          <a:prstGeom prst="rect">
            <a:avLst/>
          </a:prstGeom>
          <a:noFill/>
          <a:ln/>
        </p:spPr>
        <p:txBody>
          <a:bodyPr wrap="square" lIns="0" tIns="0" rIns="0" bIns="0" rtlCol="0" anchor="t">
            <a:spAutoFit/>
          </a:bodyPr>
          <a:lstStyle/>
          <a:p>
            <a:pPr algn="l" indent="0" marL="0">
              <a:lnSpc>
                <a:spcPct val="120000"/>
              </a:lnSpc>
              <a:buNone/>
            </a:pPr>
            <a:r>
              <a:rPr lang="en-US" sz="1150" dirty="0">
                <a:solidFill>
                  <a:srgbClr val="000000"/>
                </a:solidFill>
                <a:latin typeface="Inter" pitchFamily="34" charset="0"/>
                <a:ea typeface="Inter" pitchFamily="34" charset="-122"/>
                <a:cs typeface="Inter" pitchFamily="34" charset="-120"/>
              </a:rPr>
              <a:t>Directly proportional to vehicle speed.</a:t>
            </a:r>
            <a:endParaRPr lang="en-US" sz="1150" dirty="0"/>
          </a:p>
        </p:txBody>
      </p:sp>
      <p:sp>
        <p:nvSpPr>
          <p:cNvPr id="13" name="Shape 9"/>
          <p:cNvSpPr/>
          <p:nvPr/>
        </p:nvSpPr>
        <p:spPr>
          <a:xfrm>
            <a:off x="785813" y="2787095"/>
            <a:ext cx="3786188" cy="500732"/>
          </a:xfrm>
          <a:prstGeom prst="rect">
            <a:avLst/>
          </a:prstGeom>
          <a:solidFill>
            <a:srgbClr val="F8F9FA"/>
          </a:solidFill>
          <a:ln/>
        </p:spPr>
      </p:sp>
      <p:sp>
        <p:nvSpPr>
          <p:cNvPr id="14" name="Shape 10"/>
          <p:cNvSpPr/>
          <p:nvPr/>
        </p:nvSpPr>
        <p:spPr>
          <a:xfrm>
            <a:off x="785813" y="2787095"/>
            <a:ext cx="42863" cy="500732"/>
          </a:xfrm>
          <a:prstGeom prst="rect">
            <a:avLst/>
          </a:prstGeom>
          <a:solidFill>
            <a:srgbClr val="2563EB"/>
          </a:solidFill>
          <a:ln/>
        </p:spPr>
      </p:sp>
      <p:sp>
        <p:nvSpPr>
          <p:cNvPr id="15" name="Text 11"/>
          <p:cNvSpPr/>
          <p:nvPr/>
        </p:nvSpPr>
        <p:spPr>
          <a:xfrm>
            <a:off x="1667145" y="2912111"/>
            <a:ext cx="55587" cy="221456"/>
          </a:xfrm>
          <a:prstGeom prst="rect">
            <a:avLst/>
          </a:prstGeom>
          <a:noFill/>
          <a:ln/>
        </p:spPr>
        <p:txBody>
          <a:bodyPr wrap="none" lIns="0" tIns="0" rIns="0" bIns="0" rtlCol="0" anchor="t">
            <a:spAutoFit/>
          </a:bodyPr>
          <a:lstStyle/>
          <a:p>
            <a:pPr algn="ctr" indent="0" marL="0">
              <a:lnSpc>
                <a:spcPct val="120000"/>
              </a:lnSpc>
              <a:buNone/>
            </a:pPr>
            <a:r>
              <a:rPr lang="en-US" sz="1500" i="1" dirty="0">
                <a:solidFill>
                  <a:srgbClr val="000000"/>
                </a:solidFill>
                <a:latin typeface="Times New Roman" pitchFamily="34" charset="0"/>
                <a:ea typeface="Times New Roman" pitchFamily="34" charset="-122"/>
                <a:cs typeface="Times New Roman" pitchFamily="34" charset="-120"/>
              </a:rPr>
              <a:t>f</a:t>
            </a:r>
            <a:endParaRPr lang="en-US" sz="1500" dirty="0"/>
          </a:p>
        </p:txBody>
      </p:sp>
      <p:sp>
        <p:nvSpPr>
          <p:cNvPr id="16" name="Text 12"/>
          <p:cNvSpPr/>
          <p:nvPr/>
        </p:nvSpPr>
        <p:spPr>
          <a:xfrm>
            <a:off x="1722732" y="2984246"/>
            <a:ext cx="74005" cy="183952"/>
          </a:xfrm>
          <a:prstGeom prst="rect">
            <a:avLst/>
          </a:prstGeom>
          <a:noFill/>
          <a:ln/>
        </p:spPr>
        <p:txBody>
          <a:bodyPr wrap="none" lIns="0" tIns="0" rIns="0" bIns="0" rtlCol="0" anchor="t">
            <a:spAutoFit/>
          </a:bodyPr>
          <a:lstStyle/>
          <a:p>
            <a:pPr algn="ctr" indent="0" marL="0">
              <a:lnSpc>
                <a:spcPct val="120017"/>
              </a:lnSpc>
              <a:buNone/>
            </a:pPr>
            <a:r>
              <a:rPr lang="en-US" sz="1250" i="1" baseline="-40000" dirty="0">
                <a:solidFill>
                  <a:srgbClr val="000000"/>
                </a:solidFill>
                <a:latin typeface="Times New Roman" pitchFamily="34" charset="0"/>
                <a:ea typeface="Times New Roman" pitchFamily="34" charset="-122"/>
                <a:cs typeface="Times New Roman" pitchFamily="34" charset="-120"/>
              </a:rPr>
              <a:t>e</a:t>
            </a:r>
            <a:endParaRPr lang="en-US" sz="1250" dirty="0"/>
          </a:p>
        </p:txBody>
      </p:sp>
      <p:sp>
        <p:nvSpPr>
          <p:cNvPr id="17" name="Text 13"/>
          <p:cNvSpPr/>
          <p:nvPr/>
        </p:nvSpPr>
        <p:spPr>
          <a:xfrm>
            <a:off x="1796737" y="2912111"/>
            <a:ext cx="1893903" cy="221456"/>
          </a:xfrm>
          <a:prstGeom prst="rect">
            <a:avLst/>
          </a:prstGeom>
          <a:noFill/>
          <a:ln/>
        </p:spPr>
        <p:txBody>
          <a:bodyPr wrap="none" lIns="0" tIns="0" rIns="0" bIns="0" rtlCol="0" anchor="t">
            <a:spAutoFit/>
          </a:bodyPr>
          <a:lstStyle/>
          <a:p>
            <a:pPr algn="ctr" indent="0" marL="0">
              <a:lnSpc>
                <a:spcPct val="120000"/>
              </a:lnSpc>
              <a:buNone/>
            </a:pPr>
            <a:r>
              <a:rPr lang="en-US" sz="1500" i="1" dirty="0">
                <a:solidFill>
                  <a:srgbClr val="000000"/>
                </a:solidFill>
                <a:latin typeface="Times New Roman" pitchFamily="34" charset="0"/>
                <a:ea typeface="Times New Roman" pitchFamily="34" charset="-122"/>
                <a:cs typeface="Times New Roman" pitchFamily="34" charset="-120"/>
              </a:rPr>
              <a:t>= (v / r) × (G / 2π) × p</a:t>
            </a:r>
            <a:endParaRPr lang="en-US" sz="1500" dirty="0"/>
          </a:p>
        </p:txBody>
      </p:sp>
      <p:sp>
        <p:nvSpPr>
          <p:cNvPr id="18" name="Text 14"/>
          <p:cNvSpPr/>
          <p:nvPr/>
        </p:nvSpPr>
        <p:spPr>
          <a:xfrm>
            <a:off x="571500" y="3373552"/>
            <a:ext cx="4000500" cy="707231"/>
          </a:xfrm>
          <a:prstGeom prst="rect">
            <a:avLst/>
          </a:prstGeom>
          <a:noFill/>
          <a:ln/>
        </p:spPr>
        <p:txBody>
          <a:bodyPr wrap="square" lIns="255143" tIns="0" rIns="0" bIns="0" rtlCol="0" anchor="t">
            <a:spAutoFit/>
          </a:bodyPr>
          <a:lstStyle/>
          <a:p>
            <a:pPr algn="l" indent="0" marL="0">
              <a:lnSpc>
                <a:spcPct val="120000"/>
              </a:lnSpc>
              <a:buNone/>
            </a:pPr>
            <a:r>
              <a:rPr lang="en-US" sz="1100" b="1" dirty="0">
                <a:solidFill>
                  <a:srgbClr val="000000"/>
                </a:solidFill>
                <a:latin typeface="Inter Bold" pitchFamily="34" charset="0"/>
                <a:ea typeface="Inter Bold" pitchFamily="34" charset="-122"/>
                <a:cs typeface="Inter Bold" pitchFamily="34" charset="-120"/>
              </a:rPr>
              <a:t>Urban Driving (40 km/h):</a:t>
            </a:r>
            <a:r>
              <a:rPr lang="en-US" sz="1150" dirty="0">
                <a:solidFill>
                  <a:srgbClr val="000000"/>
                </a:solidFill>
                <a:latin typeface="Inter" pitchFamily="34" charset="0"/>
                <a:ea typeface="Inter" pitchFamily="34" charset="-122"/>
                <a:cs typeface="Inter" pitchFamily="34" charset="-120"/>
              </a:rPr>
              <a:t> Low frequency (184 Hz) but high phase current (136 A) for acceleration. Represents the highest current stress.</a:t>
            </a:r>
            <a:endParaRPr lang="en-US" sz="1100" dirty="0"/>
          </a:p>
        </p:txBody>
      </p:sp>
      <p:sp>
        <p:nvSpPr>
          <p:cNvPr id="19" name="Text 15"/>
          <p:cNvSpPr/>
          <p:nvPr/>
        </p:nvSpPr>
        <p:spPr>
          <a:xfrm>
            <a:off x="571500" y="4166508"/>
            <a:ext cx="4000500" cy="707231"/>
          </a:xfrm>
          <a:prstGeom prst="rect">
            <a:avLst/>
          </a:prstGeom>
          <a:noFill/>
          <a:ln/>
        </p:spPr>
        <p:txBody>
          <a:bodyPr wrap="square" lIns="255143" tIns="0" rIns="0" bIns="0" rtlCol="0" anchor="t">
            <a:spAutoFit/>
          </a:bodyPr>
          <a:lstStyle/>
          <a:p>
            <a:pPr algn="l" indent="0" marL="0">
              <a:lnSpc>
                <a:spcPct val="120000"/>
              </a:lnSpc>
              <a:buNone/>
            </a:pPr>
            <a:r>
              <a:rPr lang="en-US" sz="1100" b="1" dirty="0">
                <a:solidFill>
                  <a:srgbClr val="000000"/>
                </a:solidFill>
                <a:latin typeface="Inter Bold" pitchFamily="34" charset="0"/>
                <a:ea typeface="Inter Bold" pitchFamily="34" charset="-122"/>
                <a:cs typeface="Inter Bold" pitchFamily="34" charset="-120"/>
              </a:rPr>
              <a:t>Highway Cruising (120 km/h):</a:t>
            </a:r>
            <a:r>
              <a:rPr lang="en-US" sz="1150" dirty="0">
                <a:solidFill>
                  <a:srgbClr val="000000"/>
                </a:solidFill>
                <a:latin typeface="Inter" pitchFamily="34" charset="0"/>
                <a:ea typeface="Inter" pitchFamily="34" charset="-122"/>
                <a:cs typeface="Inter" pitchFamily="34" charset="-120"/>
              </a:rPr>
              <a:t> High frequency (552 Hz) but significantly lower sustained current (51 A) due to increased load impedance.</a:t>
            </a:r>
            <a:endParaRPr lang="en-US" sz="1100" dirty="0"/>
          </a:p>
        </p:txBody>
      </p:sp>
      <p:sp>
        <p:nvSpPr>
          <p:cNvPr id="20" name="Text 16"/>
          <p:cNvSpPr/>
          <p:nvPr/>
        </p:nvSpPr>
        <p:spPr>
          <a:xfrm>
            <a:off x="571500" y="3344977"/>
            <a:ext cx="121444" cy="321469"/>
          </a:xfrm>
          <a:prstGeom prst="rect">
            <a:avLst/>
          </a:prstGeom>
          <a:noFill/>
          <a:ln/>
        </p:spPr>
        <p:txBody>
          <a:bodyPr wrap="none" lIns="0" tIns="0" rIns="0" bIns="0" rtlCol="0" anchor="t">
            <a:spAutoFit/>
          </a:bodyPr>
          <a:lstStyle/>
          <a:p>
            <a:pPr algn="l" indent="0" marL="0">
              <a:lnSpc>
                <a:spcPct val="120000"/>
              </a:lnSpc>
              <a:buNone/>
            </a:pPr>
            <a:r>
              <a:rPr lang="en-US" sz="1600" dirty="0">
                <a:solidFill>
                  <a:srgbClr val="2563EB"/>
                </a:solidFill>
                <a:latin typeface="Inter" pitchFamily="34" charset="0"/>
                <a:ea typeface="Inter" pitchFamily="34" charset="-122"/>
                <a:cs typeface="Inter" pitchFamily="34" charset="-120"/>
              </a:rPr>
              <a:t>•</a:t>
            </a:r>
            <a:endParaRPr lang="en-US" sz="1600" dirty="0"/>
          </a:p>
        </p:txBody>
      </p:sp>
      <p:sp>
        <p:nvSpPr>
          <p:cNvPr id="21" name="Text 17"/>
          <p:cNvSpPr/>
          <p:nvPr/>
        </p:nvSpPr>
        <p:spPr>
          <a:xfrm>
            <a:off x="571500" y="4137933"/>
            <a:ext cx="121444" cy="321469"/>
          </a:xfrm>
          <a:prstGeom prst="rect">
            <a:avLst/>
          </a:prstGeom>
          <a:noFill/>
          <a:ln/>
        </p:spPr>
        <p:txBody>
          <a:bodyPr wrap="none" lIns="0" tIns="0" rIns="0" bIns="0" rtlCol="0" anchor="t">
            <a:spAutoFit/>
          </a:bodyPr>
          <a:lstStyle/>
          <a:p>
            <a:pPr algn="l" indent="0" marL="0">
              <a:lnSpc>
                <a:spcPct val="120000"/>
              </a:lnSpc>
              <a:buNone/>
            </a:pPr>
            <a:r>
              <a:rPr lang="en-US" sz="1600" dirty="0">
                <a:solidFill>
                  <a:srgbClr val="2563EB"/>
                </a:solidFill>
                <a:latin typeface="Inter" pitchFamily="34" charset="0"/>
                <a:ea typeface="Inter" pitchFamily="34" charset="-122"/>
                <a:cs typeface="Inter" pitchFamily="34" charset="-120"/>
              </a:rPr>
              <a:t>•</a:t>
            </a:r>
            <a:endParaRPr lang="en-US" sz="1600" dirty="0"/>
          </a:p>
        </p:txBody>
      </p:sp>
      <p:pic>
        <p:nvPicPr>
          <p:cNvPr id="22" name="Image 1" descr="preencoded.png">    </p:cNvPr>
          <p:cNvPicPr>
            <a:picLocks noChangeAspect="1"/>
          </p:cNvPicPr>
          <p:nvPr/>
        </p:nvPicPr>
        <p:blipFill>
          <a:blip r:embed="rId2"/>
          <a:stretch>
            <a:fillRect/>
          </a:stretch>
        </p:blipFill>
        <p:spPr>
          <a:xfrm>
            <a:off x="5000625" y="1614041"/>
            <a:ext cx="3571875" cy="2283293"/>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571500" y="285750"/>
            <a:ext cx="1794867" cy="121444"/>
          </a:xfrm>
          <a:prstGeom prst="rect">
            <a:avLst/>
          </a:prstGeom>
          <a:noFill/>
          <a:ln/>
        </p:spPr>
        <p:txBody>
          <a:bodyPr wrap="square" lIns="0" tIns="0" rIns="0" bIns="0" rtlCol="0" anchor="t">
            <a:spAutoFit/>
          </a:bodyPr>
          <a:lstStyle/>
          <a:p>
            <a:pPr algn="l" indent="0" marL="0">
              <a:buNone/>
            </a:pPr>
            <a:r>
              <a:rPr lang="en-US" sz="700" b="1" spc="1" kern="0" dirty="0">
                <a:solidFill>
                  <a:srgbClr val="2563EB"/>
                </a:solidFill>
                <a:latin typeface="Inter Bold" pitchFamily="34" charset="0"/>
                <a:ea typeface="Inter Bold" pitchFamily="34" charset="-122"/>
                <a:cs typeface="Inter Bold" pitchFamily="34" charset="-120"/>
              </a:rPr>
              <a:t>ECE 595 — PURDUE UNIVERSITY</a:t>
            </a:r>
            <a:endParaRPr lang="en-US" sz="700" dirty="0"/>
          </a:p>
        </p:txBody>
      </p:sp>
      <p:sp>
        <p:nvSpPr>
          <p:cNvPr id="5" name="Text 1"/>
          <p:cNvSpPr/>
          <p:nvPr/>
        </p:nvSpPr>
        <p:spPr>
          <a:xfrm>
            <a:off x="571500" y="714375"/>
            <a:ext cx="3055739" cy="412552"/>
          </a:xfrm>
          <a:prstGeom prst="rect">
            <a:avLst/>
          </a:prstGeom>
          <a:noFill/>
          <a:ln/>
        </p:spPr>
        <p:txBody>
          <a:bodyPr wrap="square" lIns="0" tIns="0" rIns="0" bIns="85090" rtlCol="0" anchor="t">
            <a:spAutoFit/>
          </a:bodyPr>
          <a:lstStyle/>
          <a:p>
            <a:pPr algn="l" indent="0" marL="0">
              <a:buNone/>
            </a:pPr>
            <a:r>
              <a:rPr lang="en-US" sz="1800" b="1" dirty="0">
                <a:solidFill>
                  <a:srgbClr val="000000"/>
                </a:solidFill>
                <a:latin typeface="Inter Bold" pitchFamily="34" charset="0"/>
                <a:ea typeface="Inter Bold" pitchFamily="34" charset="-122"/>
                <a:cs typeface="Inter Bold" pitchFamily="34" charset="-120"/>
              </a:rPr>
              <a:t>Switching Loss Analysis</a:t>
            </a:r>
            <a:endParaRPr lang="en-US" sz="1800" dirty="0"/>
          </a:p>
        </p:txBody>
      </p:sp>
      <p:sp>
        <p:nvSpPr>
          <p:cNvPr id="6" name="Shape 2"/>
          <p:cNvSpPr/>
          <p:nvPr/>
        </p:nvSpPr>
        <p:spPr>
          <a:xfrm>
            <a:off x="571500" y="1269802"/>
            <a:ext cx="4143375" cy="629320"/>
          </a:xfrm>
          <a:prstGeom prst="rect">
            <a:avLst/>
          </a:prstGeom>
          <a:solidFill>
            <a:srgbClr val="F8F9FA"/>
          </a:solidFill>
          <a:ln/>
        </p:spPr>
      </p:sp>
      <p:sp>
        <p:nvSpPr>
          <p:cNvPr id="7" name="Shape 3"/>
          <p:cNvSpPr/>
          <p:nvPr/>
        </p:nvSpPr>
        <p:spPr>
          <a:xfrm>
            <a:off x="571500" y="1269802"/>
            <a:ext cx="42863" cy="629320"/>
          </a:xfrm>
          <a:prstGeom prst="rect">
            <a:avLst/>
          </a:prstGeom>
          <a:solidFill>
            <a:srgbClr val="2563EB"/>
          </a:solidFill>
          <a:ln/>
        </p:spPr>
      </p:sp>
      <p:sp>
        <p:nvSpPr>
          <p:cNvPr id="8" name="Text 4"/>
          <p:cNvSpPr/>
          <p:nvPr/>
        </p:nvSpPr>
        <p:spPr>
          <a:xfrm>
            <a:off x="786929" y="1359098"/>
            <a:ext cx="104728" cy="191095"/>
          </a:xfrm>
          <a:prstGeom prst="rect">
            <a:avLst/>
          </a:prstGeom>
          <a:noFill/>
          <a:ln/>
        </p:spPr>
        <p:txBody>
          <a:bodyPr wrap="none" lIns="0" tIns="0" rIns="0" bIns="0" rtlCol="0" anchor="t">
            <a:spAutoFit/>
          </a:bodyPr>
          <a:lstStyle/>
          <a:p>
            <a:pPr algn="ctr" indent="0" marL="0">
              <a:buNone/>
            </a:pPr>
            <a:r>
              <a:rPr lang="en-US" sz="1250" i="1" dirty="0">
                <a:solidFill>
                  <a:srgbClr val="000000"/>
                </a:solidFill>
                <a:latin typeface="Times New Roman" pitchFamily="34" charset="0"/>
                <a:ea typeface="Times New Roman" pitchFamily="34" charset="-122"/>
                <a:cs typeface="Times New Roman" pitchFamily="34" charset="-120"/>
              </a:rPr>
              <a:t>P</a:t>
            </a:r>
            <a:endParaRPr lang="en-US" sz="1250" dirty="0"/>
          </a:p>
        </p:txBody>
      </p:sp>
      <p:sp>
        <p:nvSpPr>
          <p:cNvPr id="9" name="Text 5"/>
          <p:cNvSpPr/>
          <p:nvPr/>
        </p:nvSpPr>
        <p:spPr>
          <a:xfrm>
            <a:off x="891657" y="1423727"/>
            <a:ext cx="150912" cy="157163"/>
          </a:xfrm>
          <a:prstGeom prst="rect">
            <a:avLst/>
          </a:prstGeom>
          <a:noFill/>
          <a:ln/>
        </p:spPr>
        <p:txBody>
          <a:bodyPr wrap="none" lIns="0" tIns="0" rIns="0" bIns="0" rtlCol="0" anchor="t">
            <a:spAutoFit/>
          </a:bodyPr>
          <a:lstStyle/>
          <a:p>
            <a:pPr algn="ctr" indent="0" marL="0">
              <a:buNone/>
            </a:pPr>
            <a:r>
              <a:rPr lang="en-US" sz="1050" i="1" baseline="-40000" dirty="0">
                <a:solidFill>
                  <a:srgbClr val="000000"/>
                </a:solidFill>
                <a:latin typeface="Times New Roman" pitchFamily="34" charset="0"/>
                <a:ea typeface="Times New Roman" pitchFamily="34" charset="-122"/>
                <a:cs typeface="Times New Roman" pitchFamily="34" charset="-120"/>
              </a:rPr>
              <a:t>sw</a:t>
            </a:r>
            <a:endParaRPr lang="en-US" sz="1050" dirty="0"/>
          </a:p>
        </p:txBody>
      </p:sp>
      <p:sp>
        <p:nvSpPr>
          <p:cNvPr id="10" name="Text 6"/>
          <p:cNvSpPr/>
          <p:nvPr/>
        </p:nvSpPr>
        <p:spPr>
          <a:xfrm>
            <a:off x="1042569" y="1359098"/>
            <a:ext cx="315776" cy="191095"/>
          </a:xfrm>
          <a:prstGeom prst="rect">
            <a:avLst/>
          </a:prstGeom>
          <a:noFill/>
          <a:ln/>
        </p:spPr>
        <p:txBody>
          <a:bodyPr wrap="none" lIns="0" tIns="0" rIns="0" bIns="0" rtlCol="0" anchor="t">
            <a:spAutoFit/>
          </a:bodyPr>
          <a:lstStyle/>
          <a:p>
            <a:pPr algn="ctr" indent="0" marL="0">
              <a:buNone/>
            </a:pPr>
            <a:r>
              <a:rPr lang="en-US" sz="1250" i="1" dirty="0">
                <a:solidFill>
                  <a:srgbClr val="000000"/>
                </a:solidFill>
                <a:latin typeface="Times New Roman" pitchFamily="34" charset="0"/>
                <a:ea typeface="Times New Roman" pitchFamily="34" charset="-122"/>
                <a:cs typeface="Times New Roman" pitchFamily="34" charset="-120"/>
              </a:rPr>
              <a:t>= N</a:t>
            </a:r>
            <a:endParaRPr lang="en-US" sz="1250" dirty="0"/>
          </a:p>
        </p:txBody>
      </p:sp>
      <p:sp>
        <p:nvSpPr>
          <p:cNvPr id="11" name="Text 7"/>
          <p:cNvSpPr/>
          <p:nvPr/>
        </p:nvSpPr>
        <p:spPr>
          <a:xfrm>
            <a:off x="1358345" y="1423727"/>
            <a:ext cx="63429" cy="157163"/>
          </a:xfrm>
          <a:prstGeom prst="rect">
            <a:avLst/>
          </a:prstGeom>
          <a:noFill/>
          <a:ln/>
        </p:spPr>
        <p:txBody>
          <a:bodyPr wrap="none" lIns="0" tIns="0" rIns="0" bIns="0" rtlCol="0" anchor="t">
            <a:spAutoFit/>
          </a:bodyPr>
          <a:lstStyle/>
          <a:p>
            <a:pPr algn="ctr" indent="0" marL="0">
              <a:buNone/>
            </a:pPr>
            <a:r>
              <a:rPr lang="en-US" sz="1050" i="1" baseline="-40000" dirty="0">
                <a:solidFill>
                  <a:srgbClr val="000000"/>
                </a:solidFill>
                <a:latin typeface="Times New Roman" pitchFamily="34" charset="0"/>
                <a:ea typeface="Times New Roman" pitchFamily="34" charset="-122"/>
                <a:cs typeface="Times New Roman" pitchFamily="34" charset="-120"/>
              </a:rPr>
              <a:t>c</a:t>
            </a:r>
            <a:endParaRPr lang="en-US" sz="1050" dirty="0"/>
          </a:p>
        </p:txBody>
      </p:sp>
      <p:sp>
        <p:nvSpPr>
          <p:cNvPr id="12" name="Text 8"/>
          <p:cNvSpPr/>
          <p:nvPr/>
        </p:nvSpPr>
        <p:spPr>
          <a:xfrm>
            <a:off x="1421774" y="1359098"/>
            <a:ext cx="306149" cy="191095"/>
          </a:xfrm>
          <a:prstGeom prst="rect">
            <a:avLst/>
          </a:prstGeom>
          <a:noFill/>
          <a:ln/>
        </p:spPr>
        <p:txBody>
          <a:bodyPr wrap="none" lIns="0" tIns="0" rIns="0" bIns="0" rtlCol="0" anchor="t">
            <a:spAutoFit/>
          </a:bodyPr>
          <a:lstStyle/>
          <a:p>
            <a:pPr algn="ctr" indent="0" marL="0">
              <a:buNone/>
            </a:pPr>
            <a:r>
              <a:rPr lang="en-US" sz="1250" i="1" dirty="0">
                <a:solidFill>
                  <a:srgbClr val="000000"/>
                </a:solidFill>
                <a:latin typeface="Times New Roman" pitchFamily="34" charset="0"/>
                <a:ea typeface="Times New Roman" pitchFamily="34" charset="-122"/>
                <a:cs typeface="Times New Roman" pitchFamily="34" charset="-120"/>
              </a:rPr>
              <a:t>× (f</a:t>
            </a:r>
            <a:endParaRPr lang="en-US" sz="1250" dirty="0"/>
          </a:p>
        </p:txBody>
      </p:sp>
      <p:sp>
        <p:nvSpPr>
          <p:cNvPr id="13" name="Text 9"/>
          <p:cNvSpPr/>
          <p:nvPr/>
        </p:nvSpPr>
        <p:spPr>
          <a:xfrm>
            <a:off x="1727922" y="1423727"/>
            <a:ext cx="150912" cy="157163"/>
          </a:xfrm>
          <a:prstGeom prst="rect">
            <a:avLst/>
          </a:prstGeom>
          <a:noFill/>
          <a:ln/>
        </p:spPr>
        <p:txBody>
          <a:bodyPr wrap="none" lIns="0" tIns="0" rIns="0" bIns="0" rtlCol="0" anchor="t">
            <a:spAutoFit/>
          </a:bodyPr>
          <a:lstStyle/>
          <a:p>
            <a:pPr algn="ctr" indent="0" marL="0">
              <a:buNone/>
            </a:pPr>
            <a:r>
              <a:rPr lang="en-US" sz="1050" i="1" baseline="-40000" dirty="0">
                <a:solidFill>
                  <a:srgbClr val="000000"/>
                </a:solidFill>
                <a:latin typeface="Times New Roman" pitchFamily="34" charset="0"/>
                <a:ea typeface="Times New Roman" pitchFamily="34" charset="-122"/>
                <a:cs typeface="Times New Roman" pitchFamily="34" charset="-120"/>
              </a:rPr>
              <a:t>sw</a:t>
            </a:r>
            <a:endParaRPr lang="en-US" sz="1050" dirty="0"/>
          </a:p>
        </p:txBody>
      </p:sp>
      <p:sp>
        <p:nvSpPr>
          <p:cNvPr id="14" name="Text 10"/>
          <p:cNvSpPr/>
          <p:nvPr/>
        </p:nvSpPr>
        <p:spPr>
          <a:xfrm>
            <a:off x="1878834" y="1359098"/>
            <a:ext cx="582495" cy="191095"/>
          </a:xfrm>
          <a:prstGeom prst="rect">
            <a:avLst/>
          </a:prstGeom>
          <a:noFill/>
          <a:ln/>
        </p:spPr>
        <p:txBody>
          <a:bodyPr wrap="none" lIns="0" tIns="0" rIns="0" bIns="0" rtlCol="0" anchor="t">
            <a:spAutoFit/>
          </a:bodyPr>
          <a:lstStyle/>
          <a:p>
            <a:pPr algn="ctr" indent="0" marL="0">
              <a:buNone/>
            </a:pPr>
            <a:r>
              <a:rPr lang="en-US" sz="1250" i="1" dirty="0">
                <a:solidFill>
                  <a:srgbClr val="000000"/>
                </a:solidFill>
                <a:latin typeface="Times New Roman" pitchFamily="34" charset="0"/>
                <a:ea typeface="Times New Roman" pitchFamily="34" charset="-122"/>
                <a:cs typeface="Times New Roman" pitchFamily="34" charset="-120"/>
              </a:rPr>
              <a:t>/ π) × E</a:t>
            </a:r>
            <a:endParaRPr lang="en-US" sz="1250" dirty="0"/>
          </a:p>
        </p:txBody>
      </p:sp>
      <p:sp>
        <p:nvSpPr>
          <p:cNvPr id="15" name="Text 11"/>
          <p:cNvSpPr/>
          <p:nvPr/>
        </p:nvSpPr>
        <p:spPr>
          <a:xfrm>
            <a:off x="2461329" y="1423727"/>
            <a:ext cx="375745" cy="157163"/>
          </a:xfrm>
          <a:prstGeom prst="rect">
            <a:avLst/>
          </a:prstGeom>
          <a:noFill/>
          <a:ln/>
        </p:spPr>
        <p:txBody>
          <a:bodyPr wrap="none" lIns="0" tIns="0" rIns="0" bIns="0" rtlCol="0" anchor="t">
            <a:spAutoFit/>
          </a:bodyPr>
          <a:lstStyle/>
          <a:p>
            <a:pPr algn="ctr" indent="0" marL="0">
              <a:buNone/>
            </a:pPr>
            <a:r>
              <a:rPr lang="en-US" sz="1050" i="1" baseline="-40000" dirty="0">
                <a:solidFill>
                  <a:srgbClr val="000000"/>
                </a:solidFill>
                <a:latin typeface="Times New Roman" pitchFamily="34" charset="0"/>
                <a:ea typeface="Times New Roman" pitchFamily="34" charset="-122"/>
                <a:cs typeface="Times New Roman" pitchFamily="34" charset="-120"/>
              </a:rPr>
              <a:t>sw_ref</a:t>
            </a:r>
            <a:endParaRPr lang="en-US" sz="1050" dirty="0"/>
          </a:p>
        </p:txBody>
      </p:sp>
      <p:sp>
        <p:nvSpPr>
          <p:cNvPr id="16" name="Text 12"/>
          <p:cNvSpPr/>
          <p:nvPr/>
        </p:nvSpPr>
        <p:spPr>
          <a:xfrm>
            <a:off x="2837073" y="1359098"/>
            <a:ext cx="315609" cy="191095"/>
          </a:xfrm>
          <a:prstGeom prst="rect">
            <a:avLst/>
          </a:prstGeom>
          <a:noFill/>
          <a:ln/>
        </p:spPr>
        <p:txBody>
          <a:bodyPr wrap="none" lIns="0" tIns="0" rIns="0" bIns="0" rtlCol="0" anchor="t">
            <a:spAutoFit/>
          </a:bodyPr>
          <a:lstStyle/>
          <a:p>
            <a:pPr algn="ctr" indent="0" marL="0">
              <a:buNone/>
            </a:pPr>
            <a:r>
              <a:rPr lang="en-US" sz="1250" i="1" dirty="0">
                <a:solidFill>
                  <a:srgbClr val="000000"/>
                </a:solidFill>
                <a:latin typeface="Times New Roman" pitchFamily="34" charset="0"/>
                <a:ea typeface="Times New Roman" pitchFamily="34" charset="-122"/>
                <a:cs typeface="Times New Roman" pitchFamily="34" charset="-120"/>
              </a:rPr>
              <a:t>× (I</a:t>
            </a:r>
            <a:endParaRPr lang="en-US" sz="1250" dirty="0"/>
          </a:p>
        </p:txBody>
      </p:sp>
      <p:sp>
        <p:nvSpPr>
          <p:cNvPr id="17" name="Text 13"/>
          <p:cNvSpPr/>
          <p:nvPr/>
        </p:nvSpPr>
        <p:spPr>
          <a:xfrm>
            <a:off x="3152682" y="1423727"/>
            <a:ext cx="134866" cy="157163"/>
          </a:xfrm>
          <a:prstGeom prst="rect">
            <a:avLst/>
          </a:prstGeom>
          <a:noFill/>
          <a:ln/>
        </p:spPr>
        <p:txBody>
          <a:bodyPr wrap="none" lIns="0" tIns="0" rIns="0" bIns="0" rtlCol="0" anchor="t">
            <a:spAutoFit/>
          </a:bodyPr>
          <a:lstStyle/>
          <a:p>
            <a:pPr algn="ctr" indent="0" marL="0">
              <a:buNone/>
            </a:pPr>
            <a:r>
              <a:rPr lang="en-US" sz="1050" i="1" baseline="-40000" dirty="0">
                <a:solidFill>
                  <a:srgbClr val="000000"/>
                </a:solidFill>
                <a:latin typeface="Times New Roman" pitchFamily="34" charset="0"/>
                <a:ea typeface="Times New Roman" pitchFamily="34" charset="-122"/>
                <a:cs typeface="Times New Roman" pitchFamily="34" charset="-120"/>
              </a:rPr>
              <a:t>pk</a:t>
            </a:r>
            <a:endParaRPr lang="en-US" sz="1050" dirty="0"/>
          </a:p>
        </p:txBody>
      </p:sp>
      <p:sp>
        <p:nvSpPr>
          <p:cNvPr id="18" name="Text 14"/>
          <p:cNvSpPr/>
          <p:nvPr/>
        </p:nvSpPr>
        <p:spPr>
          <a:xfrm>
            <a:off x="3287548" y="1359098"/>
            <a:ext cx="190453" cy="191095"/>
          </a:xfrm>
          <a:prstGeom prst="rect">
            <a:avLst/>
          </a:prstGeom>
          <a:noFill/>
          <a:ln/>
        </p:spPr>
        <p:txBody>
          <a:bodyPr wrap="none" lIns="0" tIns="0" rIns="0" bIns="0" rtlCol="0" anchor="t">
            <a:spAutoFit/>
          </a:bodyPr>
          <a:lstStyle/>
          <a:p>
            <a:pPr algn="ctr" indent="0" marL="0">
              <a:buNone/>
            </a:pPr>
            <a:r>
              <a:rPr lang="en-US" sz="1250" i="1" dirty="0">
                <a:solidFill>
                  <a:srgbClr val="000000"/>
                </a:solidFill>
                <a:latin typeface="Times New Roman" pitchFamily="34" charset="0"/>
                <a:ea typeface="Times New Roman" pitchFamily="34" charset="-122"/>
                <a:cs typeface="Times New Roman" pitchFamily="34" charset="-120"/>
              </a:rPr>
              <a:t>/ I</a:t>
            </a:r>
            <a:endParaRPr lang="en-US" sz="1250" dirty="0"/>
          </a:p>
        </p:txBody>
      </p:sp>
      <p:sp>
        <p:nvSpPr>
          <p:cNvPr id="19" name="Text 15"/>
          <p:cNvSpPr/>
          <p:nvPr/>
        </p:nvSpPr>
        <p:spPr>
          <a:xfrm>
            <a:off x="3478002" y="1423727"/>
            <a:ext cx="153423" cy="157163"/>
          </a:xfrm>
          <a:prstGeom prst="rect">
            <a:avLst/>
          </a:prstGeom>
          <a:noFill/>
          <a:ln/>
        </p:spPr>
        <p:txBody>
          <a:bodyPr wrap="none" lIns="0" tIns="0" rIns="0" bIns="0" rtlCol="0" anchor="t">
            <a:spAutoFit/>
          </a:bodyPr>
          <a:lstStyle/>
          <a:p>
            <a:pPr algn="ctr" indent="0" marL="0">
              <a:buNone/>
            </a:pPr>
            <a:r>
              <a:rPr lang="en-US" sz="1050" i="1" baseline="-40000" dirty="0">
                <a:solidFill>
                  <a:srgbClr val="000000"/>
                </a:solidFill>
                <a:latin typeface="Times New Roman" pitchFamily="34" charset="0"/>
                <a:ea typeface="Times New Roman" pitchFamily="34" charset="-122"/>
                <a:cs typeface="Times New Roman" pitchFamily="34" charset="-120"/>
              </a:rPr>
              <a:t>ref</a:t>
            </a:r>
            <a:endParaRPr lang="en-US" sz="1050" dirty="0"/>
          </a:p>
        </p:txBody>
      </p:sp>
      <p:sp>
        <p:nvSpPr>
          <p:cNvPr id="20" name="Text 16"/>
          <p:cNvSpPr/>
          <p:nvPr/>
        </p:nvSpPr>
        <p:spPr>
          <a:xfrm>
            <a:off x="3631425" y="1359098"/>
            <a:ext cx="420337" cy="191095"/>
          </a:xfrm>
          <a:prstGeom prst="rect">
            <a:avLst/>
          </a:prstGeom>
          <a:noFill/>
          <a:ln/>
        </p:spPr>
        <p:txBody>
          <a:bodyPr wrap="none" lIns="0" tIns="0" rIns="0" bIns="0" rtlCol="0" anchor="t">
            <a:spAutoFit/>
          </a:bodyPr>
          <a:lstStyle/>
          <a:p>
            <a:pPr algn="ctr" indent="0" marL="0">
              <a:buNone/>
            </a:pPr>
            <a:r>
              <a:rPr lang="en-US" sz="1250" i="1" dirty="0">
                <a:solidFill>
                  <a:srgbClr val="000000"/>
                </a:solidFill>
                <a:latin typeface="Times New Roman" pitchFamily="34" charset="0"/>
                <a:ea typeface="Times New Roman" pitchFamily="34" charset="-122"/>
                <a:cs typeface="Times New Roman" pitchFamily="34" charset="-120"/>
              </a:rPr>
              <a:t>) × (V</a:t>
            </a:r>
            <a:endParaRPr lang="en-US" sz="1250" dirty="0"/>
          </a:p>
        </p:txBody>
      </p:sp>
      <p:sp>
        <p:nvSpPr>
          <p:cNvPr id="21" name="Text 17"/>
          <p:cNvSpPr/>
          <p:nvPr/>
        </p:nvSpPr>
        <p:spPr>
          <a:xfrm>
            <a:off x="4051762" y="1423727"/>
            <a:ext cx="357188" cy="157163"/>
          </a:xfrm>
          <a:prstGeom prst="rect">
            <a:avLst/>
          </a:prstGeom>
          <a:noFill/>
          <a:ln/>
        </p:spPr>
        <p:txBody>
          <a:bodyPr wrap="none" lIns="0" tIns="0" rIns="0" bIns="0" rtlCol="0" anchor="t">
            <a:spAutoFit/>
          </a:bodyPr>
          <a:lstStyle/>
          <a:p>
            <a:pPr algn="ctr" indent="0" marL="0">
              <a:buNone/>
            </a:pPr>
            <a:r>
              <a:rPr lang="en-US" sz="1050" i="1" baseline="-40000" dirty="0">
                <a:solidFill>
                  <a:srgbClr val="000000"/>
                </a:solidFill>
                <a:latin typeface="Times New Roman" pitchFamily="34" charset="0"/>
                <a:ea typeface="Times New Roman" pitchFamily="34" charset="-122"/>
                <a:cs typeface="Times New Roman" pitchFamily="34" charset="-120"/>
              </a:rPr>
              <a:t>dc_sw</a:t>
            </a:r>
            <a:endParaRPr lang="en-US" sz="1050" dirty="0"/>
          </a:p>
        </p:txBody>
      </p:sp>
      <p:sp>
        <p:nvSpPr>
          <p:cNvPr id="22" name="Text 18"/>
          <p:cNvSpPr/>
          <p:nvPr/>
        </p:nvSpPr>
        <p:spPr>
          <a:xfrm>
            <a:off x="4408949" y="1359098"/>
            <a:ext cx="90497" cy="191095"/>
          </a:xfrm>
          <a:prstGeom prst="rect">
            <a:avLst/>
          </a:prstGeom>
          <a:noFill/>
          <a:ln/>
        </p:spPr>
        <p:txBody>
          <a:bodyPr wrap="none" lIns="0" tIns="0" rIns="0" bIns="0" rtlCol="0" anchor="t">
            <a:spAutoFit/>
          </a:bodyPr>
          <a:lstStyle/>
          <a:p>
            <a:pPr algn="ctr" indent="0" marL="0">
              <a:buNone/>
            </a:pPr>
            <a:r>
              <a:rPr lang="en-US" sz="1250" i="1" dirty="0">
                <a:solidFill>
                  <a:srgbClr val="000000"/>
                </a:solidFill>
                <a:latin typeface="Times New Roman" pitchFamily="34" charset="0"/>
                <a:ea typeface="Times New Roman" pitchFamily="34" charset="-122"/>
                <a:cs typeface="Times New Roman" pitchFamily="34" charset="-120"/>
              </a:rPr>
              <a:t>/</a:t>
            </a:r>
            <a:endParaRPr lang="en-US" sz="1250" dirty="0"/>
          </a:p>
        </p:txBody>
      </p:sp>
      <p:sp>
        <p:nvSpPr>
          <p:cNvPr id="23" name="Text 19"/>
          <p:cNvSpPr/>
          <p:nvPr/>
        </p:nvSpPr>
        <p:spPr>
          <a:xfrm>
            <a:off x="2485551" y="1588033"/>
            <a:ext cx="104728" cy="191095"/>
          </a:xfrm>
          <a:prstGeom prst="rect">
            <a:avLst/>
          </a:prstGeom>
          <a:noFill/>
          <a:ln/>
        </p:spPr>
        <p:txBody>
          <a:bodyPr wrap="none" lIns="0" tIns="0" rIns="0" bIns="0" rtlCol="0" anchor="t">
            <a:spAutoFit/>
          </a:bodyPr>
          <a:lstStyle/>
          <a:p>
            <a:pPr algn="ctr" indent="0" marL="0">
              <a:buNone/>
            </a:pPr>
            <a:r>
              <a:rPr lang="en-US" sz="1250" i="1" dirty="0">
                <a:solidFill>
                  <a:srgbClr val="000000"/>
                </a:solidFill>
                <a:latin typeface="Times New Roman" pitchFamily="34" charset="0"/>
                <a:ea typeface="Times New Roman" pitchFamily="34" charset="-122"/>
                <a:cs typeface="Times New Roman" pitchFamily="34" charset="-120"/>
              </a:rPr>
              <a:t>V</a:t>
            </a:r>
            <a:endParaRPr lang="en-US" sz="1250" dirty="0"/>
          </a:p>
        </p:txBody>
      </p:sp>
      <p:sp>
        <p:nvSpPr>
          <p:cNvPr id="24" name="Text 20"/>
          <p:cNvSpPr/>
          <p:nvPr/>
        </p:nvSpPr>
        <p:spPr>
          <a:xfrm>
            <a:off x="2590279" y="1652662"/>
            <a:ext cx="153423" cy="157163"/>
          </a:xfrm>
          <a:prstGeom prst="rect">
            <a:avLst/>
          </a:prstGeom>
          <a:noFill/>
          <a:ln/>
        </p:spPr>
        <p:txBody>
          <a:bodyPr wrap="none" lIns="0" tIns="0" rIns="0" bIns="0" rtlCol="0" anchor="t">
            <a:spAutoFit/>
          </a:bodyPr>
          <a:lstStyle/>
          <a:p>
            <a:pPr algn="ctr" indent="0" marL="0">
              <a:buNone/>
            </a:pPr>
            <a:r>
              <a:rPr lang="en-US" sz="1050" i="1" baseline="-40000" dirty="0">
                <a:solidFill>
                  <a:srgbClr val="000000"/>
                </a:solidFill>
                <a:latin typeface="Times New Roman" pitchFamily="34" charset="0"/>
                <a:ea typeface="Times New Roman" pitchFamily="34" charset="-122"/>
                <a:cs typeface="Times New Roman" pitchFamily="34" charset="-120"/>
              </a:rPr>
              <a:t>ref</a:t>
            </a:r>
            <a:endParaRPr lang="en-US" sz="1050" dirty="0"/>
          </a:p>
        </p:txBody>
      </p:sp>
      <p:sp>
        <p:nvSpPr>
          <p:cNvPr id="25" name="Text 21"/>
          <p:cNvSpPr/>
          <p:nvPr/>
        </p:nvSpPr>
        <p:spPr>
          <a:xfrm>
            <a:off x="2743702" y="1588033"/>
            <a:ext cx="57094" cy="191095"/>
          </a:xfrm>
          <a:prstGeom prst="rect">
            <a:avLst/>
          </a:prstGeom>
          <a:noFill/>
          <a:ln/>
        </p:spPr>
        <p:txBody>
          <a:bodyPr wrap="none" lIns="0" tIns="0" rIns="0" bIns="0" rtlCol="0" anchor="t">
            <a:spAutoFit/>
          </a:bodyPr>
          <a:lstStyle/>
          <a:p>
            <a:pPr algn="ctr" indent="0" marL="0">
              <a:buNone/>
            </a:pPr>
            <a:r>
              <a:rPr lang="en-US" sz="1250" i="1" dirty="0">
                <a:solidFill>
                  <a:srgbClr val="000000"/>
                </a:solidFill>
                <a:latin typeface="Times New Roman" pitchFamily="34" charset="0"/>
                <a:ea typeface="Times New Roman" pitchFamily="34" charset="-122"/>
                <a:cs typeface="Times New Roman" pitchFamily="34" charset="-120"/>
              </a:rPr>
              <a:t>)</a:t>
            </a:r>
            <a:endParaRPr lang="en-US" sz="1250" dirty="0"/>
          </a:p>
        </p:txBody>
      </p:sp>
      <p:sp>
        <p:nvSpPr>
          <p:cNvPr id="26" name="Text 22"/>
          <p:cNvSpPr/>
          <p:nvPr/>
        </p:nvSpPr>
        <p:spPr>
          <a:xfrm>
            <a:off x="571500" y="1984846"/>
            <a:ext cx="4143375" cy="502909"/>
          </a:xfrm>
          <a:prstGeom prst="rect">
            <a:avLst/>
          </a:prstGeom>
          <a:noFill/>
          <a:ln/>
        </p:spPr>
        <p:txBody>
          <a:bodyPr wrap="square" lIns="255143" tIns="0" rIns="0" bIns="0" rtlCol="0" anchor="t">
            <a:spAutoFit/>
          </a:bodyPr>
          <a:lstStyle/>
          <a:p>
            <a:pPr algn="l" indent="0" marL="0">
              <a:lnSpc>
                <a:spcPct val="128000"/>
              </a:lnSpc>
              <a:buNone/>
            </a:pPr>
            <a:r>
              <a:rPr lang="en-US" sz="1100" b="1" dirty="0">
                <a:solidFill>
                  <a:srgbClr val="000000"/>
                </a:solidFill>
                <a:latin typeface="Inter Bold" pitchFamily="34" charset="0"/>
                <a:ea typeface="Inter Bold" pitchFamily="34" charset="-122"/>
                <a:cs typeface="Inter Bold" pitchFamily="34" charset="-120"/>
              </a:rPr>
              <a:t>Graovac-Purschel Method:</a:t>
            </a:r>
            <a:r>
              <a:rPr lang="en-US" sz="1150" dirty="0">
                <a:solidFill>
                  <a:srgbClr val="000000"/>
                </a:solidFill>
                <a:latin typeface="Inter" pitchFamily="34" charset="0"/>
                <a:ea typeface="Inter" pitchFamily="34" charset="-122"/>
                <a:cs typeface="Inter" pitchFamily="34" charset="-120"/>
              </a:rPr>
              <a:t> Analytical method to capture drive-frequency effects.</a:t>
            </a:r>
            <a:endParaRPr lang="en-US" sz="1100" dirty="0"/>
          </a:p>
        </p:txBody>
      </p:sp>
      <p:sp>
        <p:nvSpPr>
          <p:cNvPr id="27" name="Text 23"/>
          <p:cNvSpPr/>
          <p:nvPr/>
        </p:nvSpPr>
        <p:spPr>
          <a:xfrm>
            <a:off x="571500" y="2573480"/>
            <a:ext cx="4143375" cy="502909"/>
          </a:xfrm>
          <a:prstGeom prst="rect">
            <a:avLst/>
          </a:prstGeom>
          <a:noFill/>
          <a:ln/>
        </p:spPr>
        <p:txBody>
          <a:bodyPr wrap="square" lIns="255143" tIns="0" rIns="0" bIns="0" rtlCol="0" anchor="t">
            <a:spAutoFit/>
          </a:bodyPr>
          <a:lstStyle/>
          <a:p>
            <a:pPr algn="l" indent="0" marL="0">
              <a:lnSpc>
                <a:spcPct val="128000"/>
              </a:lnSpc>
              <a:buNone/>
            </a:pPr>
            <a:r>
              <a:rPr lang="en-US" sz="1100" b="1" dirty="0">
                <a:solidFill>
                  <a:srgbClr val="000000"/>
                </a:solidFill>
                <a:latin typeface="Inter Bold" pitchFamily="34" charset="0"/>
                <a:ea typeface="Inter Bold" pitchFamily="34" charset="-122"/>
                <a:cs typeface="Inter Bold" pitchFamily="34" charset="-120"/>
              </a:rPr>
              <a:t>Applicability to SiC:</a:t>
            </a:r>
            <a:r>
              <a:rPr lang="en-US" sz="1150" dirty="0">
                <a:solidFill>
                  <a:srgbClr val="000000"/>
                </a:solidFill>
                <a:latin typeface="Inter" pitchFamily="34" charset="0"/>
                <a:ea typeface="Inter" pitchFamily="34" charset="-122"/>
                <a:cs typeface="Inter" pitchFamily="34" charset="-120"/>
              </a:rPr>
              <a:t> Topology-dependent math; works for SiC by using device curves.</a:t>
            </a:r>
            <a:endParaRPr lang="en-US" sz="1100" dirty="0"/>
          </a:p>
        </p:txBody>
      </p:sp>
      <p:sp>
        <p:nvSpPr>
          <p:cNvPr id="28" name="Text 24"/>
          <p:cNvSpPr/>
          <p:nvPr/>
        </p:nvSpPr>
        <p:spPr>
          <a:xfrm>
            <a:off x="571500" y="3162114"/>
            <a:ext cx="4143375" cy="754363"/>
          </a:xfrm>
          <a:prstGeom prst="rect">
            <a:avLst/>
          </a:prstGeom>
          <a:noFill/>
          <a:ln/>
        </p:spPr>
        <p:txBody>
          <a:bodyPr wrap="square" lIns="255143" tIns="0" rIns="0" bIns="0" rtlCol="0" anchor="t">
            <a:spAutoFit/>
          </a:bodyPr>
          <a:lstStyle/>
          <a:p>
            <a:pPr algn="l" indent="0" marL="0">
              <a:lnSpc>
                <a:spcPct val="128000"/>
              </a:lnSpc>
              <a:buNone/>
            </a:pPr>
            <a:r>
              <a:rPr lang="en-US" sz="1100" b="1" dirty="0">
                <a:solidFill>
                  <a:srgbClr val="000000"/>
                </a:solidFill>
                <a:latin typeface="Inter Bold" pitchFamily="34" charset="0"/>
                <a:ea typeface="Inter Bold" pitchFamily="34" charset="-122"/>
                <a:cs typeface="Inter Bold" pitchFamily="34" charset="-120"/>
              </a:rPr>
              <a:t>Datasheet Calibration:</a:t>
            </a:r>
            <a:r>
              <a:rPr lang="en-US" sz="1150" dirty="0">
                <a:solidFill>
                  <a:srgbClr val="000000"/>
                </a:solidFill>
                <a:latin typeface="Inter" pitchFamily="34" charset="0"/>
                <a:ea typeface="Inter" pitchFamily="34" charset="-122"/>
                <a:cs typeface="Inter" pitchFamily="34" charset="-120"/>
              </a:rPr>
              <a:t> Uses CAB450M12XM3 parameters (Eon = 25.4 mJ, Eoff = 7.51 mJ @ 450A/600V).</a:t>
            </a:r>
            <a:endParaRPr lang="en-US" sz="1100" dirty="0"/>
          </a:p>
        </p:txBody>
      </p:sp>
      <p:sp>
        <p:nvSpPr>
          <p:cNvPr id="29" name="Text 25"/>
          <p:cNvSpPr/>
          <p:nvPr/>
        </p:nvSpPr>
        <p:spPr>
          <a:xfrm>
            <a:off x="571500" y="4002202"/>
            <a:ext cx="4143375" cy="754363"/>
          </a:xfrm>
          <a:prstGeom prst="rect">
            <a:avLst/>
          </a:prstGeom>
          <a:noFill/>
          <a:ln/>
        </p:spPr>
        <p:txBody>
          <a:bodyPr wrap="square" lIns="255143" tIns="0" rIns="0" bIns="0" rtlCol="0" anchor="t">
            <a:spAutoFit/>
          </a:bodyPr>
          <a:lstStyle/>
          <a:p>
            <a:pPr algn="l" indent="0" marL="0">
              <a:lnSpc>
                <a:spcPct val="128000"/>
              </a:lnSpc>
              <a:buNone/>
            </a:pPr>
            <a:r>
              <a:rPr lang="en-US" sz="1100" b="1" dirty="0">
                <a:solidFill>
                  <a:srgbClr val="000000"/>
                </a:solidFill>
                <a:latin typeface="Inter Bold" pitchFamily="34" charset="0"/>
                <a:ea typeface="Inter Bold" pitchFamily="34" charset="-122"/>
                <a:cs typeface="Inter Bold" pitchFamily="34" charset="-120"/>
              </a:rPr>
              <a:t>Fixed 20 kHz Issue:</a:t>
            </a:r>
            <a:r>
              <a:rPr lang="en-US" sz="1150" dirty="0">
                <a:solidFill>
                  <a:srgbClr val="000000"/>
                </a:solidFill>
                <a:latin typeface="Inter" pitchFamily="34" charset="0"/>
                <a:ea typeface="Inter" pitchFamily="34" charset="-122"/>
                <a:cs typeface="Inter" pitchFamily="34" charset="-120"/>
              </a:rPr>
              <a:t> At 20 kHz switching losses dominate at low speeds due to high phase currents (~136A).</a:t>
            </a:r>
            <a:endParaRPr lang="en-US" sz="1100" dirty="0"/>
          </a:p>
        </p:txBody>
      </p:sp>
      <p:sp>
        <p:nvSpPr>
          <p:cNvPr id="30" name="Text 26"/>
          <p:cNvSpPr/>
          <p:nvPr/>
        </p:nvSpPr>
        <p:spPr>
          <a:xfrm>
            <a:off x="571500" y="1956271"/>
            <a:ext cx="121444" cy="342900"/>
          </a:xfrm>
          <a:prstGeom prst="rect">
            <a:avLst/>
          </a:prstGeom>
          <a:noFill/>
          <a:ln/>
        </p:spPr>
        <p:txBody>
          <a:bodyPr wrap="none" lIns="0" tIns="0" rIns="0" bIns="0" rtlCol="0" anchor="t">
            <a:spAutoFit/>
          </a:bodyPr>
          <a:lstStyle/>
          <a:p>
            <a:pPr algn="l" indent="0" marL="0">
              <a:lnSpc>
                <a:spcPct val="128000"/>
              </a:lnSpc>
              <a:buNone/>
            </a:pPr>
            <a:r>
              <a:rPr lang="en-US" sz="1600" dirty="0">
                <a:solidFill>
                  <a:srgbClr val="2563EB"/>
                </a:solidFill>
                <a:latin typeface="Inter" pitchFamily="34" charset="0"/>
                <a:ea typeface="Inter" pitchFamily="34" charset="-122"/>
                <a:cs typeface="Inter" pitchFamily="34" charset="-120"/>
              </a:rPr>
              <a:t>•</a:t>
            </a:r>
            <a:endParaRPr lang="en-US" sz="1600" dirty="0"/>
          </a:p>
        </p:txBody>
      </p:sp>
      <p:sp>
        <p:nvSpPr>
          <p:cNvPr id="31" name="Text 27"/>
          <p:cNvSpPr/>
          <p:nvPr/>
        </p:nvSpPr>
        <p:spPr>
          <a:xfrm>
            <a:off x="571500" y="2544905"/>
            <a:ext cx="121444" cy="342900"/>
          </a:xfrm>
          <a:prstGeom prst="rect">
            <a:avLst/>
          </a:prstGeom>
          <a:noFill/>
          <a:ln/>
        </p:spPr>
        <p:txBody>
          <a:bodyPr wrap="none" lIns="0" tIns="0" rIns="0" bIns="0" rtlCol="0" anchor="t">
            <a:spAutoFit/>
          </a:bodyPr>
          <a:lstStyle/>
          <a:p>
            <a:pPr algn="l" indent="0" marL="0">
              <a:lnSpc>
                <a:spcPct val="128000"/>
              </a:lnSpc>
              <a:buNone/>
            </a:pPr>
            <a:r>
              <a:rPr lang="en-US" sz="1600" dirty="0">
                <a:solidFill>
                  <a:srgbClr val="2563EB"/>
                </a:solidFill>
                <a:latin typeface="Inter" pitchFamily="34" charset="0"/>
                <a:ea typeface="Inter" pitchFamily="34" charset="-122"/>
                <a:cs typeface="Inter" pitchFamily="34" charset="-120"/>
              </a:rPr>
              <a:t>•</a:t>
            </a:r>
            <a:endParaRPr lang="en-US" sz="1600" dirty="0"/>
          </a:p>
        </p:txBody>
      </p:sp>
      <p:sp>
        <p:nvSpPr>
          <p:cNvPr id="32" name="Text 28"/>
          <p:cNvSpPr/>
          <p:nvPr/>
        </p:nvSpPr>
        <p:spPr>
          <a:xfrm>
            <a:off x="571500" y="3133539"/>
            <a:ext cx="121444" cy="342900"/>
          </a:xfrm>
          <a:prstGeom prst="rect">
            <a:avLst/>
          </a:prstGeom>
          <a:noFill/>
          <a:ln/>
        </p:spPr>
        <p:txBody>
          <a:bodyPr wrap="none" lIns="0" tIns="0" rIns="0" bIns="0" rtlCol="0" anchor="t">
            <a:spAutoFit/>
          </a:bodyPr>
          <a:lstStyle/>
          <a:p>
            <a:pPr algn="l" indent="0" marL="0">
              <a:lnSpc>
                <a:spcPct val="128000"/>
              </a:lnSpc>
              <a:buNone/>
            </a:pPr>
            <a:r>
              <a:rPr lang="en-US" sz="1600" dirty="0">
                <a:solidFill>
                  <a:srgbClr val="2563EB"/>
                </a:solidFill>
                <a:latin typeface="Inter" pitchFamily="34" charset="0"/>
                <a:ea typeface="Inter" pitchFamily="34" charset="-122"/>
                <a:cs typeface="Inter" pitchFamily="34" charset="-120"/>
              </a:rPr>
              <a:t>•</a:t>
            </a:r>
            <a:endParaRPr lang="en-US" sz="1600" dirty="0"/>
          </a:p>
        </p:txBody>
      </p:sp>
      <p:sp>
        <p:nvSpPr>
          <p:cNvPr id="33" name="Text 29"/>
          <p:cNvSpPr/>
          <p:nvPr/>
        </p:nvSpPr>
        <p:spPr>
          <a:xfrm>
            <a:off x="571500" y="3973627"/>
            <a:ext cx="121444" cy="342900"/>
          </a:xfrm>
          <a:prstGeom prst="rect">
            <a:avLst/>
          </a:prstGeom>
          <a:noFill/>
          <a:ln/>
        </p:spPr>
        <p:txBody>
          <a:bodyPr wrap="none" lIns="0" tIns="0" rIns="0" bIns="0" rtlCol="0" anchor="t">
            <a:spAutoFit/>
          </a:bodyPr>
          <a:lstStyle/>
          <a:p>
            <a:pPr algn="l" indent="0" marL="0">
              <a:lnSpc>
                <a:spcPct val="128000"/>
              </a:lnSpc>
              <a:buNone/>
            </a:pPr>
            <a:r>
              <a:rPr lang="en-US" sz="1600" dirty="0">
                <a:solidFill>
                  <a:srgbClr val="2563EB"/>
                </a:solidFill>
                <a:latin typeface="Inter" pitchFamily="34" charset="0"/>
                <a:ea typeface="Inter" pitchFamily="34" charset="-122"/>
                <a:cs typeface="Inter" pitchFamily="34" charset="-120"/>
              </a:rPr>
              <a:t>•</a:t>
            </a:r>
            <a:endParaRPr lang="en-US" sz="1600" dirty="0"/>
          </a:p>
        </p:txBody>
      </p:sp>
      <p:pic>
        <p:nvPicPr>
          <p:cNvPr id="34" name="Image 1" descr="preencoded.png">    </p:cNvPr>
          <p:cNvPicPr>
            <a:picLocks noChangeAspect="1"/>
          </p:cNvPicPr>
          <p:nvPr/>
        </p:nvPicPr>
        <p:blipFill>
          <a:blip r:embed="rId2"/>
          <a:stretch>
            <a:fillRect/>
          </a:stretch>
        </p:blipFill>
        <p:spPr>
          <a:xfrm>
            <a:off x="5000625" y="1328570"/>
            <a:ext cx="3571875" cy="2025588"/>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571500" y="285750"/>
            <a:ext cx="1794867" cy="121444"/>
          </a:xfrm>
          <a:prstGeom prst="rect">
            <a:avLst/>
          </a:prstGeom>
          <a:noFill/>
          <a:ln/>
        </p:spPr>
        <p:txBody>
          <a:bodyPr wrap="square" lIns="0" tIns="0" rIns="0" bIns="0" rtlCol="0" anchor="t">
            <a:spAutoFit/>
          </a:bodyPr>
          <a:lstStyle/>
          <a:p>
            <a:pPr algn="l" indent="0" marL="0">
              <a:buNone/>
            </a:pPr>
            <a:r>
              <a:rPr lang="en-US" sz="700" b="1" spc="1" kern="0" dirty="0">
                <a:solidFill>
                  <a:srgbClr val="2563EB"/>
                </a:solidFill>
                <a:latin typeface="Inter Bold" pitchFamily="34" charset="0"/>
                <a:ea typeface="Inter Bold" pitchFamily="34" charset="-122"/>
                <a:cs typeface="Inter Bold" pitchFamily="34" charset="-120"/>
              </a:rPr>
              <a:t>ECE 595 — PURDUE UNIVERSITY</a:t>
            </a:r>
            <a:endParaRPr lang="en-US" sz="700" dirty="0"/>
          </a:p>
        </p:txBody>
      </p:sp>
      <p:sp>
        <p:nvSpPr>
          <p:cNvPr id="5" name="Text 1"/>
          <p:cNvSpPr/>
          <p:nvPr/>
        </p:nvSpPr>
        <p:spPr>
          <a:xfrm>
            <a:off x="571500" y="714375"/>
            <a:ext cx="5163145" cy="412552"/>
          </a:xfrm>
          <a:prstGeom prst="rect">
            <a:avLst/>
          </a:prstGeom>
          <a:noFill/>
          <a:ln/>
        </p:spPr>
        <p:txBody>
          <a:bodyPr wrap="square" lIns="0" tIns="0" rIns="0" bIns="85090" rtlCol="0" anchor="t">
            <a:spAutoFit/>
          </a:bodyPr>
          <a:lstStyle/>
          <a:p>
            <a:pPr algn="l" indent="0" marL="0">
              <a:buNone/>
            </a:pPr>
            <a:r>
              <a:rPr lang="en-US" sz="1800" b="1" dirty="0">
                <a:solidFill>
                  <a:srgbClr val="000000"/>
                </a:solidFill>
                <a:latin typeface="Inter Bold" pitchFamily="34" charset="0"/>
                <a:ea typeface="Inter Bold" pitchFamily="34" charset="-122"/>
                <a:cs typeface="Inter Bold" pitchFamily="34" charset="-120"/>
              </a:rPr>
              <a:t>Simulated Adaptive Switching Frequency</a:t>
            </a:r>
            <a:endParaRPr lang="en-US" sz="1800" dirty="0"/>
          </a:p>
        </p:txBody>
      </p:sp>
      <p:sp>
        <p:nvSpPr>
          <p:cNvPr id="6" name="Text 2"/>
          <p:cNvSpPr/>
          <p:nvPr/>
        </p:nvSpPr>
        <p:spPr>
          <a:xfrm>
            <a:off x="571500" y="1357313"/>
            <a:ext cx="3489722" cy="189309"/>
          </a:xfrm>
          <a:prstGeom prst="rect">
            <a:avLst/>
          </a:prstGeom>
          <a:noFill/>
          <a:ln/>
        </p:spPr>
        <p:txBody>
          <a:bodyPr wrap="none" lIns="0" tIns="0" rIns="0" bIns="0" rtlCol="0" anchor="t">
            <a:spAutoFit/>
          </a:bodyPr>
          <a:lstStyle/>
          <a:p>
            <a:pPr algn="l" indent="0" marL="0">
              <a:lnSpc>
                <a:spcPct val="128000"/>
              </a:lnSpc>
              <a:buNone/>
            </a:pPr>
            <a:r>
              <a:rPr lang="en-US" sz="1150" dirty="0">
                <a:solidFill>
                  <a:srgbClr val="000000"/>
                </a:solidFill>
                <a:latin typeface="Inter" pitchFamily="34" charset="0"/>
                <a:ea typeface="Inter" pitchFamily="34" charset="-122"/>
                <a:cs typeface="Inter" pitchFamily="34" charset="-120"/>
              </a:rPr>
              <a:t>An adaptive switching frequency schedule was</a:t>
            </a:r>
            <a:endParaRPr lang="en-US" sz="1150" dirty="0"/>
          </a:p>
        </p:txBody>
      </p:sp>
      <p:sp>
        <p:nvSpPr>
          <p:cNvPr id="7" name="Text 3"/>
          <p:cNvSpPr/>
          <p:nvPr/>
        </p:nvSpPr>
        <p:spPr>
          <a:xfrm>
            <a:off x="571500" y="1608767"/>
            <a:ext cx="3659386" cy="189309"/>
          </a:xfrm>
          <a:prstGeom prst="rect">
            <a:avLst/>
          </a:prstGeom>
          <a:noFill/>
          <a:ln/>
        </p:spPr>
        <p:txBody>
          <a:bodyPr wrap="none" lIns="0" tIns="0" rIns="0" bIns="0" rtlCol="0" anchor="t">
            <a:spAutoFit/>
          </a:bodyPr>
          <a:lstStyle/>
          <a:p>
            <a:pPr algn="l" indent="0" marL="0">
              <a:lnSpc>
                <a:spcPct val="128000"/>
              </a:lnSpc>
              <a:buNone/>
            </a:pPr>
            <a:r>
              <a:rPr lang="en-US" sz="1150" dirty="0">
                <a:solidFill>
                  <a:srgbClr val="000000"/>
                </a:solidFill>
                <a:latin typeface="Inter" pitchFamily="34" charset="0"/>
                <a:ea typeface="Inter" pitchFamily="34" charset="-122"/>
                <a:cs typeface="Inter" pitchFamily="34" charset="-120"/>
              </a:rPr>
              <a:t>developed and fully implemented within the time-</a:t>
            </a:r>
            <a:endParaRPr lang="en-US" sz="1150" dirty="0"/>
          </a:p>
        </p:txBody>
      </p:sp>
      <p:sp>
        <p:nvSpPr>
          <p:cNvPr id="8" name="Text 4"/>
          <p:cNvSpPr/>
          <p:nvPr/>
        </p:nvSpPr>
        <p:spPr>
          <a:xfrm>
            <a:off x="571500" y="1860221"/>
            <a:ext cx="3787973" cy="189309"/>
          </a:xfrm>
          <a:prstGeom prst="rect">
            <a:avLst/>
          </a:prstGeom>
          <a:noFill/>
          <a:ln/>
        </p:spPr>
        <p:txBody>
          <a:bodyPr wrap="none" lIns="0" tIns="0" rIns="0" bIns="0" rtlCol="0" anchor="t">
            <a:spAutoFit/>
          </a:bodyPr>
          <a:lstStyle/>
          <a:p>
            <a:pPr algn="l" indent="0" marL="0">
              <a:lnSpc>
                <a:spcPct val="128000"/>
              </a:lnSpc>
              <a:buNone/>
            </a:pPr>
            <a:r>
              <a:rPr lang="en-US" sz="1150" dirty="0">
                <a:solidFill>
                  <a:srgbClr val="000000"/>
                </a:solidFill>
                <a:latin typeface="Inter" pitchFamily="34" charset="0"/>
                <a:ea typeface="Inter" pitchFamily="34" charset="-122"/>
                <a:cs typeface="Inter" pitchFamily="34" charset="-120"/>
              </a:rPr>
              <a:t>domain simulation. The core methodology relies on</a:t>
            </a:r>
            <a:endParaRPr lang="en-US" sz="1150" dirty="0"/>
          </a:p>
        </p:txBody>
      </p:sp>
      <p:sp>
        <p:nvSpPr>
          <p:cNvPr id="9" name="Text 5"/>
          <p:cNvSpPr/>
          <p:nvPr/>
        </p:nvSpPr>
        <p:spPr>
          <a:xfrm>
            <a:off x="571500" y="2111676"/>
            <a:ext cx="3996928" cy="189309"/>
          </a:xfrm>
          <a:prstGeom prst="rect">
            <a:avLst/>
          </a:prstGeom>
          <a:noFill/>
          <a:ln/>
        </p:spPr>
        <p:txBody>
          <a:bodyPr wrap="none" lIns="0" tIns="0" rIns="0" bIns="0" rtlCol="0" anchor="t">
            <a:spAutoFit/>
          </a:bodyPr>
          <a:lstStyle/>
          <a:p>
            <a:pPr algn="l" indent="0" marL="0">
              <a:lnSpc>
                <a:spcPct val="128000"/>
              </a:lnSpc>
              <a:buNone/>
            </a:pPr>
            <a:r>
              <a:rPr lang="en-US" sz="1150" dirty="0">
                <a:solidFill>
                  <a:srgbClr val="000000"/>
                </a:solidFill>
                <a:latin typeface="Inter" pitchFamily="34" charset="0"/>
                <a:ea typeface="Inter" pitchFamily="34" charset="-122"/>
                <a:cs typeface="Inter" pitchFamily="34" charset="-120"/>
              </a:rPr>
              <a:t>maintaining a sufficient frequency modulation ratio (m</a:t>
            </a:r>
            <a:endParaRPr lang="en-US" sz="1150" dirty="0"/>
          </a:p>
        </p:txBody>
      </p:sp>
      <p:sp>
        <p:nvSpPr>
          <p:cNvPr id="10" name="Text 6"/>
          <p:cNvSpPr/>
          <p:nvPr/>
        </p:nvSpPr>
        <p:spPr>
          <a:xfrm>
            <a:off x="4568428" y="2169886"/>
            <a:ext cx="48220" cy="158948"/>
          </a:xfrm>
          <a:prstGeom prst="rect">
            <a:avLst/>
          </a:prstGeom>
          <a:noFill/>
          <a:ln/>
        </p:spPr>
        <p:txBody>
          <a:bodyPr wrap="none" lIns="0" tIns="0" rIns="0" bIns="0" rtlCol="0" anchor="t">
            <a:spAutoFit/>
          </a:bodyPr>
          <a:lstStyle/>
          <a:p>
            <a:pPr algn="l" indent="0" marL="0">
              <a:lnSpc>
                <a:spcPct val="128023"/>
              </a:lnSpc>
              <a:buNone/>
            </a:pPr>
            <a:r>
              <a:rPr lang="en-US" sz="950" baseline="-40000" dirty="0">
                <a:solidFill>
                  <a:srgbClr val="000000"/>
                </a:solidFill>
                <a:latin typeface="Inter" pitchFamily="34" charset="0"/>
                <a:ea typeface="Inter" pitchFamily="34" charset="-122"/>
                <a:cs typeface="Inter" pitchFamily="34" charset="-120"/>
              </a:rPr>
              <a:t>f</a:t>
            </a:r>
            <a:endParaRPr lang="en-US" sz="950" dirty="0"/>
          </a:p>
        </p:txBody>
      </p:sp>
      <p:sp>
        <p:nvSpPr>
          <p:cNvPr id="11" name="Text 7"/>
          <p:cNvSpPr/>
          <p:nvPr/>
        </p:nvSpPr>
        <p:spPr>
          <a:xfrm>
            <a:off x="571500" y="2384757"/>
            <a:ext cx="207169" cy="189309"/>
          </a:xfrm>
          <a:prstGeom prst="rect">
            <a:avLst/>
          </a:prstGeom>
          <a:noFill/>
          <a:ln/>
        </p:spPr>
        <p:txBody>
          <a:bodyPr wrap="none" lIns="0" tIns="0" rIns="0" bIns="0" rtlCol="0" anchor="t">
            <a:spAutoFit/>
          </a:bodyPr>
          <a:lstStyle/>
          <a:p>
            <a:pPr algn="l" indent="0" marL="0">
              <a:lnSpc>
                <a:spcPct val="128000"/>
              </a:lnSpc>
              <a:buNone/>
            </a:pPr>
            <a:r>
              <a:rPr lang="en-US" sz="1150" dirty="0">
                <a:solidFill>
                  <a:srgbClr val="000000"/>
                </a:solidFill>
                <a:latin typeface="Inter" pitchFamily="34" charset="0"/>
                <a:ea typeface="Inter" pitchFamily="34" charset="-122"/>
                <a:cs typeface="Inter" pitchFamily="34" charset="-120"/>
              </a:rPr>
              <a:t>= f</a:t>
            </a:r>
            <a:endParaRPr lang="en-US" sz="1150" dirty="0"/>
          </a:p>
        </p:txBody>
      </p:sp>
      <p:sp>
        <p:nvSpPr>
          <p:cNvPr id="12" name="Text 8"/>
          <p:cNvSpPr/>
          <p:nvPr/>
        </p:nvSpPr>
        <p:spPr>
          <a:xfrm>
            <a:off x="778669" y="2442967"/>
            <a:ext cx="176808" cy="158948"/>
          </a:xfrm>
          <a:prstGeom prst="rect">
            <a:avLst/>
          </a:prstGeom>
          <a:noFill/>
          <a:ln/>
        </p:spPr>
        <p:txBody>
          <a:bodyPr wrap="none" lIns="0" tIns="0" rIns="0" bIns="0" rtlCol="0" anchor="t">
            <a:spAutoFit/>
          </a:bodyPr>
          <a:lstStyle/>
          <a:p>
            <a:pPr algn="l" indent="0" marL="0">
              <a:lnSpc>
                <a:spcPct val="128023"/>
              </a:lnSpc>
              <a:buNone/>
            </a:pPr>
            <a:r>
              <a:rPr lang="en-US" sz="950" baseline="-40000" dirty="0">
                <a:solidFill>
                  <a:srgbClr val="000000"/>
                </a:solidFill>
                <a:latin typeface="Inter" pitchFamily="34" charset="0"/>
                <a:ea typeface="Inter" pitchFamily="34" charset="-122"/>
                <a:cs typeface="Inter" pitchFamily="34" charset="-120"/>
              </a:rPr>
              <a:t>sw</a:t>
            </a:r>
            <a:endParaRPr lang="en-US" sz="950" dirty="0"/>
          </a:p>
        </p:txBody>
      </p:sp>
      <p:sp>
        <p:nvSpPr>
          <p:cNvPr id="13" name="Text 9"/>
          <p:cNvSpPr/>
          <p:nvPr/>
        </p:nvSpPr>
        <p:spPr>
          <a:xfrm>
            <a:off x="955477" y="2384757"/>
            <a:ext cx="116086" cy="189309"/>
          </a:xfrm>
          <a:prstGeom prst="rect">
            <a:avLst/>
          </a:prstGeom>
          <a:noFill/>
          <a:ln/>
        </p:spPr>
        <p:txBody>
          <a:bodyPr wrap="none" lIns="0" tIns="0" rIns="0" bIns="0" rtlCol="0" anchor="t">
            <a:spAutoFit/>
          </a:bodyPr>
          <a:lstStyle/>
          <a:p>
            <a:pPr algn="l" indent="0" marL="0">
              <a:lnSpc>
                <a:spcPct val="128000"/>
              </a:lnSpc>
              <a:buNone/>
            </a:pPr>
            <a:r>
              <a:rPr lang="en-US" sz="1150" dirty="0">
                <a:solidFill>
                  <a:srgbClr val="000000"/>
                </a:solidFill>
                <a:latin typeface="Inter" pitchFamily="34" charset="0"/>
                <a:ea typeface="Inter" pitchFamily="34" charset="-122"/>
                <a:cs typeface="Inter" pitchFamily="34" charset="-120"/>
              </a:rPr>
              <a:t>/f</a:t>
            </a:r>
            <a:endParaRPr lang="en-US" sz="1150" dirty="0"/>
          </a:p>
        </p:txBody>
      </p:sp>
      <p:sp>
        <p:nvSpPr>
          <p:cNvPr id="14" name="Text 10"/>
          <p:cNvSpPr/>
          <p:nvPr/>
        </p:nvSpPr>
        <p:spPr>
          <a:xfrm>
            <a:off x="1071563" y="2442967"/>
            <a:ext cx="76795" cy="158948"/>
          </a:xfrm>
          <a:prstGeom prst="rect">
            <a:avLst/>
          </a:prstGeom>
          <a:noFill/>
          <a:ln/>
        </p:spPr>
        <p:txBody>
          <a:bodyPr wrap="none" lIns="0" tIns="0" rIns="0" bIns="0" rtlCol="0" anchor="t">
            <a:spAutoFit/>
          </a:bodyPr>
          <a:lstStyle/>
          <a:p>
            <a:pPr algn="l" indent="0" marL="0">
              <a:lnSpc>
                <a:spcPct val="128023"/>
              </a:lnSpc>
              <a:buNone/>
            </a:pPr>
            <a:r>
              <a:rPr lang="en-US" sz="950" baseline="-40000" dirty="0">
                <a:solidFill>
                  <a:srgbClr val="000000"/>
                </a:solidFill>
                <a:latin typeface="Inter" pitchFamily="34" charset="0"/>
                <a:ea typeface="Inter" pitchFamily="34" charset="-122"/>
                <a:cs typeface="Inter" pitchFamily="34" charset="-120"/>
              </a:rPr>
              <a:t>e</a:t>
            </a:r>
            <a:endParaRPr lang="en-US" sz="950" dirty="0"/>
          </a:p>
        </p:txBody>
      </p:sp>
      <p:sp>
        <p:nvSpPr>
          <p:cNvPr id="15" name="Text 11"/>
          <p:cNvSpPr/>
          <p:nvPr/>
        </p:nvSpPr>
        <p:spPr>
          <a:xfrm>
            <a:off x="1148358" y="2384757"/>
            <a:ext cx="3389709" cy="189309"/>
          </a:xfrm>
          <a:prstGeom prst="rect">
            <a:avLst/>
          </a:prstGeom>
          <a:noFill/>
          <a:ln/>
        </p:spPr>
        <p:txBody>
          <a:bodyPr wrap="none" lIns="0" tIns="0" rIns="0" bIns="0" rtlCol="0" anchor="t">
            <a:spAutoFit/>
          </a:bodyPr>
          <a:lstStyle/>
          <a:p>
            <a:pPr algn="l" indent="0" marL="0">
              <a:lnSpc>
                <a:spcPct val="128000"/>
              </a:lnSpc>
              <a:buNone/>
            </a:pPr>
            <a:r>
              <a:rPr lang="en-US" sz="1150" dirty="0">
                <a:solidFill>
                  <a:srgbClr val="000000"/>
                </a:solidFill>
                <a:latin typeface="Inter" pitchFamily="34" charset="0"/>
                <a:ea typeface="Inter" pitchFamily="34" charset="-122"/>
                <a:cs typeface="Inter" pitchFamily="34" charset="-120"/>
              </a:rPr>
              <a:t>) to ensure waveform quality while minimizing</a:t>
            </a:r>
            <a:endParaRPr lang="en-US" sz="1150" dirty="0"/>
          </a:p>
        </p:txBody>
      </p:sp>
      <p:sp>
        <p:nvSpPr>
          <p:cNvPr id="16" name="Text 12"/>
          <p:cNvSpPr/>
          <p:nvPr/>
        </p:nvSpPr>
        <p:spPr>
          <a:xfrm>
            <a:off x="571500" y="2657838"/>
            <a:ext cx="514350" cy="189309"/>
          </a:xfrm>
          <a:prstGeom prst="rect">
            <a:avLst/>
          </a:prstGeom>
          <a:noFill/>
          <a:ln/>
        </p:spPr>
        <p:txBody>
          <a:bodyPr wrap="none" lIns="0" tIns="0" rIns="0" bIns="0" rtlCol="0" anchor="t">
            <a:spAutoFit/>
          </a:bodyPr>
          <a:lstStyle/>
          <a:p>
            <a:pPr algn="l" indent="0" marL="0">
              <a:lnSpc>
                <a:spcPct val="128000"/>
              </a:lnSpc>
              <a:buNone/>
            </a:pPr>
            <a:r>
              <a:rPr lang="en-US" sz="1150" dirty="0">
                <a:solidFill>
                  <a:srgbClr val="000000"/>
                </a:solidFill>
                <a:latin typeface="Inter" pitchFamily="34" charset="0"/>
                <a:ea typeface="Inter" pitchFamily="34" charset="-122"/>
                <a:cs typeface="Inter" pitchFamily="34" charset="-120"/>
              </a:rPr>
              <a:t>losses.</a:t>
            </a:r>
            <a:endParaRPr lang="en-US" sz="1150" dirty="0"/>
          </a:p>
        </p:txBody>
      </p:sp>
      <p:sp>
        <p:nvSpPr>
          <p:cNvPr id="17" name="Shape 13"/>
          <p:cNvSpPr/>
          <p:nvPr/>
        </p:nvSpPr>
        <p:spPr>
          <a:xfrm>
            <a:off x="571500" y="3007519"/>
            <a:ext cx="4143375" cy="1638765"/>
          </a:xfrm>
          <a:prstGeom prst="rect">
            <a:avLst/>
          </a:prstGeom>
          <a:solidFill>
            <a:srgbClr val="F8F9FA"/>
          </a:solidFill>
          <a:ln/>
        </p:spPr>
      </p:sp>
      <p:sp>
        <p:nvSpPr>
          <p:cNvPr id="18" name="Shape 14"/>
          <p:cNvSpPr/>
          <p:nvPr/>
        </p:nvSpPr>
        <p:spPr>
          <a:xfrm>
            <a:off x="571500" y="3007519"/>
            <a:ext cx="42863" cy="1638765"/>
          </a:xfrm>
          <a:prstGeom prst="rect">
            <a:avLst/>
          </a:prstGeom>
          <a:solidFill>
            <a:srgbClr val="2563EB"/>
          </a:solidFill>
          <a:ln/>
        </p:spPr>
      </p:sp>
      <p:sp>
        <p:nvSpPr>
          <p:cNvPr id="19" name="Text 15"/>
          <p:cNvSpPr/>
          <p:nvPr/>
        </p:nvSpPr>
        <p:spPr>
          <a:xfrm>
            <a:off x="728663" y="3121819"/>
            <a:ext cx="1578769" cy="189309"/>
          </a:xfrm>
          <a:prstGeom prst="rect">
            <a:avLst/>
          </a:prstGeom>
          <a:noFill/>
          <a:ln/>
        </p:spPr>
        <p:txBody>
          <a:bodyPr wrap="square" lIns="0" tIns="0" rIns="0" bIns="0" rtlCol="0" anchor="t">
            <a:spAutoFit/>
          </a:bodyPr>
          <a:lstStyle/>
          <a:p>
            <a:pPr algn="l" indent="0" marL="0">
              <a:buNone/>
            </a:pPr>
            <a:r>
              <a:rPr lang="en-US" sz="1100" b="1" dirty="0">
                <a:solidFill>
                  <a:srgbClr val="2563EB"/>
                </a:solidFill>
                <a:latin typeface="Inter Bold" pitchFamily="34" charset="0"/>
                <a:ea typeface="Inter Bold" pitchFamily="34" charset="-122"/>
                <a:cs typeface="Inter Bold" pitchFamily="34" charset="-120"/>
              </a:rPr>
              <a:t>Urban Driving (Low f</a:t>
            </a:r>
            <a:endParaRPr lang="en-US" sz="1100" dirty="0"/>
          </a:p>
        </p:txBody>
      </p:sp>
      <p:sp>
        <p:nvSpPr>
          <p:cNvPr id="20" name="Text 16"/>
          <p:cNvSpPr/>
          <p:nvPr/>
        </p:nvSpPr>
        <p:spPr>
          <a:xfrm>
            <a:off x="2307431" y="3180029"/>
            <a:ext cx="78581" cy="158948"/>
          </a:xfrm>
          <a:prstGeom prst="rect">
            <a:avLst/>
          </a:prstGeom>
          <a:noFill/>
          <a:ln/>
        </p:spPr>
        <p:txBody>
          <a:bodyPr wrap="none" lIns="0" tIns="0" rIns="0" bIns="0" rtlCol="0" anchor="t">
            <a:spAutoFit/>
          </a:bodyPr>
          <a:lstStyle/>
          <a:p>
            <a:pPr algn="l" indent="0" marL="0">
              <a:buNone/>
            </a:pPr>
            <a:r>
              <a:rPr lang="en-US" sz="900" b="1" baseline="-40000" dirty="0">
                <a:solidFill>
                  <a:srgbClr val="2563EB"/>
                </a:solidFill>
                <a:latin typeface="Inter Bold" pitchFamily="34" charset="0"/>
                <a:ea typeface="Inter Bold" pitchFamily="34" charset="-122"/>
                <a:cs typeface="Inter Bold" pitchFamily="34" charset="-120"/>
              </a:rPr>
              <a:t>e</a:t>
            </a:r>
            <a:endParaRPr lang="en-US" sz="900" dirty="0"/>
          </a:p>
        </p:txBody>
      </p:sp>
      <p:sp>
        <p:nvSpPr>
          <p:cNvPr id="21" name="Text 17"/>
          <p:cNvSpPr/>
          <p:nvPr/>
        </p:nvSpPr>
        <p:spPr>
          <a:xfrm>
            <a:off x="2386013" y="3121819"/>
            <a:ext cx="58936" cy="189309"/>
          </a:xfrm>
          <a:prstGeom prst="rect">
            <a:avLst/>
          </a:prstGeom>
          <a:noFill/>
          <a:ln/>
        </p:spPr>
        <p:txBody>
          <a:bodyPr wrap="none" lIns="0" tIns="0" rIns="0" bIns="0" rtlCol="0" anchor="t">
            <a:spAutoFit/>
          </a:bodyPr>
          <a:lstStyle/>
          <a:p>
            <a:pPr algn="l" indent="0" marL="0">
              <a:buNone/>
            </a:pPr>
            <a:r>
              <a:rPr lang="en-US" sz="1100" b="1" dirty="0">
                <a:solidFill>
                  <a:srgbClr val="2563EB"/>
                </a:solidFill>
                <a:latin typeface="Inter Bold" pitchFamily="34" charset="0"/>
                <a:ea typeface="Inter Bold" pitchFamily="34" charset="-122"/>
                <a:cs typeface="Inter Bold" pitchFamily="34" charset="-120"/>
              </a:rPr>
              <a:t>)</a:t>
            </a:r>
            <a:endParaRPr lang="en-US" sz="1100" dirty="0"/>
          </a:p>
        </p:txBody>
      </p:sp>
      <p:sp>
        <p:nvSpPr>
          <p:cNvPr id="22" name="Text 18"/>
          <p:cNvSpPr/>
          <p:nvPr/>
        </p:nvSpPr>
        <p:spPr>
          <a:xfrm>
            <a:off x="728663" y="3415773"/>
            <a:ext cx="678656" cy="173236"/>
          </a:xfrm>
          <a:prstGeom prst="rect">
            <a:avLst/>
          </a:prstGeom>
          <a:noFill/>
          <a:ln/>
        </p:spPr>
        <p:txBody>
          <a:bodyPr wrap="none" lIns="0" tIns="0" rIns="0" bIns="0" rtlCol="0" anchor="t">
            <a:spAutoFit/>
          </a:bodyPr>
          <a:lstStyle/>
          <a:p>
            <a:pPr algn="l" indent="0" marL="0">
              <a:lnSpc>
                <a:spcPct val="120000"/>
              </a:lnSpc>
              <a:buNone/>
            </a:pPr>
            <a:r>
              <a:rPr lang="en-US" sz="1050" dirty="0">
                <a:solidFill>
                  <a:srgbClr val="000000"/>
                </a:solidFill>
                <a:latin typeface="Inter" pitchFamily="34" charset="0"/>
                <a:ea typeface="Inter" pitchFamily="34" charset="-122"/>
                <a:cs typeface="Inter" pitchFamily="34" charset="-120"/>
              </a:rPr>
              <a:t>Because f</a:t>
            </a:r>
            <a:endParaRPr lang="en-US" sz="1050" dirty="0"/>
          </a:p>
        </p:txBody>
      </p:sp>
      <p:sp>
        <p:nvSpPr>
          <p:cNvPr id="23" name="Text 19"/>
          <p:cNvSpPr/>
          <p:nvPr/>
        </p:nvSpPr>
        <p:spPr>
          <a:xfrm>
            <a:off x="1407319" y="3469351"/>
            <a:ext cx="69652" cy="144661"/>
          </a:xfrm>
          <a:prstGeom prst="rect">
            <a:avLst/>
          </a:prstGeom>
          <a:noFill/>
          <a:ln/>
        </p:spPr>
        <p:txBody>
          <a:bodyPr wrap="none" lIns="0" tIns="0" rIns="0" bIns="0" rtlCol="0" anchor="t">
            <a:spAutoFit/>
          </a:bodyPr>
          <a:lstStyle/>
          <a:p>
            <a:pPr algn="l" indent="0" marL="0">
              <a:lnSpc>
                <a:spcPct val="119976"/>
              </a:lnSpc>
              <a:buNone/>
            </a:pPr>
            <a:r>
              <a:rPr lang="en-US" sz="850" baseline="-40000" dirty="0">
                <a:solidFill>
                  <a:srgbClr val="000000"/>
                </a:solidFill>
                <a:latin typeface="Inter" pitchFamily="34" charset="0"/>
                <a:ea typeface="Inter" pitchFamily="34" charset="-122"/>
                <a:cs typeface="Inter" pitchFamily="34" charset="-120"/>
              </a:rPr>
              <a:t>e</a:t>
            </a:r>
            <a:endParaRPr lang="en-US" sz="850" dirty="0"/>
          </a:p>
        </p:txBody>
      </p:sp>
      <p:sp>
        <p:nvSpPr>
          <p:cNvPr id="24" name="Text 20"/>
          <p:cNvSpPr/>
          <p:nvPr/>
        </p:nvSpPr>
        <p:spPr>
          <a:xfrm>
            <a:off x="1476970" y="3415773"/>
            <a:ext cx="2859286" cy="173236"/>
          </a:xfrm>
          <a:prstGeom prst="rect">
            <a:avLst/>
          </a:prstGeom>
          <a:noFill/>
          <a:ln/>
        </p:spPr>
        <p:txBody>
          <a:bodyPr wrap="none" lIns="0" tIns="0" rIns="0" bIns="0" rtlCol="0" anchor="t">
            <a:spAutoFit/>
          </a:bodyPr>
          <a:lstStyle/>
          <a:p>
            <a:pPr algn="l" indent="0" marL="0">
              <a:lnSpc>
                <a:spcPct val="120000"/>
              </a:lnSpc>
              <a:buNone/>
            </a:pPr>
            <a:r>
              <a:rPr lang="en-US" sz="1050" dirty="0">
                <a:solidFill>
                  <a:srgbClr val="000000"/>
                </a:solidFill>
                <a:latin typeface="Inter" pitchFamily="34" charset="0"/>
                <a:ea typeface="Inter" pitchFamily="34" charset="-122"/>
                <a:cs typeface="Inter" pitchFamily="34" charset="-120"/>
              </a:rPr>
              <a:t>is low (184 Hz), the controller dynamically</a:t>
            </a:r>
            <a:endParaRPr lang="en-US" sz="1050" dirty="0"/>
          </a:p>
        </p:txBody>
      </p:sp>
      <p:sp>
        <p:nvSpPr>
          <p:cNvPr id="25" name="Text 21"/>
          <p:cNvSpPr/>
          <p:nvPr/>
        </p:nvSpPr>
        <p:spPr>
          <a:xfrm>
            <a:off x="728663" y="3651517"/>
            <a:ext cx="642938" cy="173236"/>
          </a:xfrm>
          <a:prstGeom prst="rect">
            <a:avLst/>
          </a:prstGeom>
          <a:noFill/>
          <a:ln/>
        </p:spPr>
        <p:txBody>
          <a:bodyPr wrap="none" lIns="0" tIns="0" rIns="0" bIns="0" rtlCol="0" anchor="t">
            <a:spAutoFit/>
          </a:bodyPr>
          <a:lstStyle/>
          <a:p>
            <a:pPr algn="l" indent="0" marL="0">
              <a:lnSpc>
                <a:spcPct val="120000"/>
              </a:lnSpc>
              <a:buNone/>
            </a:pPr>
            <a:r>
              <a:rPr lang="en-US" sz="1050" dirty="0">
                <a:solidFill>
                  <a:srgbClr val="000000"/>
                </a:solidFill>
                <a:latin typeface="Inter" pitchFamily="34" charset="0"/>
                <a:ea typeface="Inter" pitchFamily="34" charset="-122"/>
                <a:cs typeface="Inter" pitchFamily="34" charset="-120"/>
              </a:rPr>
              <a:t>reduces f</a:t>
            </a:r>
            <a:endParaRPr lang="en-US" sz="1050" dirty="0"/>
          </a:p>
        </p:txBody>
      </p:sp>
      <p:sp>
        <p:nvSpPr>
          <p:cNvPr id="26" name="Text 22"/>
          <p:cNvSpPr/>
          <p:nvPr/>
        </p:nvSpPr>
        <p:spPr>
          <a:xfrm>
            <a:off x="1371600" y="3705095"/>
            <a:ext cx="160734" cy="144661"/>
          </a:xfrm>
          <a:prstGeom prst="rect">
            <a:avLst/>
          </a:prstGeom>
          <a:noFill/>
          <a:ln/>
        </p:spPr>
        <p:txBody>
          <a:bodyPr wrap="none" lIns="0" tIns="0" rIns="0" bIns="0" rtlCol="0" anchor="t">
            <a:spAutoFit/>
          </a:bodyPr>
          <a:lstStyle/>
          <a:p>
            <a:pPr algn="l" indent="0" marL="0">
              <a:lnSpc>
                <a:spcPct val="119976"/>
              </a:lnSpc>
              <a:buNone/>
            </a:pPr>
            <a:r>
              <a:rPr lang="en-US" sz="850" baseline="-40000" dirty="0">
                <a:solidFill>
                  <a:srgbClr val="000000"/>
                </a:solidFill>
                <a:latin typeface="Inter" pitchFamily="34" charset="0"/>
                <a:ea typeface="Inter" pitchFamily="34" charset="-122"/>
                <a:cs typeface="Inter" pitchFamily="34" charset="-120"/>
              </a:rPr>
              <a:t>sw</a:t>
            </a:r>
            <a:endParaRPr lang="en-US" sz="850" dirty="0"/>
          </a:p>
        </p:txBody>
      </p:sp>
      <p:sp>
        <p:nvSpPr>
          <p:cNvPr id="27" name="Text 23"/>
          <p:cNvSpPr/>
          <p:nvPr/>
        </p:nvSpPr>
        <p:spPr>
          <a:xfrm>
            <a:off x="1532334" y="3651517"/>
            <a:ext cx="2259211" cy="173236"/>
          </a:xfrm>
          <a:prstGeom prst="rect">
            <a:avLst/>
          </a:prstGeom>
          <a:noFill/>
          <a:ln/>
        </p:spPr>
        <p:txBody>
          <a:bodyPr wrap="none" lIns="0" tIns="0" rIns="0" bIns="0" rtlCol="0" anchor="t">
            <a:spAutoFit/>
          </a:bodyPr>
          <a:lstStyle/>
          <a:p>
            <a:pPr algn="l" indent="0" marL="0">
              <a:lnSpc>
                <a:spcPct val="120000"/>
              </a:lnSpc>
              <a:buNone/>
            </a:pPr>
            <a:r>
              <a:rPr lang="en-US" sz="1050" dirty="0">
                <a:solidFill>
                  <a:srgbClr val="000000"/>
                </a:solidFill>
                <a:latin typeface="Inter" pitchFamily="34" charset="0"/>
                <a:ea typeface="Inter" pitchFamily="34" charset="-122"/>
                <a:cs typeface="Inter" pitchFamily="34" charset="-120"/>
              </a:rPr>
              <a:t>to 5 kHz while maintaining a high</a:t>
            </a:r>
            <a:endParaRPr lang="en-US" sz="1050" dirty="0"/>
          </a:p>
        </p:txBody>
      </p:sp>
      <p:sp>
        <p:nvSpPr>
          <p:cNvPr id="28" name="Text 24"/>
          <p:cNvSpPr/>
          <p:nvPr/>
        </p:nvSpPr>
        <p:spPr>
          <a:xfrm>
            <a:off x="728663" y="3887260"/>
            <a:ext cx="1305520" cy="173236"/>
          </a:xfrm>
          <a:prstGeom prst="rect">
            <a:avLst/>
          </a:prstGeom>
          <a:noFill/>
          <a:ln/>
        </p:spPr>
        <p:txBody>
          <a:bodyPr wrap="none" lIns="0" tIns="0" rIns="0" bIns="0" rtlCol="0" anchor="t">
            <a:spAutoFit/>
          </a:bodyPr>
          <a:lstStyle/>
          <a:p>
            <a:pPr algn="l" indent="0" marL="0">
              <a:lnSpc>
                <a:spcPct val="120000"/>
              </a:lnSpc>
              <a:buNone/>
            </a:pPr>
            <a:r>
              <a:rPr lang="en-US" sz="1050" dirty="0">
                <a:solidFill>
                  <a:srgbClr val="000000"/>
                </a:solidFill>
                <a:latin typeface="Inter" pitchFamily="34" charset="0"/>
                <a:ea typeface="Inter" pitchFamily="34" charset="-122"/>
                <a:cs typeface="Inter" pitchFamily="34" charset="-120"/>
              </a:rPr>
              <a:t>modulation ratio (m</a:t>
            </a:r>
            <a:endParaRPr lang="en-US" sz="1050" dirty="0"/>
          </a:p>
        </p:txBody>
      </p:sp>
      <p:sp>
        <p:nvSpPr>
          <p:cNvPr id="29" name="Text 25"/>
          <p:cNvSpPr/>
          <p:nvPr/>
        </p:nvSpPr>
        <p:spPr>
          <a:xfrm>
            <a:off x="2034183" y="3940839"/>
            <a:ext cx="44648" cy="144661"/>
          </a:xfrm>
          <a:prstGeom prst="rect">
            <a:avLst/>
          </a:prstGeom>
          <a:noFill/>
          <a:ln/>
        </p:spPr>
        <p:txBody>
          <a:bodyPr wrap="none" lIns="0" tIns="0" rIns="0" bIns="0" rtlCol="0" anchor="t">
            <a:spAutoFit/>
          </a:bodyPr>
          <a:lstStyle/>
          <a:p>
            <a:pPr algn="l" indent="0" marL="0">
              <a:lnSpc>
                <a:spcPct val="119976"/>
              </a:lnSpc>
              <a:buNone/>
            </a:pPr>
            <a:r>
              <a:rPr lang="en-US" sz="850" baseline="-40000" dirty="0">
                <a:solidFill>
                  <a:srgbClr val="000000"/>
                </a:solidFill>
                <a:latin typeface="Inter" pitchFamily="34" charset="0"/>
                <a:ea typeface="Inter" pitchFamily="34" charset="-122"/>
                <a:cs typeface="Inter" pitchFamily="34" charset="-120"/>
              </a:rPr>
              <a:t>f</a:t>
            </a:r>
            <a:endParaRPr lang="en-US" sz="850" dirty="0"/>
          </a:p>
        </p:txBody>
      </p:sp>
      <p:sp>
        <p:nvSpPr>
          <p:cNvPr id="30" name="Text 26"/>
          <p:cNvSpPr/>
          <p:nvPr/>
        </p:nvSpPr>
        <p:spPr>
          <a:xfrm>
            <a:off x="2078831" y="3887260"/>
            <a:ext cx="2019728" cy="173236"/>
          </a:xfrm>
          <a:prstGeom prst="rect">
            <a:avLst/>
          </a:prstGeom>
          <a:noFill/>
          <a:ln/>
        </p:spPr>
        <p:txBody>
          <a:bodyPr wrap="none" lIns="0" tIns="0" rIns="0" bIns="0" rtlCol="0" anchor="t">
            <a:spAutoFit/>
          </a:bodyPr>
          <a:lstStyle/>
          <a:p>
            <a:pPr algn="l" indent="0" marL="0">
              <a:lnSpc>
                <a:spcPct val="120000"/>
              </a:lnSpc>
              <a:buNone/>
            </a:pPr>
            <a:r>
              <a:rPr lang="en-US" sz="1050" dirty="0">
                <a:solidFill>
                  <a:srgbClr val="000000"/>
                </a:solidFill>
                <a:latin typeface="Inter" pitchFamily="34" charset="0"/>
                <a:ea typeface="Inter" pitchFamily="34" charset="-122"/>
                <a:cs typeface="Inter" pitchFamily="34" charset="-120"/>
              </a:rPr>
              <a:t>≈ 27). This reduces switching</a:t>
            </a:r>
            <a:endParaRPr lang="en-US" sz="1050" dirty="0"/>
          </a:p>
        </p:txBody>
      </p:sp>
      <p:sp>
        <p:nvSpPr>
          <p:cNvPr id="31" name="Text 27"/>
          <p:cNvSpPr/>
          <p:nvPr/>
        </p:nvSpPr>
        <p:spPr>
          <a:xfrm>
            <a:off x="728663" y="4123004"/>
            <a:ext cx="3377208" cy="173236"/>
          </a:xfrm>
          <a:prstGeom prst="rect">
            <a:avLst/>
          </a:prstGeom>
          <a:noFill/>
          <a:ln/>
        </p:spPr>
        <p:txBody>
          <a:bodyPr wrap="none" lIns="0" tIns="0" rIns="0" bIns="0" rtlCol="0" anchor="t">
            <a:spAutoFit/>
          </a:bodyPr>
          <a:lstStyle/>
          <a:p>
            <a:pPr algn="l" indent="0" marL="0">
              <a:lnSpc>
                <a:spcPct val="120000"/>
              </a:lnSpc>
              <a:buNone/>
            </a:pPr>
            <a:r>
              <a:rPr lang="en-US" sz="1050" dirty="0">
                <a:solidFill>
                  <a:srgbClr val="000000"/>
                </a:solidFill>
                <a:latin typeface="Inter" pitchFamily="34" charset="0"/>
                <a:ea typeface="Inter" pitchFamily="34" charset="-122"/>
                <a:cs typeface="Inter" pitchFamily="34" charset="-120"/>
              </a:rPr>
              <a:t>losses by 75% at the operating point where phase</a:t>
            </a:r>
            <a:endParaRPr lang="en-US" sz="1050" dirty="0"/>
          </a:p>
        </p:txBody>
      </p:sp>
      <p:sp>
        <p:nvSpPr>
          <p:cNvPr id="32" name="Text 28"/>
          <p:cNvSpPr/>
          <p:nvPr/>
        </p:nvSpPr>
        <p:spPr>
          <a:xfrm>
            <a:off x="728663" y="4337317"/>
            <a:ext cx="1693069" cy="173236"/>
          </a:xfrm>
          <a:prstGeom prst="rect">
            <a:avLst/>
          </a:prstGeom>
          <a:noFill/>
          <a:ln/>
        </p:spPr>
        <p:txBody>
          <a:bodyPr wrap="none" lIns="0" tIns="0" rIns="0" bIns="0" rtlCol="0" anchor="t">
            <a:spAutoFit/>
          </a:bodyPr>
          <a:lstStyle/>
          <a:p>
            <a:pPr algn="l" indent="0" marL="0">
              <a:lnSpc>
                <a:spcPct val="120000"/>
              </a:lnSpc>
              <a:buNone/>
            </a:pPr>
            <a:r>
              <a:rPr lang="en-US" sz="1050" dirty="0">
                <a:solidFill>
                  <a:srgbClr val="000000"/>
                </a:solidFill>
                <a:latin typeface="Inter" pitchFamily="34" charset="0"/>
                <a:ea typeface="Inter" pitchFamily="34" charset="-122"/>
                <a:cs typeface="Inter" pitchFamily="34" charset="-120"/>
              </a:rPr>
              <a:t>current is highest (136A).</a:t>
            </a:r>
            <a:endParaRPr lang="en-US" sz="1050" dirty="0"/>
          </a:p>
        </p:txBody>
      </p:sp>
      <p:pic>
        <p:nvPicPr>
          <p:cNvPr id="33" name="Image 1" descr="preencoded.png">    </p:cNvPr>
          <p:cNvPicPr>
            <a:picLocks noChangeAspect="1"/>
          </p:cNvPicPr>
          <p:nvPr/>
        </p:nvPicPr>
        <p:blipFill>
          <a:blip r:embed="rId2"/>
          <a:stretch>
            <a:fillRect/>
          </a:stretch>
        </p:blipFill>
        <p:spPr>
          <a:xfrm>
            <a:off x="5000625" y="2005608"/>
            <a:ext cx="3571875" cy="1785938"/>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571500" y="285750"/>
            <a:ext cx="1794867" cy="121444"/>
          </a:xfrm>
          <a:prstGeom prst="rect">
            <a:avLst/>
          </a:prstGeom>
          <a:noFill/>
          <a:ln/>
        </p:spPr>
        <p:txBody>
          <a:bodyPr wrap="square" lIns="0" tIns="0" rIns="0" bIns="0" rtlCol="0" anchor="t">
            <a:spAutoFit/>
          </a:bodyPr>
          <a:lstStyle/>
          <a:p>
            <a:pPr algn="l" indent="0" marL="0">
              <a:buNone/>
            </a:pPr>
            <a:r>
              <a:rPr lang="en-US" sz="700" b="1" spc="1" kern="0" dirty="0">
                <a:solidFill>
                  <a:srgbClr val="2563EB"/>
                </a:solidFill>
                <a:latin typeface="Inter Bold" pitchFamily="34" charset="0"/>
                <a:ea typeface="Inter Bold" pitchFamily="34" charset="-122"/>
                <a:cs typeface="Inter Bold" pitchFamily="34" charset="-120"/>
              </a:rPr>
              <a:t>ECE 595 — PURDUE UNIVERSITY</a:t>
            </a:r>
            <a:endParaRPr lang="en-US" sz="700" dirty="0"/>
          </a:p>
        </p:txBody>
      </p:sp>
      <p:sp>
        <p:nvSpPr>
          <p:cNvPr id="5" name="Text 1"/>
          <p:cNvSpPr/>
          <p:nvPr/>
        </p:nvSpPr>
        <p:spPr>
          <a:xfrm>
            <a:off x="571500" y="714375"/>
            <a:ext cx="4723805" cy="412552"/>
          </a:xfrm>
          <a:prstGeom prst="rect">
            <a:avLst/>
          </a:prstGeom>
          <a:noFill/>
          <a:ln/>
        </p:spPr>
        <p:txBody>
          <a:bodyPr wrap="square" lIns="0" tIns="0" rIns="0" bIns="85090" rtlCol="0" anchor="t">
            <a:spAutoFit/>
          </a:bodyPr>
          <a:lstStyle/>
          <a:p>
            <a:pPr algn="l" indent="0" marL="0">
              <a:buNone/>
            </a:pPr>
            <a:r>
              <a:rPr lang="en-US" sz="1800" b="1" dirty="0">
                <a:solidFill>
                  <a:srgbClr val="000000"/>
                </a:solidFill>
                <a:latin typeface="Inter Bold" pitchFamily="34" charset="0"/>
                <a:ea typeface="Inter Bold" pitchFamily="34" charset="-122"/>
                <a:cs typeface="Inter Bold" pitchFamily="34" charset="-120"/>
              </a:rPr>
              <a:t>Thermal Impact of Adaptive Schedule</a:t>
            </a:r>
            <a:endParaRPr lang="en-US" sz="1800" dirty="0"/>
          </a:p>
        </p:txBody>
      </p:sp>
      <p:sp>
        <p:nvSpPr>
          <p:cNvPr id="6" name="Text 2"/>
          <p:cNvSpPr/>
          <p:nvPr/>
        </p:nvSpPr>
        <p:spPr>
          <a:xfrm>
            <a:off x="571500" y="1269802"/>
            <a:ext cx="112514" cy="300038"/>
          </a:xfrm>
          <a:prstGeom prst="rect">
            <a:avLst/>
          </a:prstGeom>
          <a:noFill/>
          <a:ln/>
        </p:spPr>
        <p:txBody>
          <a:bodyPr wrap="none" lIns="0" tIns="0" rIns="0" bIns="0" rtlCol="0" anchor="t">
            <a:spAutoFit/>
          </a:bodyPr>
          <a:lstStyle/>
          <a:p>
            <a:pPr algn="l" indent="0" marL="0">
              <a:lnSpc>
                <a:spcPct val="120000"/>
              </a:lnSpc>
              <a:buNone/>
            </a:pPr>
            <a:r>
              <a:rPr lang="en-US" sz="1500" dirty="0">
                <a:solidFill>
                  <a:srgbClr val="2563EB"/>
                </a:solidFill>
                <a:latin typeface="Inter" pitchFamily="34" charset="0"/>
                <a:ea typeface="Inter" pitchFamily="34" charset="-122"/>
                <a:cs typeface="Inter" pitchFamily="34" charset="-120"/>
              </a:rPr>
              <a:t>•</a:t>
            </a:r>
            <a:endParaRPr lang="en-US" sz="1500" dirty="0"/>
          </a:p>
        </p:txBody>
      </p:sp>
      <p:sp>
        <p:nvSpPr>
          <p:cNvPr id="7" name="Text 3"/>
          <p:cNvSpPr/>
          <p:nvPr/>
        </p:nvSpPr>
        <p:spPr>
          <a:xfrm>
            <a:off x="771525" y="1318022"/>
            <a:ext cx="1319808" cy="173236"/>
          </a:xfrm>
          <a:prstGeom prst="rect">
            <a:avLst/>
          </a:prstGeom>
          <a:noFill/>
          <a:ln/>
        </p:spPr>
        <p:txBody>
          <a:bodyPr wrap="none" lIns="0" tIns="0" rIns="0" bIns="0" rtlCol="0" anchor="t">
            <a:spAutoFit/>
          </a:bodyPr>
          <a:lstStyle/>
          <a:p>
            <a:pPr algn="l" indent="0" marL="0">
              <a:lnSpc>
                <a:spcPct val="120000"/>
              </a:lnSpc>
              <a:buNone/>
            </a:pPr>
            <a:r>
              <a:rPr lang="en-US" sz="1000" b="1" dirty="0">
                <a:solidFill>
                  <a:srgbClr val="000000"/>
                </a:solidFill>
                <a:latin typeface="Inter Bold" pitchFamily="34" charset="0"/>
                <a:ea typeface="Inter Bold" pitchFamily="34" charset="-122"/>
                <a:cs typeface="Inter Bold" pitchFamily="34" charset="-120"/>
              </a:rPr>
              <a:t>Thermal Modeling:</a:t>
            </a:r>
            <a:endParaRPr lang="en-US" sz="1000" dirty="0"/>
          </a:p>
        </p:txBody>
      </p:sp>
      <p:sp>
        <p:nvSpPr>
          <p:cNvPr id="8" name="Text 4"/>
          <p:cNvSpPr/>
          <p:nvPr/>
        </p:nvSpPr>
        <p:spPr>
          <a:xfrm>
            <a:off x="2091333" y="1318022"/>
            <a:ext cx="1675209" cy="173236"/>
          </a:xfrm>
          <a:prstGeom prst="rect">
            <a:avLst/>
          </a:prstGeom>
          <a:noFill/>
          <a:ln/>
        </p:spPr>
        <p:txBody>
          <a:bodyPr wrap="none" lIns="0" tIns="0" rIns="0" bIns="0" rtlCol="0" anchor="t">
            <a:spAutoFit/>
          </a:bodyPr>
          <a:lstStyle/>
          <a:p>
            <a:pPr algn="l" indent="0" marL="0">
              <a:lnSpc>
                <a:spcPct val="120000"/>
              </a:lnSpc>
              <a:buNone/>
            </a:pPr>
            <a:r>
              <a:rPr lang="en-US" sz="1050" dirty="0">
                <a:solidFill>
                  <a:srgbClr val="000000"/>
                </a:solidFill>
                <a:latin typeface="Inter" pitchFamily="34" charset="0"/>
                <a:ea typeface="Inter" pitchFamily="34" charset="-122"/>
                <a:cs typeface="Inter" pitchFamily="34" charset="-120"/>
              </a:rPr>
              <a:t>Junction temperature (T</a:t>
            </a:r>
            <a:endParaRPr lang="en-US" sz="1050" dirty="0"/>
          </a:p>
        </p:txBody>
      </p:sp>
      <p:sp>
        <p:nvSpPr>
          <p:cNvPr id="9" name="Text 5"/>
          <p:cNvSpPr/>
          <p:nvPr/>
        </p:nvSpPr>
        <p:spPr>
          <a:xfrm>
            <a:off x="3766542" y="1371600"/>
            <a:ext cx="28575" cy="144661"/>
          </a:xfrm>
          <a:prstGeom prst="rect">
            <a:avLst/>
          </a:prstGeom>
          <a:noFill/>
          <a:ln/>
        </p:spPr>
        <p:txBody>
          <a:bodyPr wrap="none" lIns="0" tIns="0" rIns="0" bIns="0" rtlCol="0" anchor="t">
            <a:spAutoFit/>
          </a:bodyPr>
          <a:lstStyle/>
          <a:p>
            <a:pPr algn="l" indent="0" marL="0">
              <a:lnSpc>
                <a:spcPct val="119976"/>
              </a:lnSpc>
              <a:buNone/>
            </a:pPr>
            <a:r>
              <a:rPr lang="en-US" sz="850" baseline="-40000" dirty="0">
                <a:solidFill>
                  <a:srgbClr val="000000"/>
                </a:solidFill>
                <a:latin typeface="Inter" pitchFamily="34" charset="0"/>
                <a:ea typeface="Inter" pitchFamily="34" charset="-122"/>
                <a:cs typeface="Inter" pitchFamily="34" charset="-120"/>
              </a:rPr>
              <a:t>j</a:t>
            </a:r>
            <a:endParaRPr lang="en-US" sz="850" dirty="0"/>
          </a:p>
        </p:txBody>
      </p:sp>
      <p:sp>
        <p:nvSpPr>
          <p:cNvPr id="10" name="Text 6"/>
          <p:cNvSpPr/>
          <p:nvPr/>
        </p:nvSpPr>
        <p:spPr>
          <a:xfrm>
            <a:off x="771525" y="1318022"/>
            <a:ext cx="3862983" cy="623292"/>
          </a:xfrm>
          <a:prstGeom prst="rect">
            <a:avLst/>
          </a:prstGeom>
          <a:noFill/>
          <a:ln/>
        </p:spPr>
        <p:txBody>
          <a:bodyPr wrap="square" lIns="0" tIns="0" rIns="0" bIns="0" rtlCol="0" anchor="t">
            <a:spAutoFit/>
          </a:bodyPr>
          <a:lstStyle/>
          <a:p>
            <a:pPr algn="l" indent="0" marL="0">
              <a:lnSpc>
                <a:spcPct val="120000"/>
              </a:lnSpc>
              <a:buNone/>
            </a:pPr>
            <a:r>
              <a:rPr lang="en-US" sz="1050" dirty="0">
                <a:solidFill>
                  <a:srgbClr val="000000"/>
                </a:solidFill>
                <a:latin typeface="Inter" pitchFamily="34" charset="0"/>
                <a:ea typeface="Inter" pitchFamily="34" charset="-122"/>
                <a:cs typeface="Inter" pitchFamily="34" charset="-120"/>
              </a:rPr>
              <a:t>) was evaluated using a 4-layer Foster thermal network derived directly from the CAB450M12XM3 datasheet.</a:t>
            </a:r>
            <a:endParaRPr lang="en-US" sz="1050" dirty="0"/>
          </a:p>
        </p:txBody>
      </p:sp>
      <p:sp>
        <p:nvSpPr>
          <p:cNvPr id="11" name="Text 7"/>
          <p:cNvSpPr/>
          <p:nvPr/>
        </p:nvSpPr>
        <p:spPr>
          <a:xfrm>
            <a:off x="571500" y="2048470"/>
            <a:ext cx="112514" cy="300038"/>
          </a:xfrm>
          <a:prstGeom prst="rect">
            <a:avLst/>
          </a:prstGeom>
          <a:noFill/>
          <a:ln/>
        </p:spPr>
        <p:txBody>
          <a:bodyPr wrap="none" lIns="0" tIns="0" rIns="0" bIns="0" rtlCol="0" anchor="t">
            <a:spAutoFit/>
          </a:bodyPr>
          <a:lstStyle/>
          <a:p>
            <a:pPr algn="l" indent="0" marL="0">
              <a:lnSpc>
                <a:spcPct val="120000"/>
              </a:lnSpc>
              <a:buNone/>
            </a:pPr>
            <a:r>
              <a:rPr lang="en-US" sz="1500" dirty="0">
                <a:solidFill>
                  <a:srgbClr val="2563EB"/>
                </a:solidFill>
                <a:latin typeface="Inter" pitchFamily="34" charset="0"/>
                <a:ea typeface="Inter" pitchFamily="34" charset="-122"/>
                <a:cs typeface="Inter" pitchFamily="34" charset="-120"/>
              </a:rPr>
              <a:t>•</a:t>
            </a:r>
            <a:endParaRPr lang="en-US" sz="1500" dirty="0"/>
          </a:p>
        </p:txBody>
      </p:sp>
      <p:sp>
        <p:nvSpPr>
          <p:cNvPr id="12" name="Text 8"/>
          <p:cNvSpPr/>
          <p:nvPr/>
        </p:nvSpPr>
        <p:spPr>
          <a:xfrm>
            <a:off x="771525" y="2096691"/>
            <a:ext cx="1703784" cy="173236"/>
          </a:xfrm>
          <a:prstGeom prst="rect">
            <a:avLst/>
          </a:prstGeom>
          <a:noFill/>
          <a:ln/>
        </p:spPr>
        <p:txBody>
          <a:bodyPr wrap="none" lIns="0" tIns="0" rIns="0" bIns="0" rtlCol="0" anchor="t">
            <a:spAutoFit/>
          </a:bodyPr>
          <a:lstStyle/>
          <a:p>
            <a:pPr algn="l" indent="0" marL="0">
              <a:lnSpc>
                <a:spcPct val="120000"/>
              </a:lnSpc>
              <a:buNone/>
            </a:pPr>
            <a:r>
              <a:rPr lang="en-US" sz="1000" b="1" dirty="0">
                <a:solidFill>
                  <a:srgbClr val="000000"/>
                </a:solidFill>
                <a:latin typeface="Inter Bold" pitchFamily="34" charset="0"/>
                <a:ea typeface="Inter Bold" pitchFamily="34" charset="-122"/>
                <a:cs typeface="Inter Bold" pitchFamily="34" charset="-120"/>
              </a:rPr>
              <a:t>Steady-State Reduction:</a:t>
            </a:r>
            <a:endParaRPr lang="en-US" sz="1000" dirty="0"/>
          </a:p>
        </p:txBody>
      </p:sp>
      <p:sp>
        <p:nvSpPr>
          <p:cNvPr id="13" name="Text 9"/>
          <p:cNvSpPr/>
          <p:nvPr/>
        </p:nvSpPr>
        <p:spPr>
          <a:xfrm>
            <a:off x="2475309" y="2096691"/>
            <a:ext cx="2298502" cy="173236"/>
          </a:xfrm>
          <a:prstGeom prst="rect">
            <a:avLst/>
          </a:prstGeom>
          <a:noFill/>
          <a:ln/>
        </p:spPr>
        <p:txBody>
          <a:bodyPr wrap="none" lIns="0" tIns="0" rIns="0" bIns="0" rtlCol="0" anchor="t">
            <a:spAutoFit/>
          </a:bodyPr>
          <a:lstStyle/>
          <a:p>
            <a:pPr algn="l" indent="0" marL="0">
              <a:lnSpc>
                <a:spcPct val="120000"/>
              </a:lnSpc>
              <a:buNone/>
            </a:pPr>
            <a:r>
              <a:rPr lang="en-US" sz="1050" dirty="0">
                <a:solidFill>
                  <a:srgbClr val="000000"/>
                </a:solidFill>
                <a:latin typeface="Inter" pitchFamily="34" charset="0"/>
                <a:ea typeface="Inter" pitchFamily="34" charset="-122"/>
                <a:cs typeface="Inter" pitchFamily="34" charset="-120"/>
              </a:rPr>
              <a:t>The adaptive schedule reduces T</a:t>
            </a:r>
            <a:endParaRPr lang="en-US" sz="1050" dirty="0"/>
          </a:p>
        </p:txBody>
      </p:sp>
      <p:sp>
        <p:nvSpPr>
          <p:cNvPr id="14" name="Text 10"/>
          <p:cNvSpPr/>
          <p:nvPr/>
        </p:nvSpPr>
        <p:spPr>
          <a:xfrm>
            <a:off x="4773811" y="2150269"/>
            <a:ext cx="28575" cy="144661"/>
          </a:xfrm>
          <a:prstGeom prst="rect">
            <a:avLst/>
          </a:prstGeom>
          <a:noFill/>
          <a:ln/>
        </p:spPr>
        <p:txBody>
          <a:bodyPr wrap="none" lIns="0" tIns="0" rIns="0" bIns="0" rtlCol="0" anchor="t">
            <a:spAutoFit/>
          </a:bodyPr>
          <a:lstStyle/>
          <a:p>
            <a:pPr algn="l" indent="0" marL="0">
              <a:lnSpc>
                <a:spcPct val="119976"/>
              </a:lnSpc>
              <a:buNone/>
            </a:pPr>
            <a:r>
              <a:rPr lang="en-US" sz="850" baseline="-40000" dirty="0">
                <a:solidFill>
                  <a:srgbClr val="000000"/>
                </a:solidFill>
                <a:latin typeface="Inter" pitchFamily="34" charset="0"/>
                <a:ea typeface="Inter" pitchFamily="34" charset="-122"/>
                <a:cs typeface="Inter" pitchFamily="34" charset="-120"/>
              </a:rPr>
              <a:t>j</a:t>
            </a:r>
            <a:endParaRPr lang="en-US" sz="850" dirty="0"/>
          </a:p>
        </p:txBody>
      </p:sp>
      <p:sp>
        <p:nvSpPr>
          <p:cNvPr id="15" name="Text 11"/>
          <p:cNvSpPr/>
          <p:nvPr/>
        </p:nvSpPr>
        <p:spPr>
          <a:xfrm>
            <a:off x="771525" y="2332434"/>
            <a:ext cx="3907631" cy="601861"/>
          </a:xfrm>
          <a:prstGeom prst="rect">
            <a:avLst/>
          </a:prstGeom>
          <a:noFill/>
          <a:ln/>
        </p:spPr>
        <p:txBody>
          <a:bodyPr wrap="square" lIns="0" tIns="0" rIns="0" bIns="0" rtlCol="0" anchor="t">
            <a:spAutoFit/>
          </a:bodyPr>
          <a:lstStyle/>
          <a:p>
            <a:pPr algn="l" indent="0" marL="0">
              <a:lnSpc>
                <a:spcPct val="120000"/>
              </a:lnSpc>
              <a:buNone/>
            </a:pPr>
            <a:r>
              <a:rPr lang="en-US" sz="1050" dirty="0">
                <a:solidFill>
                  <a:srgbClr val="000000"/>
                </a:solidFill>
                <a:latin typeface="Inter" pitchFamily="34" charset="0"/>
                <a:ea typeface="Inter" pitchFamily="34" charset="-122"/>
                <a:cs typeface="Inter" pitchFamily="34" charset="-120"/>
              </a:rPr>
              <a:t>by 16.2°C during peak torque conditions (20 km/h) and by 9.7°C during urban driving compared to a fixed 20 kHz baseline.</a:t>
            </a:r>
            <a:endParaRPr lang="en-US" sz="1050" dirty="0"/>
          </a:p>
        </p:txBody>
      </p:sp>
      <p:sp>
        <p:nvSpPr>
          <p:cNvPr id="16" name="Text 12"/>
          <p:cNvSpPr/>
          <p:nvPr/>
        </p:nvSpPr>
        <p:spPr>
          <a:xfrm>
            <a:off x="571500" y="3041452"/>
            <a:ext cx="112514" cy="300038"/>
          </a:xfrm>
          <a:prstGeom prst="rect">
            <a:avLst/>
          </a:prstGeom>
          <a:noFill/>
          <a:ln/>
        </p:spPr>
        <p:txBody>
          <a:bodyPr wrap="none" lIns="0" tIns="0" rIns="0" bIns="0" rtlCol="0" anchor="t">
            <a:spAutoFit/>
          </a:bodyPr>
          <a:lstStyle/>
          <a:p>
            <a:pPr algn="l" indent="0" marL="0">
              <a:lnSpc>
                <a:spcPct val="120000"/>
              </a:lnSpc>
              <a:buNone/>
            </a:pPr>
            <a:r>
              <a:rPr lang="en-US" sz="1500" dirty="0">
                <a:solidFill>
                  <a:srgbClr val="2563EB"/>
                </a:solidFill>
                <a:latin typeface="Inter" pitchFamily="34" charset="0"/>
                <a:ea typeface="Inter" pitchFamily="34" charset="-122"/>
                <a:cs typeface="Inter" pitchFamily="34" charset="-120"/>
              </a:rPr>
              <a:t>•</a:t>
            </a:r>
            <a:endParaRPr lang="en-US" sz="1500" dirty="0"/>
          </a:p>
        </p:txBody>
      </p:sp>
      <p:sp>
        <p:nvSpPr>
          <p:cNvPr id="17" name="Text 13"/>
          <p:cNvSpPr/>
          <p:nvPr/>
        </p:nvSpPr>
        <p:spPr>
          <a:xfrm>
            <a:off x="771525" y="3089672"/>
            <a:ext cx="1891308" cy="173236"/>
          </a:xfrm>
          <a:prstGeom prst="rect">
            <a:avLst/>
          </a:prstGeom>
          <a:noFill/>
          <a:ln/>
        </p:spPr>
        <p:txBody>
          <a:bodyPr wrap="none" lIns="0" tIns="0" rIns="0" bIns="0" rtlCol="0" anchor="t">
            <a:spAutoFit/>
          </a:bodyPr>
          <a:lstStyle/>
          <a:p>
            <a:pPr algn="l" indent="0" marL="0">
              <a:lnSpc>
                <a:spcPct val="120000"/>
              </a:lnSpc>
              <a:buNone/>
            </a:pPr>
            <a:r>
              <a:rPr lang="en-US" sz="1000" b="1" dirty="0">
                <a:solidFill>
                  <a:srgbClr val="000000"/>
                </a:solidFill>
                <a:latin typeface="Inter Bold" pitchFamily="34" charset="0"/>
                <a:ea typeface="Inter Bold" pitchFamily="34" charset="-122"/>
                <a:cs typeface="Inter Bold" pitchFamily="34" charset="-120"/>
              </a:rPr>
              <a:t>Transient Thermal Cycling:</a:t>
            </a:r>
            <a:endParaRPr lang="en-US" sz="1000" dirty="0"/>
          </a:p>
        </p:txBody>
      </p:sp>
      <p:sp>
        <p:nvSpPr>
          <p:cNvPr id="18" name="Text 14"/>
          <p:cNvSpPr/>
          <p:nvPr/>
        </p:nvSpPr>
        <p:spPr>
          <a:xfrm>
            <a:off x="771525" y="3089672"/>
            <a:ext cx="3807619" cy="601861"/>
          </a:xfrm>
          <a:prstGeom prst="rect">
            <a:avLst/>
          </a:prstGeom>
          <a:noFill/>
          <a:ln/>
        </p:spPr>
        <p:txBody>
          <a:bodyPr wrap="square" lIns="0" tIns="0" rIns="0" bIns="0" rtlCol="0" anchor="t">
            <a:spAutoFit/>
          </a:bodyPr>
          <a:lstStyle/>
          <a:p>
            <a:pPr algn="l" indent="0" marL="0">
              <a:lnSpc>
                <a:spcPct val="120000"/>
              </a:lnSpc>
              <a:buNone/>
            </a:pPr>
            <a:r>
              <a:rPr lang="en-US" sz="1050" dirty="0">
                <a:solidFill>
                  <a:srgbClr val="000000"/>
                </a:solidFill>
                <a:latin typeface="Inter" pitchFamily="34" charset="0"/>
                <a:ea typeface="Inter" pitchFamily="34" charset="-122"/>
                <a:cs typeface="Inter" pitchFamily="34" charset="-120"/>
              </a:rPr>
              <a:t>Over a dynamic drive cycle, the adaptive schedule reduces the thermal cycling amplitude (ΔT</a:t>
            </a:r>
            <a:endParaRPr lang="en-US" sz="1050" dirty="0"/>
          </a:p>
        </p:txBody>
      </p:sp>
      <p:sp>
        <p:nvSpPr>
          <p:cNvPr id="19" name="Text 15"/>
          <p:cNvSpPr/>
          <p:nvPr/>
        </p:nvSpPr>
        <p:spPr>
          <a:xfrm>
            <a:off x="1718072" y="3571875"/>
            <a:ext cx="28575" cy="144661"/>
          </a:xfrm>
          <a:prstGeom prst="rect">
            <a:avLst/>
          </a:prstGeom>
          <a:noFill/>
          <a:ln/>
        </p:spPr>
        <p:txBody>
          <a:bodyPr wrap="none" lIns="0" tIns="0" rIns="0" bIns="0" rtlCol="0" anchor="t">
            <a:spAutoFit/>
          </a:bodyPr>
          <a:lstStyle/>
          <a:p>
            <a:pPr algn="l" indent="0" marL="0">
              <a:lnSpc>
                <a:spcPct val="119976"/>
              </a:lnSpc>
              <a:buNone/>
            </a:pPr>
            <a:r>
              <a:rPr lang="en-US" sz="850" baseline="-40000" dirty="0">
                <a:solidFill>
                  <a:srgbClr val="000000"/>
                </a:solidFill>
                <a:latin typeface="Inter" pitchFamily="34" charset="0"/>
                <a:ea typeface="Inter" pitchFamily="34" charset="-122"/>
                <a:cs typeface="Inter" pitchFamily="34" charset="-120"/>
              </a:rPr>
              <a:t>j</a:t>
            </a:r>
            <a:endParaRPr lang="en-US" sz="850" dirty="0"/>
          </a:p>
        </p:txBody>
      </p:sp>
      <p:sp>
        <p:nvSpPr>
          <p:cNvPr id="20" name="Text 16"/>
          <p:cNvSpPr/>
          <p:nvPr/>
        </p:nvSpPr>
        <p:spPr>
          <a:xfrm>
            <a:off x="1746647" y="3518297"/>
            <a:ext cx="2153841" cy="173236"/>
          </a:xfrm>
          <a:prstGeom prst="rect">
            <a:avLst/>
          </a:prstGeom>
          <a:noFill/>
          <a:ln/>
        </p:spPr>
        <p:txBody>
          <a:bodyPr wrap="none" lIns="0" tIns="0" rIns="0" bIns="0" rtlCol="0" anchor="t">
            <a:spAutoFit/>
          </a:bodyPr>
          <a:lstStyle/>
          <a:p>
            <a:pPr algn="l" indent="0" marL="0">
              <a:lnSpc>
                <a:spcPct val="120000"/>
              </a:lnSpc>
              <a:buNone/>
            </a:pPr>
            <a:r>
              <a:rPr lang="en-US" sz="1050" dirty="0">
                <a:solidFill>
                  <a:srgbClr val="000000"/>
                </a:solidFill>
                <a:latin typeface="Inter" pitchFamily="34" charset="0"/>
                <a:ea typeface="Inter" pitchFamily="34" charset="-122"/>
                <a:cs typeface="Inter" pitchFamily="34" charset="-120"/>
              </a:rPr>
              <a:t>) by 53% (from 16.4°C to 7.7°C).</a:t>
            </a:r>
            <a:endParaRPr lang="en-US" sz="1050" dirty="0"/>
          </a:p>
        </p:txBody>
      </p:sp>
      <p:sp>
        <p:nvSpPr>
          <p:cNvPr id="21" name="Text 17"/>
          <p:cNvSpPr/>
          <p:nvPr/>
        </p:nvSpPr>
        <p:spPr>
          <a:xfrm>
            <a:off x="571500" y="3820120"/>
            <a:ext cx="112514" cy="300038"/>
          </a:xfrm>
          <a:prstGeom prst="rect">
            <a:avLst/>
          </a:prstGeom>
          <a:noFill/>
          <a:ln/>
        </p:spPr>
        <p:txBody>
          <a:bodyPr wrap="none" lIns="0" tIns="0" rIns="0" bIns="0" rtlCol="0" anchor="t">
            <a:spAutoFit/>
          </a:bodyPr>
          <a:lstStyle/>
          <a:p>
            <a:pPr algn="l" indent="0" marL="0">
              <a:lnSpc>
                <a:spcPct val="120000"/>
              </a:lnSpc>
              <a:buNone/>
            </a:pPr>
            <a:r>
              <a:rPr lang="en-US" sz="1500" dirty="0">
                <a:solidFill>
                  <a:srgbClr val="2563EB"/>
                </a:solidFill>
                <a:latin typeface="Inter" pitchFamily="34" charset="0"/>
                <a:ea typeface="Inter" pitchFamily="34" charset="-122"/>
                <a:cs typeface="Inter" pitchFamily="34" charset="-120"/>
              </a:rPr>
              <a:t>•</a:t>
            </a:r>
            <a:endParaRPr lang="en-US" sz="1500" dirty="0"/>
          </a:p>
        </p:txBody>
      </p:sp>
      <p:sp>
        <p:nvSpPr>
          <p:cNvPr id="22" name="Text 18"/>
          <p:cNvSpPr/>
          <p:nvPr/>
        </p:nvSpPr>
        <p:spPr>
          <a:xfrm>
            <a:off x="771525" y="3868341"/>
            <a:ext cx="1087636" cy="173236"/>
          </a:xfrm>
          <a:prstGeom prst="rect">
            <a:avLst/>
          </a:prstGeom>
          <a:noFill/>
          <a:ln/>
        </p:spPr>
        <p:txBody>
          <a:bodyPr wrap="none" lIns="0" tIns="0" rIns="0" bIns="0" rtlCol="0" anchor="t">
            <a:spAutoFit/>
          </a:bodyPr>
          <a:lstStyle/>
          <a:p>
            <a:pPr algn="l" indent="0" marL="0">
              <a:lnSpc>
                <a:spcPct val="120000"/>
              </a:lnSpc>
              <a:buNone/>
            </a:pPr>
            <a:r>
              <a:rPr lang="en-US" sz="1000" b="1" dirty="0">
                <a:solidFill>
                  <a:srgbClr val="000000"/>
                </a:solidFill>
                <a:latin typeface="Inter Bold" pitchFamily="34" charset="0"/>
                <a:ea typeface="Inter Bold" pitchFamily="34" charset="-122"/>
                <a:cs typeface="Inter Bold" pitchFamily="34" charset="-120"/>
              </a:rPr>
              <a:t>Reliability Gain:</a:t>
            </a:r>
            <a:endParaRPr lang="en-US" sz="1000" dirty="0"/>
          </a:p>
        </p:txBody>
      </p:sp>
      <p:sp>
        <p:nvSpPr>
          <p:cNvPr id="23" name="Text 19"/>
          <p:cNvSpPr/>
          <p:nvPr/>
        </p:nvSpPr>
        <p:spPr>
          <a:xfrm>
            <a:off x="771525" y="3868341"/>
            <a:ext cx="3954066" cy="387548"/>
          </a:xfrm>
          <a:prstGeom prst="rect">
            <a:avLst/>
          </a:prstGeom>
          <a:noFill/>
          <a:ln/>
        </p:spPr>
        <p:txBody>
          <a:bodyPr wrap="square" lIns="0" tIns="0" rIns="0" bIns="0" rtlCol="0" anchor="t">
            <a:spAutoFit/>
          </a:bodyPr>
          <a:lstStyle/>
          <a:p>
            <a:pPr algn="l" indent="0" marL="0">
              <a:lnSpc>
                <a:spcPct val="120000"/>
              </a:lnSpc>
              <a:buNone/>
            </a:pPr>
            <a:r>
              <a:rPr lang="en-US" sz="1050" dirty="0">
                <a:solidFill>
                  <a:srgbClr val="000000"/>
                </a:solidFill>
                <a:latin typeface="Inter" pitchFamily="34" charset="0"/>
                <a:ea typeface="Inter" pitchFamily="34" charset="-122"/>
                <a:cs typeface="Inter" pitchFamily="34" charset="-120"/>
              </a:rPr>
              <a:t>Per the Coffin-Manson fatigue model, this 53% reduction in ΔT</a:t>
            </a:r>
            <a:endParaRPr lang="en-US" sz="1050" dirty="0"/>
          </a:p>
        </p:txBody>
      </p:sp>
      <p:sp>
        <p:nvSpPr>
          <p:cNvPr id="24" name="Text 20"/>
          <p:cNvSpPr/>
          <p:nvPr/>
        </p:nvSpPr>
        <p:spPr>
          <a:xfrm>
            <a:off x="2155627" y="4136231"/>
            <a:ext cx="28575" cy="144661"/>
          </a:xfrm>
          <a:prstGeom prst="rect">
            <a:avLst/>
          </a:prstGeom>
          <a:noFill/>
          <a:ln/>
        </p:spPr>
        <p:txBody>
          <a:bodyPr wrap="none" lIns="0" tIns="0" rIns="0" bIns="0" rtlCol="0" anchor="t">
            <a:spAutoFit/>
          </a:bodyPr>
          <a:lstStyle/>
          <a:p>
            <a:pPr algn="l" indent="0" marL="0">
              <a:lnSpc>
                <a:spcPct val="119976"/>
              </a:lnSpc>
              <a:buNone/>
            </a:pPr>
            <a:r>
              <a:rPr lang="en-US" sz="850" baseline="-40000" dirty="0">
                <a:solidFill>
                  <a:srgbClr val="000000"/>
                </a:solidFill>
                <a:latin typeface="Inter" pitchFamily="34" charset="0"/>
                <a:ea typeface="Inter" pitchFamily="34" charset="-122"/>
                <a:cs typeface="Inter" pitchFamily="34" charset="-120"/>
              </a:rPr>
              <a:t>j</a:t>
            </a:r>
            <a:endParaRPr lang="en-US" sz="850" dirty="0"/>
          </a:p>
        </p:txBody>
      </p:sp>
      <p:sp>
        <p:nvSpPr>
          <p:cNvPr id="25" name="Text 21"/>
          <p:cNvSpPr/>
          <p:nvPr/>
        </p:nvSpPr>
        <p:spPr>
          <a:xfrm>
            <a:off x="771525" y="4082653"/>
            <a:ext cx="3877270" cy="431583"/>
          </a:xfrm>
          <a:prstGeom prst="rect">
            <a:avLst/>
          </a:prstGeom>
          <a:noFill/>
          <a:ln/>
        </p:spPr>
        <p:txBody>
          <a:bodyPr wrap="square" lIns="0" tIns="0" rIns="0" bIns="0" rtlCol="0" anchor="t">
            <a:spAutoFit/>
          </a:bodyPr>
          <a:lstStyle/>
          <a:p>
            <a:pPr algn="l" indent="0" marL="0">
              <a:lnSpc>
                <a:spcPct val="120000"/>
              </a:lnSpc>
              <a:buNone/>
            </a:pPr>
            <a:r>
              <a:rPr lang="en-US" sz="1050" dirty="0">
                <a:solidFill>
                  <a:srgbClr val="000000"/>
                </a:solidFill>
                <a:latin typeface="Inter" pitchFamily="34" charset="0"/>
                <a:ea typeface="Inter" pitchFamily="34" charset="-122"/>
                <a:cs typeface="Inter" pitchFamily="34" charset="-120"/>
              </a:rPr>
              <a:t>extends the power module's fatigue lifetime, as cycles-to-failure scales with (ΔT</a:t>
            </a:r>
            <a:endParaRPr lang="en-US" sz="1050" dirty="0"/>
          </a:p>
        </p:txBody>
      </p:sp>
      <p:sp>
        <p:nvSpPr>
          <p:cNvPr id="26" name="Text 22"/>
          <p:cNvSpPr/>
          <p:nvPr/>
        </p:nvSpPr>
        <p:spPr>
          <a:xfrm>
            <a:off x="3732609" y="4394578"/>
            <a:ext cx="28575" cy="144661"/>
          </a:xfrm>
          <a:prstGeom prst="rect">
            <a:avLst/>
          </a:prstGeom>
          <a:noFill/>
          <a:ln/>
        </p:spPr>
        <p:txBody>
          <a:bodyPr wrap="none" lIns="0" tIns="0" rIns="0" bIns="0" rtlCol="0" anchor="t">
            <a:spAutoFit/>
          </a:bodyPr>
          <a:lstStyle/>
          <a:p>
            <a:pPr algn="l" indent="0" marL="0">
              <a:lnSpc>
                <a:spcPct val="119976"/>
              </a:lnSpc>
              <a:buNone/>
            </a:pPr>
            <a:r>
              <a:rPr lang="en-US" sz="850" baseline="-40000" dirty="0">
                <a:solidFill>
                  <a:srgbClr val="000000"/>
                </a:solidFill>
                <a:latin typeface="Inter" pitchFamily="34" charset="0"/>
                <a:ea typeface="Inter" pitchFamily="34" charset="-122"/>
                <a:cs typeface="Inter" pitchFamily="34" charset="-120"/>
              </a:rPr>
              <a:t>j</a:t>
            </a:r>
            <a:endParaRPr lang="en-US" sz="850" dirty="0"/>
          </a:p>
        </p:txBody>
      </p:sp>
      <p:sp>
        <p:nvSpPr>
          <p:cNvPr id="27" name="Text 23"/>
          <p:cNvSpPr/>
          <p:nvPr/>
        </p:nvSpPr>
        <p:spPr>
          <a:xfrm>
            <a:off x="3761184" y="4341000"/>
            <a:ext cx="51792" cy="173236"/>
          </a:xfrm>
          <a:prstGeom prst="rect">
            <a:avLst/>
          </a:prstGeom>
          <a:noFill/>
          <a:ln/>
        </p:spPr>
        <p:txBody>
          <a:bodyPr wrap="none" lIns="0" tIns="0" rIns="0" bIns="0" rtlCol="0" anchor="t">
            <a:spAutoFit/>
          </a:bodyPr>
          <a:lstStyle/>
          <a:p>
            <a:pPr algn="l" indent="0" marL="0">
              <a:lnSpc>
                <a:spcPct val="120000"/>
              </a:lnSpc>
              <a:buNone/>
            </a:pPr>
            <a:r>
              <a:rPr lang="en-US" sz="1050" dirty="0">
                <a:solidFill>
                  <a:srgbClr val="000000"/>
                </a:solidFill>
                <a:latin typeface="Inter" pitchFamily="34" charset="0"/>
                <a:ea typeface="Inter" pitchFamily="34" charset="-122"/>
                <a:cs typeface="Inter" pitchFamily="34" charset="-120"/>
              </a:rPr>
              <a:t>)</a:t>
            </a:r>
            <a:endParaRPr lang="en-US" sz="1050" dirty="0"/>
          </a:p>
        </p:txBody>
      </p:sp>
      <p:sp>
        <p:nvSpPr>
          <p:cNvPr id="28" name="Text 24"/>
          <p:cNvSpPr/>
          <p:nvPr/>
        </p:nvSpPr>
        <p:spPr>
          <a:xfrm>
            <a:off x="3812977" y="4314825"/>
            <a:ext cx="148233" cy="144661"/>
          </a:xfrm>
          <a:prstGeom prst="rect">
            <a:avLst/>
          </a:prstGeom>
          <a:noFill/>
          <a:ln/>
        </p:spPr>
        <p:txBody>
          <a:bodyPr wrap="none" lIns="0" tIns="0" rIns="0" bIns="0" rtlCol="0" anchor="t">
            <a:spAutoFit/>
          </a:bodyPr>
          <a:lstStyle/>
          <a:p>
            <a:pPr algn="l" indent="0" marL="0">
              <a:lnSpc>
                <a:spcPct val="119976"/>
              </a:lnSpc>
              <a:buNone/>
            </a:pPr>
            <a:r>
              <a:rPr lang="en-US" sz="850" baseline="30000" dirty="0">
                <a:solidFill>
                  <a:srgbClr val="000000"/>
                </a:solidFill>
                <a:latin typeface="Inter" pitchFamily="34" charset="0"/>
                <a:ea typeface="Inter" pitchFamily="34" charset="-122"/>
                <a:cs typeface="Inter" pitchFamily="34" charset="-120"/>
              </a:rPr>
              <a:t>−n</a:t>
            </a:r>
            <a:endParaRPr lang="en-US" sz="850" dirty="0"/>
          </a:p>
        </p:txBody>
      </p:sp>
      <p:sp>
        <p:nvSpPr>
          <p:cNvPr id="29" name="Text 25"/>
          <p:cNvSpPr/>
          <p:nvPr/>
        </p:nvSpPr>
        <p:spPr>
          <a:xfrm>
            <a:off x="771525" y="4341000"/>
            <a:ext cx="3894962" cy="408980"/>
          </a:xfrm>
          <a:prstGeom prst="rect">
            <a:avLst/>
          </a:prstGeom>
          <a:noFill/>
          <a:ln/>
        </p:spPr>
        <p:txBody>
          <a:bodyPr wrap="square" lIns="0" tIns="0" rIns="0" bIns="0" rtlCol="0" anchor="t">
            <a:spAutoFit/>
          </a:bodyPr>
          <a:lstStyle/>
          <a:p>
            <a:pPr algn="l" indent="0" marL="0">
              <a:lnSpc>
                <a:spcPct val="120000"/>
              </a:lnSpc>
              <a:buNone/>
            </a:pPr>
            <a:r>
              <a:rPr lang="en-US" sz="1050" dirty="0">
                <a:solidFill>
                  <a:srgbClr val="000000"/>
                </a:solidFill>
                <a:latin typeface="Inter" pitchFamily="34" charset="0"/>
                <a:ea typeface="Inter" pitchFamily="34" charset="-122"/>
                <a:cs typeface="Inter" pitchFamily="34" charset="-120"/>
              </a:rPr>
              <a:t>where n ≈ 4–5.</a:t>
            </a:r>
            <a:endParaRPr lang="en-US" sz="1050" dirty="0"/>
          </a:p>
        </p:txBody>
      </p:sp>
      <p:pic>
        <p:nvPicPr>
          <p:cNvPr id="30" name="Image 1" descr="preencoded.png">    </p:cNvPr>
          <p:cNvPicPr>
            <a:picLocks noChangeAspect="1"/>
          </p:cNvPicPr>
          <p:nvPr/>
        </p:nvPicPr>
        <p:blipFill>
          <a:blip r:embed="rId2"/>
          <a:stretch>
            <a:fillRect/>
          </a:stretch>
        </p:blipFill>
        <p:spPr>
          <a:xfrm>
            <a:off x="5122069" y="1729206"/>
            <a:ext cx="3429000" cy="1567216"/>
          </a:xfrm>
          <a:prstGeom prst="rect">
            <a:avLst/>
          </a:prstGeom>
        </p:spPr>
      </p:pic>
      <p:sp>
        <p:nvSpPr>
          <p:cNvPr id="31" name="Text 26"/>
          <p:cNvSpPr/>
          <p:nvPr/>
        </p:nvSpPr>
        <p:spPr>
          <a:xfrm>
            <a:off x="5100638" y="3741539"/>
            <a:ext cx="3471863" cy="280002"/>
          </a:xfrm>
          <a:prstGeom prst="rect">
            <a:avLst/>
          </a:prstGeom>
          <a:noFill/>
          <a:ln/>
        </p:spPr>
        <p:txBody>
          <a:bodyPr wrap="square" lIns="170053" tIns="0" rIns="170053" bIns="0" rtlCol="0" anchor="t">
            <a:spAutoFit/>
          </a:bodyPr>
          <a:lstStyle/>
          <a:p>
            <a:pPr algn="ctr" indent="0" marL="0">
              <a:lnSpc>
                <a:spcPct val="112000"/>
              </a:lnSpc>
              <a:buNone/>
            </a:pPr>
            <a:r>
              <a:rPr lang="en-US" sz="750" dirty="0">
                <a:solidFill>
                  <a:srgbClr val="4B5563"/>
                </a:solidFill>
                <a:latin typeface="Inter" pitchFamily="34" charset="0"/>
                <a:ea typeface="Inter" pitchFamily="34" charset="-122"/>
                <a:cs typeface="Inter" pitchFamily="34" charset="-120"/>
              </a:rPr>
              <a:t>Fig. 4. Time-domain simulation validating FC voltage balancing, a prerequisite for stable thermal operation.</a:t>
            </a:r>
            <a:endParaRPr lang="en-US" sz="7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571500" y="285750"/>
            <a:ext cx="1794867" cy="121444"/>
          </a:xfrm>
          <a:prstGeom prst="rect">
            <a:avLst/>
          </a:prstGeom>
          <a:noFill/>
          <a:ln/>
        </p:spPr>
        <p:txBody>
          <a:bodyPr wrap="square" lIns="0" tIns="0" rIns="0" bIns="0" rtlCol="0" anchor="t">
            <a:spAutoFit/>
          </a:bodyPr>
          <a:lstStyle/>
          <a:p>
            <a:pPr algn="l" indent="0" marL="0">
              <a:buNone/>
            </a:pPr>
            <a:r>
              <a:rPr lang="en-US" sz="700" b="1" spc="1" kern="0" dirty="0">
                <a:solidFill>
                  <a:srgbClr val="2563EB"/>
                </a:solidFill>
                <a:latin typeface="Inter Bold" pitchFamily="34" charset="0"/>
                <a:ea typeface="Inter Bold" pitchFamily="34" charset="-122"/>
                <a:cs typeface="Inter Bold" pitchFamily="34" charset="-120"/>
              </a:rPr>
              <a:t>ECE 595 — PURDUE UNIVERSITY</a:t>
            </a:r>
            <a:endParaRPr lang="en-US" sz="700" dirty="0"/>
          </a:p>
        </p:txBody>
      </p:sp>
      <p:sp>
        <p:nvSpPr>
          <p:cNvPr id="5" name="Text 1"/>
          <p:cNvSpPr/>
          <p:nvPr/>
        </p:nvSpPr>
        <p:spPr>
          <a:xfrm>
            <a:off x="571500" y="714375"/>
            <a:ext cx="2330648" cy="412552"/>
          </a:xfrm>
          <a:prstGeom prst="rect">
            <a:avLst/>
          </a:prstGeom>
          <a:noFill/>
          <a:ln/>
        </p:spPr>
        <p:txBody>
          <a:bodyPr wrap="square" lIns="0" tIns="0" rIns="0" bIns="85090" rtlCol="0" anchor="t">
            <a:spAutoFit/>
          </a:bodyPr>
          <a:lstStyle/>
          <a:p>
            <a:pPr algn="l" indent="0" marL="0">
              <a:buNone/>
            </a:pPr>
            <a:r>
              <a:rPr lang="en-US" sz="1800" b="1" dirty="0">
                <a:solidFill>
                  <a:srgbClr val="000000"/>
                </a:solidFill>
                <a:latin typeface="Inter Bold" pitchFamily="34" charset="0"/>
                <a:ea typeface="Inter Bold" pitchFamily="34" charset="-122"/>
                <a:cs typeface="Inter Bold" pitchFamily="34" charset="-120"/>
              </a:rPr>
              <a:t>Simulation Results</a:t>
            </a:r>
            <a:endParaRPr lang="en-US" sz="1800" dirty="0"/>
          </a:p>
        </p:txBody>
      </p:sp>
      <p:sp>
        <p:nvSpPr>
          <p:cNvPr id="6" name="Text 2"/>
          <p:cNvSpPr/>
          <p:nvPr/>
        </p:nvSpPr>
        <p:spPr>
          <a:xfrm>
            <a:off x="571500" y="1412677"/>
            <a:ext cx="2428875" cy="225028"/>
          </a:xfrm>
          <a:prstGeom prst="rect">
            <a:avLst/>
          </a:prstGeom>
          <a:noFill/>
          <a:ln/>
        </p:spPr>
        <p:txBody>
          <a:bodyPr wrap="square" lIns="0" tIns="0" rIns="0" bIns="0" rtlCol="0" anchor="t">
            <a:spAutoFit/>
          </a:bodyPr>
          <a:lstStyle/>
          <a:p>
            <a:pPr algn="l" indent="0" marL="0">
              <a:buNone/>
            </a:pPr>
            <a:r>
              <a:rPr lang="en-US" sz="1300" b="1" dirty="0">
                <a:solidFill>
                  <a:srgbClr val="2563EB"/>
                </a:solidFill>
                <a:latin typeface="Inter Bold" pitchFamily="34" charset="0"/>
                <a:ea typeface="Inter Bold" pitchFamily="34" charset="-122"/>
                <a:cs typeface="Inter Bold" pitchFamily="34" charset="-120"/>
              </a:rPr>
              <a:t>FC Voltage Balancing</a:t>
            </a:r>
            <a:endParaRPr lang="en-US" sz="1300" dirty="0"/>
          </a:p>
        </p:txBody>
      </p:sp>
      <p:sp>
        <p:nvSpPr>
          <p:cNvPr id="7" name="Text 3"/>
          <p:cNvSpPr/>
          <p:nvPr/>
        </p:nvSpPr>
        <p:spPr>
          <a:xfrm>
            <a:off x="571500" y="1780580"/>
            <a:ext cx="2428875" cy="642938"/>
          </a:xfrm>
          <a:prstGeom prst="rect">
            <a:avLst/>
          </a:prstGeom>
          <a:noFill/>
          <a:ln/>
        </p:spPr>
        <p:txBody>
          <a:bodyPr wrap="square" lIns="238125" tIns="0" rIns="0" bIns="0" rtlCol="0" anchor="t">
            <a:spAutoFit/>
          </a:bodyPr>
          <a:lstStyle/>
          <a:p>
            <a:pPr algn="l" indent="0" marL="0">
              <a:lnSpc>
                <a:spcPct val="120000"/>
              </a:lnSpc>
              <a:buNone/>
            </a:pPr>
            <a:r>
              <a:rPr lang="en-US" sz="1000" b="1" dirty="0">
                <a:solidFill>
                  <a:srgbClr val="000000"/>
                </a:solidFill>
                <a:latin typeface="Inter Bold" pitchFamily="34" charset="0"/>
                <a:ea typeface="Inter Bold" pitchFamily="34" charset="-122"/>
                <a:cs typeface="Inter Bold" pitchFamily="34" charset="-120"/>
              </a:rPr>
              <a:t>Pre-charge:</a:t>
            </a:r>
            <a:r>
              <a:rPr lang="en-US" sz="1050" dirty="0">
                <a:solidFill>
                  <a:srgbClr val="000000"/>
                </a:solidFill>
                <a:latin typeface="Inter" pitchFamily="34" charset="0"/>
                <a:ea typeface="Inter" pitchFamily="34" charset="-122"/>
                <a:cs typeface="Inter" pitchFamily="34" charset="-120"/>
              </a:rPr>
              <a:t> A 20 ms linear ramp prevents inrush currents during startup.</a:t>
            </a:r>
            <a:endParaRPr lang="en-US" sz="1000" dirty="0"/>
          </a:p>
        </p:txBody>
      </p:sp>
      <p:sp>
        <p:nvSpPr>
          <p:cNvPr id="8" name="Text 4"/>
          <p:cNvSpPr/>
          <p:nvPr/>
        </p:nvSpPr>
        <p:spPr>
          <a:xfrm>
            <a:off x="571500" y="2566392"/>
            <a:ext cx="2428875" cy="857250"/>
          </a:xfrm>
          <a:prstGeom prst="rect">
            <a:avLst/>
          </a:prstGeom>
          <a:noFill/>
          <a:ln/>
        </p:spPr>
        <p:txBody>
          <a:bodyPr wrap="square" lIns="238125" tIns="0" rIns="0" bIns="0" rtlCol="0" anchor="t">
            <a:spAutoFit/>
          </a:bodyPr>
          <a:lstStyle/>
          <a:p>
            <a:pPr algn="l" indent="0" marL="0">
              <a:lnSpc>
                <a:spcPct val="120000"/>
              </a:lnSpc>
              <a:buNone/>
            </a:pPr>
            <a:r>
              <a:rPr lang="en-US" sz="1000" b="1" dirty="0">
                <a:solidFill>
                  <a:srgbClr val="000000"/>
                </a:solidFill>
                <a:latin typeface="Inter Bold" pitchFamily="34" charset="0"/>
                <a:ea typeface="Inter Bold" pitchFamily="34" charset="-122"/>
                <a:cs typeface="Inter Bold" pitchFamily="34" charset="-120"/>
              </a:rPr>
              <a:t>Natural Balancing:</a:t>
            </a:r>
            <a:r>
              <a:rPr lang="en-US" sz="1050" dirty="0">
                <a:solidFill>
                  <a:srgbClr val="000000"/>
                </a:solidFill>
                <a:latin typeface="Inter" pitchFamily="34" charset="0"/>
                <a:ea typeface="Inter" pitchFamily="34" charset="-122"/>
                <a:cs typeface="Inter" pitchFamily="34" charset="-120"/>
              </a:rPr>
              <a:t> PD-PWM maintains the flying capacitor voltage at 400V with a mean error &lt; 0.04V.</a:t>
            </a:r>
            <a:endParaRPr lang="en-US" sz="1000" dirty="0"/>
          </a:p>
        </p:txBody>
      </p:sp>
      <p:sp>
        <p:nvSpPr>
          <p:cNvPr id="9" name="Text 5"/>
          <p:cNvSpPr/>
          <p:nvPr/>
        </p:nvSpPr>
        <p:spPr>
          <a:xfrm>
            <a:off x="571500" y="3566517"/>
            <a:ext cx="2428875" cy="642938"/>
          </a:xfrm>
          <a:prstGeom prst="rect">
            <a:avLst/>
          </a:prstGeom>
          <a:noFill/>
          <a:ln/>
        </p:spPr>
        <p:txBody>
          <a:bodyPr wrap="square" lIns="238125" tIns="0" rIns="0" bIns="0" rtlCol="0" anchor="t">
            <a:spAutoFit/>
          </a:bodyPr>
          <a:lstStyle/>
          <a:p>
            <a:pPr algn="l" indent="0" marL="0">
              <a:lnSpc>
                <a:spcPct val="120000"/>
              </a:lnSpc>
              <a:buNone/>
            </a:pPr>
            <a:r>
              <a:rPr lang="en-US" sz="1000" b="1" dirty="0">
                <a:solidFill>
                  <a:srgbClr val="000000"/>
                </a:solidFill>
                <a:latin typeface="Inter Bold" pitchFamily="34" charset="0"/>
                <a:ea typeface="Inter Bold" pitchFamily="34" charset="-122"/>
                <a:cs typeface="Inter Bold" pitchFamily="34" charset="-120"/>
              </a:rPr>
              <a:t>Ripple Budget:</a:t>
            </a:r>
            <a:r>
              <a:rPr lang="en-US" sz="1050" dirty="0">
                <a:solidFill>
                  <a:srgbClr val="000000"/>
                </a:solidFill>
                <a:latin typeface="Inter" pitchFamily="34" charset="0"/>
                <a:ea typeface="Inter" pitchFamily="34" charset="-122"/>
                <a:cs typeface="Inter" pitchFamily="34" charset="-120"/>
              </a:rPr>
              <a:t> Peak-to-peak ripple is 18.0V, within the 5% (20V) design constraint.</a:t>
            </a:r>
            <a:endParaRPr lang="en-US" sz="1000" dirty="0"/>
          </a:p>
        </p:txBody>
      </p:sp>
      <p:sp>
        <p:nvSpPr>
          <p:cNvPr id="10" name="Text 6"/>
          <p:cNvSpPr/>
          <p:nvPr/>
        </p:nvSpPr>
        <p:spPr>
          <a:xfrm>
            <a:off x="571500" y="1752005"/>
            <a:ext cx="112514" cy="300038"/>
          </a:xfrm>
          <a:prstGeom prst="rect">
            <a:avLst/>
          </a:prstGeom>
          <a:noFill/>
          <a:ln/>
        </p:spPr>
        <p:txBody>
          <a:bodyPr wrap="none" lIns="0" tIns="0" rIns="0" bIns="0" rtlCol="0" anchor="t">
            <a:spAutoFit/>
          </a:bodyPr>
          <a:lstStyle/>
          <a:p>
            <a:pPr algn="l" indent="0" marL="0">
              <a:lnSpc>
                <a:spcPct val="120000"/>
              </a:lnSpc>
              <a:buNone/>
            </a:pPr>
            <a:r>
              <a:rPr lang="en-US" sz="1500" dirty="0">
                <a:solidFill>
                  <a:srgbClr val="2563EB"/>
                </a:solidFill>
                <a:latin typeface="Inter" pitchFamily="34" charset="0"/>
                <a:ea typeface="Inter" pitchFamily="34" charset="-122"/>
                <a:cs typeface="Inter" pitchFamily="34" charset="-120"/>
              </a:rPr>
              <a:t>•</a:t>
            </a:r>
            <a:endParaRPr lang="en-US" sz="1500" dirty="0"/>
          </a:p>
        </p:txBody>
      </p:sp>
      <p:sp>
        <p:nvSpPr>
          <p:cNvPr id="11" name="Text 7"/>
          <p:cNvSpPr/>
          <p:nvPr/>
        </p:nvSpPr>
        <p:spPr>
          <a:xfrm>
            <a:off x="571500" y="2537817"/>
            <a:ext cx="112514" cy="300038"/>
          </a:xfrm>
          <a:prstGeom prst="rect">
            <a:avLst/>
          </a:prstGeom>
          <a:noFill/>
          <a:ln/>
        </p:spPr>
        <p:txBody>
          <a:bodyPr wrap="none" lIns="0" tIns="0" rIns="0" bIns="0" rtlCol="0" anchor="t">
            <a:spAutoFit/>
          </a:bodyPr>
          <a:lstStyle/>
          <a:p>
            <a:pPr algn="l" indent="0" marL="0">
              <a:lnSpc>
                <a:spcPct val="120000"/>
              </a:lnSpc>
              <a:buNone/>
            </a:pPr>
            <a:r>
              <a:rPr lang="en-US" sz="1500" dirty="0">
                <a:solidFill>
                  <a:srgbClr val="2563EB"/>
                </a:solidFill>
                <a:latin typeface="Inter" pitchFamily="34" charset="0"/>
                <a:ea typeface="Inter" pitchFamily="34" charset="-122"/>
                <a:cs typeface="Inter" pitchFamily="34" charset="-120"/>
              </a:rPr>
              <a:t>•</a:t>
            </a:r>
            <a:endParaRPr lang="en-US" sz="1500" dirty="0"/>
          </a:p>
        </p:txBody>
      </p:sp>
      <p:sp>
        <p:nvSpPr>
          <p:cNvPr id="12" name="Text 8"/>
          <p:cNvSpPr/>
          <p:nvPr/>
        </p:nvSpPr>
        <p:spPr>
          <a:xfrm>
            <a:off x="571500" y="3537942"/>
            <a:ext cx="112514" cy="300038"/>
          </a:xfrm>
          <a:prstGeom prst="rect">
            <a:avLst/>
          </a:prstGeom>
          <a:noFill/>
          <a:ln/>
        </p:spPr>
        <p:txBody>
          <a:bodyPr wrap="none" lIns="0" tIns="0" rIns="0" bIns="0" rtlCol="0" anchor="t">
            <a:spAutoFit/>
          </a:bodyPr>
          <a:lstStyle/>
          <a:p>
            <a:pPr algn="l" indent="0" marL="0">
              <a:lnSpc>
                <a:spcPct val="120000"/>
              </a:lnSpc>
              <a:buNone/>
            </a:pPr>
            <a:r>
              <a:rPr lang="en-US" sz="1500" dirty="0">
                <a:solidFill>
                  <a:srgbClr val="2563EB"/>
                </a:solidFill>
                <a:latin typeface="Inter" pitchFamily="34" charset="0"/>
                <a:ea typeface="Inter" pitchFamily="34" charset="-122"/>
                <a:cs typeface="Inter" pitchFamily="34" charset="-120"/>
              </a:rPr>
              <a:t>•</a:t>
            </a:r>
            <a:endParaRPr lang="en-US" sz="1500" dirty="0"/>
          </a:p>
        </p:txBody>
      </p:sp>
      <p:sp>
        <p:nvSpPr>
          <p:cNvPr id="13" name="Text 9"/>
          <p:cNvSpPr/>
          <p:nvPr/>
        </p:nvSpPr>
        <p:spPr>
          <a:xfrm>
            <a:off x="3357563" y="1412677"/>
            <a:ext cx="2428875" cy="225028"/>
          </a:xfrm>
          <a:prstGeom prst="rect">
            <a:avLst/>
          </a:prstGeom>
          <a:noFill/>
          <a:ln/>
        </p:spPr>
        <p:txBody>
          <a:bodyPr wrap="square" lIns="0" tIns="0" rIns="0" bIns="0" rtlCol="0" anchor="t">
            <a:spAutoFit/>
          </a:bodyPr>
          <a:lstStyle/>
          <a:p>
            <a:pPr algn="l" indent="0" marL="0">
              <a:buNone/>
            </a:pPr>
            <a:r>
              <a:rPr lang="en-US" sz="1300" b="1" dirty="0">
                <a:solidFill>
                  <a:srgbClr val="2563EB"/>
                </a:solidFill>
                <a:latin typeface="Inter Bold" pitchFamily="34" charset="0"/>
                <a:ea typeface="Inter Bold" pitchFamily="34" charset="-122"/>
                <a:cs typeface="Inter Bold" pitchFamily="34" charset="-120"/>
              </a:rPr>
              <a:t>THD Performance</a:t>
            </a:r>
            <a:endParaRPr lang="en-US" sz="1300" dirty="0"/>
          </a:p>
        </p:txBody>
      </p:sp>
      <p:sp>
        <p:nvSpPr>
          <p:cNvPr id="14" name="Text 10"/>
          <p:cNvSpPr/>
          <p:nvPr/>
        </p:nvSpPr>
        <p:spPr>
          <a:xfrm>
            <a:off x="3357563" y="1780580"/>
            <a:ext cx="2428875" cy="857250"/>
          </a:xfrm>
          <a:prstGeom prst="rect">
            <a:avLst/>
          </a:prstGeom>
          <a:noFill/>
          <a:ln/>
        </p:spPr>
        <p:txBody>
          <a:bodyPr wrap="square" lIns="238125" tIns="0" rIns="0" bIns="0" rtlCol="0" anchor="t">
            <a:spAutoFit/>
          </a:bodyPr>
          <a:lstStyle/>
          <a:p>
            <a:pPr algn="l" indent="0" marL="0">
              <a:lnSpc>
                <a:spcPct val="120000"/>
              </a:lnSpc>
              <a:buNone/>
            </a:pPr>
            <a:r>
              <a:rPr lang="en-US" sz="1000" b="1" dirty="0">
                <a:solidFill>
                  <a:srgbClr val="000000"/>
                </a:solidFill>
                <a:latin typeface="Inter Bold" pitchFamily="34" charset="0"/>
                <a:ea typeface="Inter Bold" pitchFamily="34" charset="-122"/>
                <a:cs typeface="Inter Bold" pitchFamily="34" charset="-120"/>
              </a:rPr>
              <a:t>3-Level Output:</a:t>
            </a:r>
            <a:r>
              <a:rPr lang="en-US" sz="1050" dirty="0">
                <a:solidFill>
                  <a:srgbClr val="000000"/>
                </a:solidFill>
                <a:latin typeface="Inter" pitchFamily="34" charset="0"/>
                <a:ea typeface="Inter" pitchFamily="34" charset="-122"/>
                <a:cs typeface="Inter" pitchFamily="34" charset="-120"/>
              </a:rPr>
              <a:t> The reduced voltage step size improves the harmonic spectrum relative to a 2-level inverter.</a:t>
            </a:r>
            <a:endParaRPr lang="en-US" sz="1000" dirty="0"/>
          </a:p>
        </p:txBody>
      </p:sp>
      <p:sp>
        <p:nvSpPr>
          <p:cNvPr id="15" name="Text 11"/>
          <p:cNvSpPr/>
          <p:nvPr/>
        </p:nvSpPr>
        <p:spPr>
          <a:xfrm>
            <a:off x="3357563" y="2780705"/>
            <a:ext cx="2428875" cy="857250"/>
          </a:xfrm>
          <a:prstGeom prst="rect">
            <a:avLst/>
          </a:prstGeom>
          <a:noFill/>
          <a:ln/>
        </p:spPr>
        <p:txBody>
          <a:bodyPr wrap="square" lIns="238125" tIns="0" rIns="0" bIns="0" rtlCol="0" anchor="t">
            <a:spAutoFit/>
          </a:bodyPr>
          <a:lstStyle/>
          <a:p>
            <a:pPr algn="l" indent="0" marL="0">
              <a:lnSpc>
                <a:spcPct val="120000"/>
              </a:lnSpc>
              <a:buNone/>
            </a:pPr>
            <a:r>
              <a:rPr lang="en-US" sz="1000" b="1" dirty="0">
                <a:solidFill>
                  <a:srgbClr val="000000"/>
                </a:solidFill>
                <a:latin typeface="Inter Bold" pitchFamily="34" charset="0"/>
                <a:ea typeface="Inter Bold" pitchFamily="34" charset="-122"/>
                <a:cs typeface="Inter Bold" pitchFamily="34" charset="-120"/>
              </a:rPr>
              <a:t>Urban (5 kHz):</a:t>
            </a:r>
            <a:r>
              <a:rPr lang="en-US" sz="1050" dirty="0">
                <a:solidFill>
                  <a:srgbClr val="000000"/>
                </a:solidFill>
                <a:latin typeface="Inter" pitchFamily="34" charset="0"/>
                <a:ea typeface="Inter" pitchFamily="34" charset="-122"/>
                <a:cs typeface="Inter" pitchFamily="34" charset="-120"/>
              </a:rPr>
              <a:t> Simulated current THD = 1.92%. Note: this is an optimistic bound (ideal switching model).</a:t>
            </a:r>
            <a:endParaRPr lang="en-US" sz="1000" dirty="0"/>
          </a:p>
        </p:txBody>
      </p:sp>
      <p:sp>
        <p:nvSpPr>
          <p:cNvPr id="16" name="Text 12"/>
          <p:cNvSpPr/>
          <p:nvPr/>
        </p:nvSpPr>
        <p:spPr>
          <a:xfrm>
            <a:off x="3357563" y="3780830"/>
            <a:ext cx="2428875" cy="642938"/>
          </a:xfrm>
          <a:prstGeom prst="rect">
            <a:avLst/>
          </a:prstGeom>
          <a:noFill/>
          <a:ln/>
        </p:spPr>
        <p:txBody>
          <a:bodyPr wrap="square" lIns="238125" tIns="0" rIns="0" bIns="0" rtlCol="0" anchor="t">
            <a:spAutoFit/>
          </a:bodyPr>
          <a:lstStyle/>
          <a:p>
            <a:pPr algn="l" indent="0" marL="0">
              <a:lnSpc>
                <a:spcPct val="120000"/>
              </a:lnSpc>
              <a:buNone/>
            </a:pPr>
            <a:r>
              <a:rPr lang="en-US" sz="1000" b="1" dirty="0">
                <a:solidFill>
                  <a:srgbClr val="000000"/>
                </a:solidFill>
                <a:latin typeface="Inter Bold" pitchFamily="34" charset="0"/>
                <a:ea typeface="Inter Bold" pitchFamily="34" charset="-122"/>
                <a:cs typeface="Inter Bold" pitchFamily="34" charset="-120"/>
              </a:rPr>
              <a:t>Highway (20 kHz):</a:t>
            </a:r>
            <a:r>
              <a:rPr lang="en-US" sz="1050" dirty="0">
                <a:solidFill>
                  <a:srgbClr val="000000"/>
                </a:solidFill>
                <a:latin typeface="Inter" pitchFamily="34" charset="0"/>
                <a:ea typeface="Inter" pitchFamily="34" charset="-122"/>
                <a:cs typeface="Inter" pitchFamily="34" charset="-120"/>
              </a:rPr>
              <a:t> Simulated current THD = 1.13%. Literature range for hardware: 1.5–4%.</a:t>
            </a:r>
            <a:endParaRPr lang="en-US" sz="1000" dirty="0"/>
          </a:p>
        </p:txBody>
      </p:sp>
      <p:sp>
        <p:nvSpPr>
          <p:cNvPr id="17" name="Text 13"/>
          <p:cNvSpPr/>
          <p:nvPr/>
        </p:nvSpPr>
        <p:spPr>
          <a:xfrm>
            <a:off x="3357563" y="1752005"/>
            <a:ext cx="112514" cy="300038"/>
          </a:xfrm>
          <a:prstGeom prst="rect">
            <a:avLst/>
          </a:prstGeom>
          <a:noFill/>
          <a:ln/>
        </p:spPr>
        <p:txBody>
          <a:bodyPr wrap="none" lIns="0" tIns="0" rIns="0" bIns="0" rtlCol="0" anchor="t">
            <a:spAutoFit/>
          </a:bodyPr>
          <a:lstStyle/>
          <a:p>
            <a:pPr algn="l" indent="0" marL="0">
              <a:lnSpc>
                <a:spcPct val="120000"/>
              </a:lnSpc>
              <a:buNone/>
            </a:pPr>
            <a:r>
              <a:rPr lang="en-US" sz="1500" dirty="0">
                <a:solidFill>
                  <a:srgbClr val="2563EB"/>
                </a:solidFill>
                <a:latin typeface="Inter" pitchFamily="34" charset="0"/>
                <a:ea typeface="Inter" pitchFamily="34" charset="-122"/>
                <a:cs typeface="Inter" pitchFamily="34" charset="-120"/>
              </a:rPr>
              <a:t>•</a:t>
            </a:r>
            <a:endParaRPr lang="en-US" sz="1500" dirty="0"/>
          </a:p>
        </p:txBody>
      </p:sp>
      <p:sp>
        <p:nvSpPr>
          <p:cNvPr id="18" name="Text 14"/>
          <p:cNvSpPr/>
          <p:nvPr/>
        </p:nvSpPr>
        <p:spPr>
          <a:xfrm>
            <a:off x="3357563" y="2752130"/>
            <a:ext cx="112514" cy="300038"/>
          </a:xfrm>
          <a:prstGeom prst="rect">
            <a:avLst/>
          </a:prstGeom>
          <a:noFill/>
          <a:ln/>
        </p:spPr>
        <p:txBody>
          <a:bodyPr wrap="none" lIns="0" tIns="0" rIns="0" bIns="0" rtlCol="0" anchor="t">
            <a:spAutoFit/>
          </a:bodyPr>
          <a:lstStyle/>
          <a:p>
            <a:pPr algn="l" indent="0" marL="0">
              <a:lnSpc>
                <a:spcPct val="120000"/>
              </a:lnSpc>
              <a:buNone/>
            </a:pPr>
            <a:r>
              <a:rPr lang="en-US" sz="1500" dirty="0">
                <a:solidFill>
                  <a:srgbClr val="2563EB"/>
                </a:solidFill>
                <a:latin typeface="Inter" pitchFamily="34" charset="0"/>
                <a:ea typeface="Inter" pitchFamily="34" charset="-122"/>
                <a:cs typeface="Inter" pitchFamily="34" charset="-120"/>
              </a:rPr>
              <a:t>•</a:t>
            </a:r>
            <a:endParaRPr lang="en-US" sz="1500" dirty="0"/>
          </a:p>
        </p:txBody>
      </p:sp>
      <p:sp>
        <p:nvSpPr>
          <p:cNvPr id="19" name="Text 15"/>
          <p:cNvSpPr/>
          <p:nvPr/>
        </p:nvSpPr>
        <p:spPr>
          <a:xfrm>
            <a:off x="3357563" y="3752255"/>
            <a:ext cx="112514" cy="300038"/>
          </a:xfrm>
          <a:prstGeom prst="rect">
            <a:avLst/>
          </a:prstGeom>
          <a:noFill/>
          <a:ln/>
        </p:spPr>
        <p:txBody>
          <a:bodyPr wrap="none" lIns="0" tIns="0" rIns="0" bIns="0" rtlCol="0" anchor="t">
            <a:spAutoFit/>
          </a:bodyPr>
          <a:lstStyle/>
          <a:p>
            <a:pPr algn="l" indent="0" marL="0">
              <a:lnSpc>
                <a:spcPct val="120000"/>
              </a:lnSpc>
              <a:buNone/>
            </a:pPr>
            <a:r>
              <a:rPr lang="en-US" sz="1500" dirty="0">
                <a:solidFill>
                  <a:srgbClr val="2563EB"/>
                </a:solidFill>
                <a:latin typeface="Inter" pitchFamily="34" charset="0"/>
                <a:ea typeface="Inter" pitchFamily="34" charset="-122"/>
                <a:cs typeface="Inter" pitchFamily="34" charset="-120"/>
              </a:rPr>
              <a:t>•</a:t>
            </a:r>
            <a:endParaRPr lang="en-US" sz="1500" dirty="0"/>
          </a:p>
        </p:txBody>
      </p:sp>
      <p:sp>
        <p:nvSpPr>
          <p:cNvPr id="20" name="Text 16"/>
          <p:cNvSpPr/>
          <p:nvPr/>
        </p:nvSpPr>
        <p:spPr>
          <a:xfrm>
            <a:off x="6143625" y="1412677"/>
            <a:ext cx="2428875" cy="225028"/>
          </a:xfrm>
          <a:prstGeom prst="rect">
            <a:avLst/>
          </a:prstGeom>
          <a:noFill/>
          <a:ln/>
        </p:spPr>
        <p:txBody>
          <a:bodyPr wrap="square" lIns="0" tIns="0" rIns="0" bIns="0" rtlCol="0" anchor="t">
            <a:spAutoFit/>
          </a:bodyPr>
          <a:lstStyle/>
          <a:p>
            <a:pPr algn="l" indent="0" marL="0">
              <a:buNone/>
            </a:pPr>
            <a:r>
              <a:rPr lang="en-US" sz="1300" b="1" dirty="0">
                <a:solidFill>
                  <a:srgbClr val="2563EB"/>
                </a:solidFill>
                <a:latin typeface="Inter Bold" pitchFamily="34" charset="0"/>
                <a:ea typeface="Inter Bold" pitchFamily="34" charset="-122"/>
                <a:cs typeface="Inter Bold" pitchFamily="34" charset="-120"/>
              </a:rPr>
              <a:t>Thermal Analysis</a:t>
            </a:r>
            <a:endParaRPr lang="en-US" sz="1300" dirty="0"/>
          </a:p>
        </p:txBody>
      </p:sp>
      <p:sp>
        <p:nvSpPr>
          <p:cNvPr id="21" name="Text 17"/>
          <p:cNvSpPr/>
          <p:nvPr/>
        </p:nvSpPr>
        <p:spPr>
          <a:xfrm>
            <a:off x="6143625" y="1752005"/>
            <a:ext cx="112514" cy="300038"/>
          </a:xfrm>
          <a:prstGeom prst="rect">
            <a:avLst/>
          </a:prstGeom>
          <a:noFill/>
          <a:ln/>
        </p:spPr>
        <p:txBody>
          <a:bodyPr wrap="none" lIns="0" tIns="0" rIns="0" bIns="0" rtlCol="0" anchor="t">
            <a:spAutoFit/>
          </a:bodyPr>
          <a:lstStyle/>
          <a:p>
            <a:pPr algn="l" indent="0" marL="0">
              <a:lnSpc>
                <a:spcPct val="120000"/>
              </a:lnSpc>
              <a:buNone/>
            </a:pPr>
            <a:r>
              <a:rPr lang="en-US" sz="1500" dirty="0">
                <a:solidFill>
                  <a:srgbClr val="2563EB"/>
                </a:solidFill>
                <a:latin typeface="Inter" pitchFamily="34" charset="0"/>
                <a:ea typeface="Inter" pitchFamily="34" charset="-122"/>
                <a:cs typeface="Inter" pitchFamily="34" charset="-120"/>
              </a:rPr>
              <a:t>•</a:t>
            </a:r>
            <a:endParaRPr lang="en-US" sz="1500" dirty="0"/>
          </a:p>
        </p:txBody>
      </p:sp>
      <p:sp>
        <p:nvSpPr>
          <p:cNvPr id="22" name="Text 18"/>
          <p:cNvSpPr/>
          <p:nvPr/>
        </p:nvSpPr>
        <p:spPr>
          <a:xfrm>
            <a:off x="6343650" y="1800225"/>
            <a:ext cx="1125141" cy="173236"/>
          </a:xfrm>
          <a:prstGeom prst="rect">
            <a:avLst/>
          </a:prstGeom>
          <a:noFill/>
          <a:ln/>
        </p:spPr>
        <p:txBody>
          <a:bodyPr wrap="none" lIns="0" tIns="0" rIns="0" bIns="0" rtlCol="0" anchor="t">
            <a:spAutoFit/>
          </a:bodyPr>
          <a:lstStyle/>
          <a:p>
            <a:pPr algn="l" indent="0" marL="0">
              <a:lnSpc>
                <a:spcPct val="120000"/>
              </a:lnSpc>
              <a:buNone/>
            </a:pPr>
            <a:r>
              <a:rPr lang="en-US" sz="1000" b="1" dirty="0">
                <a:solidFill>
                  <a:srgbClr val="000000"/>
                </a:solidFill>
                <a:latin typeface="Inter Bold" pitchFamily="34" charset="0"/>
                <a:ea typeface="Inter Bold" pitchFamily="34" charset="-122"/>
                <a:cs typeface="Inter Bold" pitchFamily="34" charset="-120"/>
              </a:rPr>
              <a:t>Foster Network:</a:t>
            </a:r>
            <a:endParaRPr lang="en-US" sz="1000" dirty="0"/>
          </a:p>
        </p:txBody>
      </p:sp>
      <p:sp>
        <p:nvSpPr>
          <p:cNvPr id="23" name="Text 19"/>
          <p:cNvSpPr/>
          <p:nvPr/>
        </p:nvSpPr>
        <p:spPr>
          <a:xfrm>
            <a:off x="6343650" y="1800225"/>
            <a:ext cx="1791295" cy="387548"/>
          </a:xfrm>
          <a:prstGeom prst="rect">
            <a:avLst/>
          </a:prstGeom>
          <a:noFill/>
          <a:ln/>
        </p:spPr>
        <p:txBody>
          <a:bodyPr wrap="square" lIns="0" tIns="0" rIns="0" bIns="0" rtlCol="0" anchor="t">
            <a:spAutoFit/>
          </a:bodyPr>
          <a:lstStyle/>
          <a:p>
            <a:pPr algn="l" indent="0" marL="0">
              <a:lnSpc>
                <a:spcPct val="120000"/>
              </a:lnSpc>
              <a:buNone/>
            </a:pPr>
            <a:r>
              <a:rPr lang="en-US" sz="1050" dirty="0">
                <a:solidFill>
                  <a:srgbClr val="000000"/>
                </a:solidFill>
                <a:latin typeface="Inter" pitchFamily="34" charset="0"/>
                <a:ea typeface="Inter" pitchFamily="34" charset="-122"/>
                <a:cs typeface="Inter" pitchFamily="34" charset="-120"/>
              </a:rPr>
              <a:t>A 4-layer model (R</a:t>
            </a:r>
            <a:endParaRPr lang="en-US" sz="1050" dirty="0"/>
          </a:p>
        </p:txBody>
      </p:sp>
      <p:sp>
        <p:nvSpPr>
          <p:cNvPr id="24" name="Text 20"/>
          <p:cNvSpPr/>
          <p:nvPr/>
        </p:nvSpPr>
        <p:spPr>
          <a:xfrm>
            <a:off x="6943725" y="2068116"/>
            <a:ext cx="239316" cy="144661"/>
          </a:xfrm>
          <a:prstGeom prst="rect">
            <a:avLst/>
          </a:prstGeom>
          <a:noFill/>
          <a:ln/>
        </p:spPr>
        <p:txBody>
          <a:bodyPr wrap="none" lIns="0" tIns="0" rIns="0" bIns="0" rtlCol="0" anchor="t">
            <a:spAutoFit/>
          </a:bodyPr>
          <a:lstStyle/>
          <a:p>
            <a:pPr algn="l" indent="0" marL="0">
              <a:lnSpc>
                <a:spcPct val="119976"/>
              </a:lnSpc>
              <a:buNone/>
            </a:pPr>
            <a:r>
              <a:rPr lang="en-US" sz="850" baseline="-40000" dirty="0">
                <a:solidFill>
                  <a:srgbClr val="000000"/>
                </a:solidFill>
                <a:latin typeface="Inter" pitchFamily="34" charset="0"/>
                <a:ea typeface="Inter" pitchFamily="34" charset="-122"/>
                <a:cs typeface="Inter" pitchFamily="34" charset="-120"/>
              </a:rPr>
              <a:t>th,jc</a:t>
            </a:r>
            <a:endParaRPr lang="en-US" sz="850" dirty="0"/>
          </a:p>
        </p:txBody>
      </p:sp>
      <p:sp>
        <p:nvSpPr>
          <p:cNvPr id="25" name="Text 21"/>
          <p:cNvSpPr/>
          <p:nvPr/>
        </p:nvSpPr>
        <p:spPr>
          <a:xfrm>
            <a:off x="6343650" y="2014538"/>
            <a:ext cx="1862733" cy="623292"/>
          </a:xfrm>
          <a:prstGeom prst="rect">
            <a:avLst/>
          </a:prstGeom>
          <a:noFill/>
          <a:ln/>
        </p:spPr>
        <p:txBody>
          <a:bodyPr wrap="square" lIns="0" tIns="0" rIns="0" bIns="0" rtlCol="0" anchor="t">
            <a:spAutoFit/>
          </a:bodyPr>
          <a:lstStyle/>
          <a:p>
            <a:pPr algn="l" indent="0" marL="0">
              <a:lnSpc>
                <a:spcPct val="120000"/>
              </a:lnSpc>
              <a:buNone/>
            </a:pPr>
            <a:r>
              <a:rPr lang="en-US" sz="1050" dirty="0">
                <a:solidFill>
                  <a:srgbClr val="000000"/>
                </a:solidFill>
                <a:latin typeface="Inter" pitchFamily="34" charset="0"/>
                <a:ea typeface="Inter" pitchFamily="34" charset="-122"/>
                <a:cs typeface="Inter" pitchFamily="34" charset="-120"/>
              </a:rPr>
              <a:t>= 0.094 °C/W) captures transient junction temperature dynamics.</a:t>
            </a:r>
            <a:endParaRPr lang="en-US" sz="1050" dirty="0"/>
          </a:p>
        </p:txBody>
      </p:sp>
      <p:sp>
        <p:nvSpPr>
          <p:cNvPr id="26" name="Text 22"/>
          <p:cNvSpPr/>
          <p:nvPr/>
        </p:nvSpPr>
        <p:spPr>
          <a:xfrm>
            <a:off x="6143625" y="2773561"/>
            <a:ext cx="112514" cy="300038"/>
          </a:xfrm>
          <a:prstGeom prst="rect">
            <a:avLst/>
          </a:prstGeom>
          <a:noFill/>
          <a:ln/>
        </p:spPr>
        <p:txBody>
          <a:bodyPr wrap="none" lIns="0" tIns="0" rIns="0" bIns="0" rtlCol="0" anchor="t">
            <a:spAutoFit/>
          </a:bodyPr>
          <a:lstStyle/>
          <a:p>
            <a:pPr algn="l" indent="0" marL="0">
              <a:lnSpc>
                <a:spcPct val="120000"/>
              </a:lnSpc>
              <a:buNone/>
            </a:pPr>
            <a:r>
              <a:rPr lang="en-US" sz="1500" dirty="0">
                <a:solidFill>
                  <a:srgbClr val="2563EB"/>
                </a:solidFill>
                <a:latin typeface="Inter" pitchFamily="34" charset="0"/>
                <a:ea typeface="Inter" pitchFamily="34" charset="-122"/>
                <a:cs typeface="Inter" pitchFamily="34" charset="-120"/>
              </a:rPr>
              <a:t>•</a:t>
            </a:r>
            <a:endParaRPr lang="en-US" sz="1500" dirty="0"/>
          </a:p>
        </p:txBody>
      </p:sp>
      <p:sp>
        <p:nvSpPr>
          <p:cNvPr id="27" name="Text 23"/>
          <p:cNvSpPr/>
          <p:nvPr/>
        </p:nvSpPr>
        <p:spPr>
          <a:xfrm>
            <a:off x="6343650" y="2821781"/>
            <a:ext cx="471488" cy="173236"/>
          </a:xfrm>
          <a:prstGeom prst="rect">
            <a:avLst/>
          </a:prstGeom>
          <a:noFill/>
          <a:ln/>
        </p:spPr>
        <p:txBody>
          <a:bodyPr wrap="none" lIns="0" tIns="0" rIns="0" bIns="0" rtlCol="0" anchor="t">
            <a:spAutoFit/>
          </a:bodyPr>
          <a:lstStyle/>
          <a:p>
            <a:pPr algn="l" indent="0" marL="0">
              <a:lnSpc>
                <a:spcPct val="120000"/>
              </a:lnSpc>
              <a:buNone/>
            </a:pPr>
            <a:r>
              <a:rPr lang="en-US" sz="1000" b="1" dirty="0">
                <a:solidFill>
                  <a:srgbClr val="000000"/>
                </a:solidFill>
                <a:latin typeface="Inter Bold" pitchFamily="34" charset="0"/>
                <a:ea typeface="Inter Bold" pitchFamily="34" charset="-122"/>
                <a:cs typeface="Inter Bold" pitchFamily="34" charset="-120"/>
              </a:rPr>
              <a:t>Peak T</a:t>
            </a:r>
            <a:endParaRPr lang="en-US" sz="1000" dirty="0"/>
          </a:p>
        </p:txBody>
      </p:sp>
      <p:sp>
        <p:nvSpPr>
          <p:cNvPr id="28" name="Text 24"/>
          <p:cNvSpPr/>
          <p:nvPr/>
        </p:nvSpPr>
        <p:spPr>
          <a:xfrm>
            <a:off x="6815138" y="2875359"/>
            <a:ext cx="32147" cy="144661"/>
          </a:xfrm>
          <a:prstGeom prst="rect">
            <a:avLst/>
          </a:prstGeom>
          <a:noFill/>
          <a:ln/>
        </p:spPr>
        <p:txBody>
          <a:bodyPr wrap="none" lIns="0" tIns="0" rIns="0" bIns="0" rtlCol="0" anchor="t">
            <a:spAutoFit/>
          </a:bodyPr>
          <a:lstStyle/>
          <a:p>
            <a:pPr algn="l" indent="0" marL="0">
              <a:lnSpc>
                <a:spcPct val="119976"/>
              </a:lnSpc>
              <a:buNone/>
            </a:pPr>
            <a:r>
              <a:rPr lang="en-US" sz="800" b="1" baseline="-40000" dirty="0">
                <a:solidFill>
                  <a:srgbClr val="000000"/>
                </a:solidFill>
                <a:latin typeface="Inter Bold" pitchFamily="34" charset="0"/>
                <a:ea typeface="Inter Bold" pitchFamily="34" charset="-122"/>
                <a:cs typeface="Inter Bold" pitchFamily="34" charset="-120"/>
              </a:rPr>
              <a:t>j</a:t>
            </a:r>
            <a:endParaRPr lang="en-US" sz="800" dirty="0"/>
          </a:p>
        </p:txBody>
      </p:sp>
      <p:sp>
        <p:nvSpPr>
          <p:cNvPr id="29" name="Text 25"/>
          <p:cNvSpPr/>
          <p:nvPr/>
        </p:nvSpPr>
        <p:spPr>
          <a:xfrm>
            <a:off x="6847284" y="2821781"/>
            <a:ext cx="48220" cy="173236"/>
          </a:xfrm>
          <a:prstGeom prst="rect">
            <a:avLst/>
          </a:prstGeom>
          <a:noFill/>
          <a:ln/>
        </p:spPr>
        <p:txBody>
          <a:bodyPr wrap="none" lIns="0" tIns="0" rIns="0" bIns="0" rtlCol="0" anchor="t">
            <a:spAutoFit/>
          </a:bodyPr>
          <a:lstStyle/>
          <a:p>
            <a:pPr algn="l" indent="0" marL="0">
              <a:lnSpc>
                <a:spcPct val="120000"/>
              </a:lnSpc>
              <a:buNone/>
            </a:pPr>
            <a:r>
              <a:rPr lang="en-US" sz="1000" b="1" dirty="0">
                <a:solidFill>
                  <a:srgbClr val="000000"/>
                </a:solidFill>
                <a:latin typeface="Inter Bold" pitchFamily="34" charset="0"/>
                <a:ea typeface="Inter Bold" pitchFamily="34" charset="-122"/>
                <a:cs typeface="Inter Bold" pitchFamily="34" charset="-120"/>
              </a:rPr>
              <a:t>:</a:t>
            </a:r>
            <a:endParaRPr lang="en-US" sz="1000" dirty="0"/>
          </a:p>
        </p:txBody>
      </p:sp>
      <p:sp>
        <p:nvSpPr>
          <p:cNvPr id="30" name="Text 26"/>
          <p:cNvSpPr/>
          <p:nvPr/>
        </p:nvSpPr>
        <p:spPr>
          <a:xfrm>
            <a:off x="6343650" y="2821781"/>
            <a:ext cx="1955602" cy="837605"/>
          </a:xfrm>
          <a:prstGeom prst="rect">
            <a:avLst/>
          </a:prstGeom>
          <a:noFill/>
          <a:ln/>
        </p:spPr>
        <p:txBody>
          <a:bodyPr wrap="square" lIns="0" tIns="0" rIns="0" bIns="0" rtlCol="0" anchor="t">
            <a:spAutoFit/>
          </a:bodyPr>
          <a:lstStyle/>
          <a:p>
            <a:pPr algn="l" indent="0" marL="0">
              <a:lnSpc>
                <a:spcPct val="120000"/>
              </a:lnSpc>
              <a:buNone/>
            </a:pPr>
            <a:r>
              <a:rPr lang="en-US" sz="1050" dirty="0">
                <a:solidFill>
                  <a:srgbClr val="000000"/>
                </a:solidFill>
                <a:latin typeface="Inter" pitchFamily="34" charset="0"/>
                <a:ea typeface="Inter" pitchFamily="34" charset="-122"/>
                <a:cs typeface="Inter" pitchFamily="34" charset="-120"/>
              </a:rPr>
              <a:t>Under the adaptive schedule, the junction temperature peaks at 46.4°C (T</a:t>
            </a:r>
            <a:endParaRPr lang="en-US" sz="1050" dirty="0"/>
          </a:p>
        </p:txBody>
      </p:sp>
      <p:sp>
        <p:nvSpPr>
          <p:cNvPr id="31" name="Text 27"/>
          <p:cNvSpPr/>
          <p:nvPr/>
        </p:nvSpPr>
        <p:spPr>
          <a:xfrm>
            <a:off x="6488311" y="3539728"/>
            <a:ext cx="450056" cy="144661"/>
          </a:xfrm>
          <a:prstGeom prst="rect">
            <a:avLst/>
          </a:prstGeom>
          <a:noFill/>
          <a:ln/>
        </p:spPr>
        <p:txBody>
          <a:bodyPr wrap="none" lIns="0" tIns="0" rIns="0" bIns="0" rtlCol="0" anchor="t">
            <a:spAutoFit/>
          </a:bodyPr>
          <a:lstStyle/>
          <a:p>
            <a:pPr algn="l" indent="0" marL="0">
              <a:lnSpc>
                <a:spcPct val="119976"/>
              </a:lnSpc>
              <a:buNone/>
            </a:pPr>
            <a:r>
              <a:rPr lang="en-US" sz="850" baseline="-40000" dirty="0">
                <a:solidFill>
                  <a:srgbClr val="000000"/>
                </a:solidFill>
                <a:latin typeface="Inter" pitchFamily="34" charset="0"/>
                <a:ea typeface="Inter" pitchFamily="34" charset="-122"/>
                <a:cs typeface="Inter" pitchFamily="34" charset="-120"/>
              </a:rPr>
              <a:t>ambient</a:t>
            </a:r>
            <a:endParaRPr lang="en-US" sz="850" dirty="0"/>
          </a:p>
        </p:txBody>
      </p:sp>
      <p:sp>
        <p:nvSpPr>
          <p:cNvPr id="32" name="Text 28"/>
          <p:cNvSpPr/>
          <p:nvPr/>
        </p:nvSpPr>
        <p:spPr>
          <a:xfrm>
            <a:off x="6938367" y="3486150"/>
            <a:ext cx="617934" cy="173236"/>
          </a:xfrm>
          <a:prstGeom prst="rect">
            <a:avLst/>
          </a:prstGeom>
          <a:noFill/>
          <a:ln/>
        </p:spPr>
        <p:txBody>
          <a:bodyPr wrap="none" lIns="0" tIns="0" rIns="0" bIns="0" rtlCol="0" anchor="t">
            <a:spAutoFit/>
          </a:bodyPr>
          <a:lstStyle/>
          <a:p>
            <a:pPr algn="l" indent="0" marL="0">
              <a:lnSpc>
                <a:spcPct val="120000"/>
              </a:lnSpc>
              <a:buNone/>
            </a:pPr>
            <a:r>
              <a:rPr lang="en-US" sz="1050" dirty="0">
                <a:solidFill>
                  <a:srgbClr val="000000"/>
                </a:solidFill>
                <a:latin typeface="Inter" pitchFamily="34" charset="0"/>
                <a:ea typeface="Inter" pitchFamily="34" charset="-122"/>
                <a:cs typeface="Inter" pitchFamily="34" charset="-120"/>
              </a:rPr>
              <a:t>= 40°C).</a:t>
            </a:r>
            <a:endParaRPr lang="en-US" sz="1050" dirty="0"/>
          </a:p>
        </p:txBody>
      </p:sp>
      <p:sp>
        <p:nvSpPr>
          <p:cNvPr id="33" name="Text 29"/>
          <p:cNvSpPr/>
          <p:nvPr/>
        </p:nvSpPr>
        <p:spPr>
          <a:xfrm>
            <a:off x="6143625" y="3845123"/>
            <a:ext cx="2428875" cy="857250"/>
          </a:xfrm>
          <a:prstGeom prst="rect">
            <a:avLst/>
          </a:prstGeom>
          <a:noFill/>
          <a:ln/>
        </p:spPr>
        <p:txBody>
          <a:bodyPr wrap="square" lIns="238125" tIns="0" rIns="0" bIns="0" rtlCol="0" anchor="t">
            <a:spAutoFit/>
          </a:bodyPr>
          <a:lstStyle/>
          <a:p>
            <a:pPr algn="l" indent="0" marL="0">
              <a:lnSpc>
                <a:spcPct val="120000"/>
              </a:lnSpc>
              <a:buNone/>
            </a:pPr>
            <a:r>
              <a:rPr lang="en-US" sz="1000" b="1" dirty="0">
                <a:solidFill>
                  <a:srgbClr val="000000"/>
                </a:solidFill>
                <a:latin typeface="Inter Bold" pitchFamily="34" charset="0"/>
                <a:ea typeface="Inter Bold" pitchFamily="34" charset="-122"/>
                <a:cs typeface="Inter Bold" pitchFamily="34" charset="-120"/>
              </a:rPr>
              <a:t>Safety Margin:</a:t>
            </a:r>
            <a:r>
              <a:rPr lang="en-US" sz="1050" dirty="0">
                <a:solidFill>
                  <a:srgbClr val="000000"/>
                </a:solidFill>
                <a:latin typeface="Inter" pitchFamily="34" charset="0"/>
                <a:ea typeface="Inter" pitchFamily="34" charset="-122"/>
                <a:cs typeface="Inter" pitchFamily="34" charset="-120"/>
              </a:rPr>
              <a:t> 128.6°C below the 175°C device limit, confirming robust thermal headroom.</a:t>
            </a:r>
            <a:endParaRPr lang="en-US" sz="1000" dirty="0"/>
          </a:p>
        </p:txBody>
      </p:sp>
      <p:sp>
        <p:nvSpPr>
          <p:cNvPr id="34" name="Text 30"/>
          <p:cNvSpPr/>
          <p:nvPr/>
        </p:nvSpPr>
        <p:spPr>
          <a:xfrm>
            <a:off x="6143625" y="3816548"/>
            <a:ext cx="112514" cy="300038"/>
          </a:xfrm>
          <a:prstGeom prst="rect">
            <a:avLst/>
          </a:prstGeom>
          <a:noFill/>
          <a:ln/>
        </p:spPr>
        <p:txBody>
          <a:bodyPr wrap="none" lIns="0" tIns="0" rIns="0" bIns="0" rtlCol="0" anchor="t">
            <a:spAutoFit/>
          </a:bodyPr>
          <a:lstStyle/>
          <a:p>
            <a:pPr algn="l" indent="0" marL="0">
              <a:lnSpc>
                <a:spcPct val="120000"/>
              </a:lnSpc>
              <a:buNone/>
            </a:pPr>
            <a:r>
              <a:rPr lang="en-US" sz="1500" dirty="0">
                <a:solidFill>
                  <a:srgbClr val="2563EB"/>
                </a:solidFill>
                <a:latin typeface="Inter" pitchFamily="34" charset="0"/>
                <a:ea typeface="Inter" pitchFamily="34" charset="-122"/>
                <a:cs typeface="Inter" pitchFamily="34" charset="-120"/>
              </a:rPr>
              <a:t>•</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571500" y="285750"/>
            <a:ext cx="1794867" cy="121444"/>
          </a:xfrm>
          <a:prstGeom prst="rect">
            <a:avLst/>
          </a:prstGeom>
          <a:noFill/>
          <a:ln/>
        </p:spPr>
        <p:txBody>
          <a:bodyPr wrap="square" lIns="0" tIns="0" rIns="0" bIns="0" rtlCol="0" anchor="t">
            <a:spAutoFit/>
          </a:bodyPr>
          <a:lstStyle/>
          <a:p>
            <a:pPr algn="l" indent="0" marL="0">
              <a:buNone/>
            </a:pPr>
            <a:r>
              <a:rPr lang="en-US" sz="700" b="1" spc="1" kern="0" dirty="0">
                <a:solidFill>
                  <a:srgbClr val="2563EB"/>
                </a:solidFill>
                <a:latin typeface="Inter Bold" pitchFamily="34" charset="0"/>
                <a:ea typeface="Inter Bold" pitchFamily="34" charset="-122"/>
                <a:cs typeface="Inter Bold" pitchFamily="34" charset="-120"/>
              </a:rPr>
              <a:t>ECE 595 — PURDUE UNIVERSITY</a:t>
            </a:r>
            <a:endParaRPr lang="en-US" sz="700" dirty="0"/>
          </a:p>
        </p:txBody>
      </p:sp>
      <p:sp>
        <p:nvSpPr>
          <p:cNvPr id="5" name="Text 1"/>
          <p:cNvSpPr/>
          <p:nvPr/>
        </p:nvSpPr>
        <p:spPr>
          <a:xfrm>
            <a:off x="571500" y="714375"/>
            <a:ext cx="1423392" cy="412552"/>
          </a:xfrm>
          <a:prstGeom prst="rect">
            <a:avLst/>
          </a:prstGeom>
          <a:noFill/>
          <a:ln/>
        </p:spPr>
        <p:txBody>
          <a:bodyPr wrap="square" lIns="0" tIns="0" rIns="0" bIns="85090" rtlCol="0" anchor="t">
            <a:spAutoFit/>
          </a:bodyPr>
          <a:lstStyle/>
          <a:p>
            <a:pPr algn="l" indent="0" marL="0">
              <a:buNone/>
            </a:pPr>
            <a:r>
              <a:rPr lang="en-US" sz="1800" b="1" dirty="0">
                <a:solidFill>
                  <a:srgbClr val="000000"/>
                </a:solidFill>
                <a:latin typeface="Inter Bold" pitchFamily="34" charset="0"/>
                <a:ea typeface="Inter Bold" pitchFamily="34" charset="-122"/>
                <a:cs typeface="Inter Bold" pitchFamily="34" charset="-120"/>
              </a:rPr>
              <a:t>Conclusion</a:t>
            </a:r>
            <a:endParaRPr lang="en-US" sz="1800" dirty="0"/>
          </a:p>
        </p:txBody>
      </p:sp>
      <p:sp>
        <p:nvSpPr>
          <p:cNvPr id="6" name="Text 2"/>
          <p:cNvSpPr/>
          <p:nvPr/>
        </p:nvSpPr>
        <p:spPr>
          <a:xfrm>
            <a:off x="571500" y="1341239"/>
            <a:ext cx="3786188" cy="207169"/>
          </a:xfrm>
          <a:prstGeom prst="rect">
            <a:avLst/>
          </a:prstGeom>
          <a:noFill/>
          <a:ln/>
        </p:spPr>
        <p:txBody>
          <a:bodyPr wrap="square" lIns="0" tIns="0" rIns="0" bIns="0" rtlCol="0" anchor="t">
            <a:spAutoFit/>
          </a:bodyPr>
          <a:lstStyle/>
          <a:p>
            <a:pPr algn="l" indent="0" marL="0">
              <a:buNone/>
            </a:pPr>
            <a:r>
              <a:rPr lang="en-US" sz="1200" b="1" dirty="0">
                <a:solidFill>
                  <a:srgbClr val="2563EB"/>
                </a:solidFill>
                <a:latin typeface="Inter Bold" pitchFamily="34" charset="0"/>
                <a:ea typeface="Inter Bold" pitchFamily="34" charset="-122"/>
                <a:cs typeface="Inter Bold" pitchFamily="34" charset="-120"/>
              </a:rPr>
              <a:t>Key Findings</a:t>
            </a:r>
            <a:endParaRPr lang="en-US" sz="1200" dirty="0"/>
          </a:p>
        </p:txBody>
      </p:sp>
      <p:sp>
        <p:nvSpPr>
          <p:cNvPr id="7" name="Text 3"/>
          <p:cNvSpPr/>
          <p:nvPr/>
        </p:nvSpPr>
        <p:spPr>
          <a:xfrm>
            <a:off x="571500" y="1662708"/>
            <a:ext cx="3786188" cy="642938"/>
          </a:xfrm>
          <a:prstGeom prst="rect">
            <a:avLst/>
          </a:prstGeom>
          <a:noFill/>
          <a:ln/>
        </p:spPr>
        <p:txBody>
          <a:bodyPr wrap="square" lIns="238125" tIns="0" rIns="0" bIns="0" rtlCol="0" anchor="t">
            <a:spAutoFit/>
          </a:bodyPr>
          <a:lstStyle/>
          <a:p>
            <a:pPr algn="l" indent="0" marL="0">
              <a:lnSpc>
                <a:spcPct val="120000"/>
              </a:lnSpc>
              <a:buNone/>
            </a:pPr>
            <a:r>
              <a:rPr lang="en-US" sz="1000" b="1" dirty="0">
                <a:solidFill>
                  <a:srgbClr val="000000"/>
                </a:solidFill>
                <a:latin typeface="Inter Bold" pitchFamily="34" charset="0"/>
                <a:ea typeface="Inter Bold" pitchFamily="34" charset="-122"/>
                <a:cs typeface="Inter Bold" pitchFamily="34" charset="-120"/>
              </a:rPr>
              <a:t>Topology Validation:</a:t>
            </a:r>
            <a:r>
              <a:rPr lang="en-US" sz="1050" dirty="0">
                <a:solidFill>
                  <a:srgbClr val="000000"/>
                </a:solidFill>
                <a:latin typeface="Inter" pitchFamily="34" charset="0"/>
                <a:ea typeface="Inter" pitchFamily="34" charset="-122"/>
                <a:cs typeface="Inter" pitchFamily="34" charset="-120"/>
              </a:rPr>
              <a:t> The 800V 3-Level Flying Capacitor topology reduces dv/dt stress by half and improves harmonic performance relative to 2L-VSI.</a:t>
            </a:r>
            <a:endParaRPr lang="en-US" sz="1000" dirty="0"/>
          </a:p>
        </p:txBody>
      </p:sp>
      <p:sp>
        <p:nvSpPr>
          <p:cNvPr id="8" name="Text 4"/>
          <p:cNvSpPr/>
          <p:nvPr/>
        </p:nvSpPr>
        <p:spPr>
          <a:xfrm>
            <a:off x="571500" y="2419945"/>
            <a:ext cx="3786188" cy="642938"/>
          </a:xfrm>
          <a:prstGeom prst="rect">
            <a:avLst/>
          </a:prstGeom>
          <a:noFill/>
          <a:ln/>
        </p:spPr>
        <p:txBody>
          <a:bodyPr wrap="square" lIns="238125" tIns="0" rIns="0" bIns="0" rtlCol="0" anchor="t">
            <a:spAutoFit/>
          </a:bodyPr>
          <a:lstStyle/>
          <a:p>
            <a:pPr algn="l" indent="0" marL="0">
              <a:lnSpc>
                <a:spcPct val="120000"/>
              </a:lnSpc>
              <a:buNone/>
            </a:pPr>
            <a:r>
              <a:rPr lang="en-US" sz="1000" b="1" dirty="0">
                <a:solidFill>
                  <a:srgbClr val="000000"/>
                </a:solidFill>
                <a:latin typeface="Inter Bold" pitchFamily="34" charset="0"/>
                <a:ea typeface="Inter Bold" pitchFamily="34" charset="-122"/>
                <a:cs typeface="Inter Bold" pitchFamily="34" charset="-120"/>
              </a:rPr>
              <a:t>Loss Reduction:</a:t>
            </a:r>
            <a:r>
              <a:rPr lang="en-US" sz="1050" dirty="0">
                <a:solidFill>
                  <a:srgbClr val="000000"/>
                </a:solidFill>
                <a:latin typeface="Inter" pitchFamily="34" charset="0"/>
                <a:ea typeface="Inter" pitchFamily="34" charset="-122"/>
                <a:cs typeface="Inter" pitchFamily="34" charset="-120"/>
              </a:rPr>
              <a:t> Adaptive switching frequency reduces urban switching losses by </a:t>
            </a:r>
            <a:r>
              <a:rPr lang="en-US" sz="1000" b="1" dirty="0">
                <a:solidFill>
                  <a:srgbClr val="000000"/>
                </a:solidFill>
                <a:latin typeface="Inter Bold" pitchFamily="34" charset="0"/>
                <a:ea typeface="Inter Bold" pitchFamily="34" charset="-122"/>
                <a:cs typeface="Inter Bold" pitchFamily="34" charset="-120"/>
              </a:rPr>
              <a:t>75%</a:t>
            </a:r>
            <a:r>
              <a:rPr lang="en-US" sz="1050" dirty="0">
                <a:solidFill>
                  <a:srgbClr val="000000"/>
                </a:solidFill>
                <a:latin typeface="Inter" pitchFamily="34" charset="0"/>
                <a:ea typeface="Inter" pitchFamily="34" charset="-122"/>
                <a:cs typeface="Inter" pitchFamily="34" charset="-120"/>
              </a:rPr>
              <a:t> (84.3 → 21.1 W/phase), saving 190 W three-phase.</a:t>
            </a:r>
            <a:endParaRPr lang="en-US" sz="1000" dirty="0"/>
          </a:p>
        </p:txBody>
      </p:sp>
      <p:sp>
        <p:nvSpPr>
          <p:cNvPr id="9" name="Text 5"/>
          <p:cNvSpPr/>
          <p:nvPr/>
        </p:nvSpPr>
        <p:spPr>
          <a:xfrm>
            <a:off x="571500" y="3177183"/>
            <a:ext cx="3786188" cy="642938"/>
          </a:xfrm>
          <a:prstGeom prst="rect">
            <a:avLst/>
          </a:prstGeom>
          <a:noFill/>
          <a:ln/>
        </p:spPr>
        <p:txBody>
          <a:bodyPr wrap="square" lIns="238125" tIns="0" rIns="0" bIns="0" rtlCol="0" anchor="t">
            <a:spAutoFit/>
          </a:bodyPr>
          <a:lstStyle/>
          <a:p>
            <a:pPr algn="l" indent="0" marL="0">
              <a:lnSpc>
                <a:spcPct val="120000"/>
              </a:lnSpc>
              <a:buNone/>
            </a:pPr>
            <a:r>
              <a:rPr lang="en-US" sz="1000" b="1" dirty="0">
                <a:solidFill>
                  <a:srgbClr val="000000"/>
                </a:solidFill>
                <a:latin typeface="Inter Bold" pitchFamily="34" charset="0"/>
                <a:ea typeface="Inter Bold" pitchFamily="34" charset="-122"/>
                <a:cs typeface="Inter Bold" pitchFamily="34" charset="-120"/>
              </a:rPr>
              <a:t>Thermal Improvement:</a:t>
            </a:r>
            <a:r>
              <a:rPr lang="en-US" sz="1050" dirty="0">
                <a:solidFill>
                  <a:srgbClr val="000000"/>
                </a:solidFill>
                <a:latin typeface="Inter" pitchFamily="34" charset="0"/>
                <a:ea typeface="Inter" pitchFamily="34" charset="-122"/>
                <a:cs typeface="Inter" pitchFamily="34" charset="-120"/>
              </a:rPr>
              <a:t> Thermal cycling amplitude reduced by </a:t>
            </a:r>
            <a:r>
              <a:rPr lang="en-US" sz="1000" b="1" dirty="0">
                <a:solidFill>
                  <a:srgbClr val="000000"/>
                </a:solidFill>
                <a:latin typeface="Inter Bold" pitchFamily="34" charset="0"/>
                <a:ea typeface="Inter Bold" pitchFamily="34" charset="-122"/>
                <a:cs typeface="Inter Bold" pitchFamily="34" charset="-120"/>
              </a:rPr>
              <a:t>53%</a:t>
            </a:r>
            <a:r>
              <a:rPr lang="en-US" sz="1050" dirty="0">
                <a:solidFill>
                  <a:srgbClr val="000000"/>
                </a:solidFill>
                <a:latin typeface="Inter" pitchFamily="34" charset="0"/>
                <a:ea typeface="Inter" pitchFamily="34" charset="-122"/>
                <a:cs typeface="Inter" pitchFamily="34" charset="-120"/>
              </a:rPr>
              <a:t> (16.4°C → 7.7°C), extending power module fatigue lifetime per Coffin-Manson.</a:t>
            </a:r>
            <a:endParaRPr lang="en-US" sz="1000" dirty="0"/>
          </a:p>
        </p:txBody>
      </p:sp>
      <p:sp>
        <p:nvSpPr>
          <p:cNvPr id="10" name="Text 6"/>
          <p:cNvSpPr/>
          <p:nvPr/>
        </p:nvSpPr>
        <p:spPr>
          <a:xfrm>
            <a:off x="571500" y="1634133"/>
            <a:ext cx="112514" cy="300038"/>
          </a:xfrm>
          <a:prstGeom prst="rect">
            <a:avLst/>
          </a:prstGeom>
          <a:noFill/>
          <a:ln/>
        </p:spPr>
        <p:txBody>
          <a:bodyPr wrap="none" lIns="0" tIns="0" rIns="0" bIns="0" rtlCol="0" anchor="t">
            <a:spAutoFit/>
          </a:bodyPr>
          <a:lstStyle/>
          <a:p>
            <a:pPr algn="l" indent="0" marL="0">
              <a:lnSpc>
                <a:spcPct val="120000"/>
              </a:lnSpc>
              <a:buNone/>
            </a:pPr>
            <a:r>
              <a:rPr lang="en-US" sz="1500" dirty="0">
                <a:solidFill>
                  <a:srgbClr val="2563EB"/>
                </a:solidFill>
                <a:latin typeface="Inter" pitchFamily="34" charset="0"/>
                <a:ea typeface="Inter" pitchFamily="34" charset="-122"/>
                <a:cs typeface="Inter" pitchFamily="34" charset="-120"/>
              </a:rPr>
              <a:t>•</a:t>
            </a:r>
            <a:endParaRPr lang="en-US" sz="1500" dirty="0"/>
          </a:p>
        </p:txBody>
      </p:sp>
      <p:sp>
        <p:nvSpPr>
          <p:cNvPr id="11" name="Text 7"/>
          <p:cNvSpPr/>
          <p:nvPr/>
        </p:nvSpPr>
        <p:spPr>
          <a:xfrm>
            <a:off x="571500" y="2391370"/>
            <a:ext cx="112514" cy="300038"/>
          </a:xfrm>
          <a:prstGeom prst="rect">
            <a:avLst/>
          </a:prstGeom>
          <a:noFill/>
          <a:ln/>
        </p:spPr>
        <p:txBody>
          <a:bodyPr wrap="none" lIns="0" tIns="0" rIns="0" bIns="0" rtlCol="0" anchor="t">
            <a:spAutoFit/>
          </a:bodyPr>
          <a:lstStyle/>
          <a:p>
            <a:pPr algn="l" indent="0" marL="0">
              <a:lnSpc>
                <a:spcPct val="120000"/>
              </a:lnSpc>
              <a:buNone/>
            </a:pPr>
            <a:r>
              <a:rPr lang="en-US" sz="1500" dirty="0">
                <a:solidFill>
                  <a:srgbClr val="2563EB"/>
                </a:solidFill>
                <a:latin typeface="Inter" pitchFamily="34" charset="0"/>
                <a:ea typeface="Inter" pitchFamily="34" charset="-122"/>
                <a:cs typeface="Inter" pitchFamily="34" charset="-120"/>
              </a:rPr>
              <a:t>•</a:t>
            </a:r>
            <a:endParaRPr lang="en-US" sz="1500" dirty="0"/>
          </a:p>
        </p:txBody>
      </p:sp>
      <p:sp>
        <p:nvSpPr>
          <p:cNvPr id="12" name="Text 8"/>
          <p:cNvSpPr/>
          <p:nvPr/>
        </p:nvSpPr>
        <p:spPr>
          <a:xfrm>
            <a:off x="571500" y="3148608"/>
            <a:ext cx="112514" cy="300038"/>
          </a:xfrm>
          <a:prstGeom prst="rect">
            <a:avLst/>
          </a:prstGeom>
          <a:noFill/>
          <a:ln/>
        </p:spPr>
        <p:txBody>
          <a:bodyPr wrap="none" lIns="0" tIns="0" rIns="0" bIns="0" rtlCol="0" anchor="t">
            <a:spAutoFit/>
          </a:bodyPr>
          <a:lstStyle/>
          <a:p>
            <a:pPr algn="l" indent="0" marL="0">
              <a:lnSpc>
                <a:spcPct val="120000"/>
              </a:lnSpc>
              <a:buNone/>
            </a:pPr>
            <a:r>
              <a:rPr lang="en-US" sz="1500" dirty="0">
                <a:solidFill>
                  <a:srgbClr val="2563EB"/>
                </a:solidFill>
                <a:latin typeface="Inter" pitchFamily="34" charset="0"/>
                <a:ea typeface="Inter" pitchFamily="34" charset="-122"/>
                <a:cs typeface="Inter" pitchFamily="34" charset="-120"/>
              </a:rPr>
              <a:t>•</a:t>
            </a:r>
            <a:endParaRPr lang="en-US" sz="1500" dirty="0"/>
          </a:p>
        </p:txBody>
      </p:sp>
      <p:sp>
        <p:nvSpPr>
          <p:cNvPr id="13" name="Text 9"/>
          <p:cNvSpPr/>
          <p:nvPr/>
        </p:nvSpPr>
        <p:spPr>
          <a:xfrm>
            <a:off x="4786313" y="1341239"/>
            <a:ext cx="3786188" cy="207169"/>
          </a:xfrm>
          <a:prstGeom prst="rect">
            <a:avLst/>
          </a:prstGeom>
          <a:noFill/>
          <a:ln/>
        </p:spPr>
        <p:txBody>
          <a:bodyPr wrap="square" lIns="0" tIns="0" rIns="0" bIns="0" rtlCol="0" anchor="t">
            <a:spAutoFit/>
          </a:bodyPr>
          <a:lstStyle/>
          <a:p>
            <a:pPr algn="l" indent="0" marL="0">
              <a:buNone/>
            </a:pPr>
            <a:r>
              <a:rPr lang="en-US" sz="1200" b="1" dirty="0">
                <a:solidFill>
                  <a:srgbClr val="2563EB"/>
                </a:solidFill>
                <a:latin typeface="Inter Bold" pitchFamily="34" charset="0"/>
                <a:ea typeface="Inter Bold" pitchFamily="34" charset="-122"/>
                <a:cs typeface="Inter Bold" pitchFamily="34" charset="-120"/>
              </a:rPr>
              <a:t>Limitations &amp; Future Work</a:t>
            </a:r>
            <a:endParaRPr lang="en-US" sz="1200" dirty="0"/>
          </a:p>
        </p:txBody>
      </p:sp>
      <p:sp>
        <p:nvSpPr>
          <p:cNvPr id="14" name="Text 10"/>
          <p:cNvSpPr/>
          <p:nvPr/>
        </p:nvSpPr>
        <p:spPr>
          <a:xfrm>
            <a:off x="4786313" y="1662708"/>
            <a:ext cx="3786188" cy="428625"/>
          </a:xfrm>
          <a:prstGeom prst="rect">
            <a:avLst/>
          </a:prstGeom>
          <a:noFill/>
          <a:ln/>
        </p:spPr>
        <p:txBody>
          <a:bodyPr wrap="square" lIns="238125" tIns="0" rIns="0" bIns="0" rtlCol="0" anchor="t">
            <a:spAutoFit/>
          </a:bodyPr>
          <a:lstStyle/>
          <a:p>
            <a:pPr algn="l" indent="0" marL="0">
              <a:lnSpc>
                <a:spcPct val="120000"/>
              </a:lnSpc>
              <a:buNone/>
            </a:pPr>
            <a:r>
              <a:rPr lang="en-US" sz="1000" b="1" dirty="0">
                <a:solidFill>
                  <a:srgbClr val="000000"/>
                </a:solidFill>
                <a:latin typeface="Inter Bold" pitchFamily="34" charset="0"/>
                <a:ea typeface="Inter Bold" pitchFamily="34" charset="-122"/>
                <a:cs typeface="Inter Bold" pitchFamily="34" charset="-120"/>
              </a:rPr>
              <a:t>Ideal Switching:</a:t>
            </a:r>
            <a:r>
              <a:rPr lang="en-US" sz="1050" dirty="0">
                <a:solidFill>
                  <a:srgbClr val="000000"/>
                </a:solidFill>
                <a:latin typeface="Inter" pitchFamily="34" charset="0"/>
                <a:ea typeface="Inter" pitchFamily="34" charset="-122"/>
                <a:cs typeface="Inter" pitchFamily="34" charset="-120"/>
              </a:rPr>
              <a:t> The current time-domain simulation employs ideal switching transitions.</a:t>
            </a:r>
            <a:endParaRPr lang="en-US" sz="1000" dirty="0"/>
          </a:p>
        </p:txBody>
      </p:sp>
      <p:sp>
        <p:nvSpPr>
          <p:cNvPr id="15" name="Text 11"/>
          <p:cNvSpPr/>
          <p:nvPr/>
        </p:nvSpPr>
        <p:spPr>
          <a:xfrm>
            <a:off x="4786313" y="2205633"/>
            <a:ext cx="3786188" cy="857250"/>
          </a:xfrm>
          <a:prstGeom prst="rect">
            <a:avLst/>
          </a:prstGeom>
          <a:noFill/>
          <a:ln/>
        </p:spPr>
        <p:txBody>
          <a:bodyPr wrap="square" lIns="238125" tIns="0" rIns="0" bIns="0" rtlCol="0" anchor="t">
            <a:spAutoFit/>
          </a:bodyPr>
          <a:lstStyle/>
          <a:p>
            <a:pPr algn="l" indent="0" marL="0">
              <a:lnSpc>
                <a:spcPct val="120000"/>
              </a:lnSpc>
              <a:buNone/>
            </a:pPr>
            <a:r>
              <a:rPr lang="en-US" sz="1000" b="1" dirty="0">
                <a:solidFill>
                  <a:srgbClr val="000000"/>
                </a:solidFill>
                <a:latin typeface="Inter Bold" pitchFamily="34" charset="0"/>
                <a:ea typeface="Inter Bold" pitchFamily="34" charset="-122"/>
                <a:cs typeface="Inter Bold" pitchFamily="34" charset="-120"/>
              </a:rPr>
              <a:t>Unmodeled Parasitics:</a:t>
            </a:r>
            <a:r>
              <a:rPr lang="en-US" sz="1050" dirty="0">
                <a:solidFill>
                  <a:srgbClr val="000000"/>
                </a:solidFill>
                <a:latin typeface="Inter" pitchFamily="34" charset="0"/>
                <a:ea typeface="Inter" pitchFamily="34" charset="-122"/>
                <a:cs typeface="Inter" pitchFamily="34" charset="-120"/>
              </a:rPr>
              <a:t> The model does not currently account for device voltage drops, discrete dead-time distortion, DC bus ripple, or stray inductance.</a:t>
            </a:r>
            <a:endParaRPr lang="en-US" sz="1000" dirty="0"/>
          </a:p>
        </p:txBody>
      </p:sp>
      <p:sp>
        <p:nvSpPr>
          <p:cNvPr id="16" name="Text 12"/>
          <p:cNvSpPr/>
          <p:nvPr/>
        </p:nvSpPr>
        <p:spPr>
          <a:xfrm>
            <a:off x="4786313" y="3177183"/>
            <a:ext cx="3786188" cy="642938"/>
          </a:xfrm>
          <a:prstGeom prst="rect">
            <a:avLst/>
          </a:prstGeom>
          <a:noFill/>
          <a:ln/>
        </p:spPr>
        <p:txBody>
          <a:bodyPr wrap="square" lIns="238125" tIns="0" rIns="0" bIns="0" rtlCol="0" anchor="t">
            <a:spAutoFit/>
          </a:bodyPr>
          <a:lstStyle/>
          <a:p>
            <a:pPr algn="l" indent="0" marL="0">
              <a:lnSpc>
                <a:spcPct val="120000"/>
              </a:lnSpc>
              <a:buNone/>
            </a:pPr>
            <a:r>
              <a:rPr lang="en-US" sz="1000" b="1" dirty="0">
                <a:solidFill>
                  <a:srgbClr val="000000"/>
                </a:solidFill>
                <a:latin typeface="Inter Bold" pitchFamily="34" charset="0"/>
                <a:ea typeface="Inter Bold" pitchFamily="34" charset="-122"/>
                <a:cs typeface="Inter Bold" pitchFamily="34" charset="-120"/>
              </a:rPr>
              <a:t>THD Caveat:</a:t>
            </a:r>
            <a:r>
              <a:rPr lang="en-US" sz="1050" dirty="0">
                <a:solidFill>
                  <a:srgbClr val="000000"/>
                </a:solidFill>
                <a:latin typeface="Inter" pitchFamily="34" charset="0"/>
                <a:ea typeface="Inter" pitchFamily="34" charset="-122"/>
                <a:cs typeface="Inter" pitchFamily="34" charset="-120"/>
              </a:rPr>
              <a:t> Simulated THD (1.9%, 1.1%) represents an optimistic bound; literature reports 3–8% at 5 kHz in hardware implementations.</a:t>
            </a:r>
            <a:endParaRPr lang="en-US" sz="1000" dirty="0"/>
          </a:p>
        </p:txBody>
      </p:sp>
      <p:sp>
        <p:nvSpPr>
          <p:cNvPr id="17" name="Text 13"/>
          <p:cNvSpPr/>
          <p:nvPr/>
        </p:nvSpPr>
        <p:spPr>
          <a:xfrm>
            <a:off x="4786313" y="1634133"/>
            <a:ext cx="112514" cy="300038"/>
          </a:xfrm>
          <a:prstGeom prst="rect">
            <a:avLst/>
          </a:prstGeom>
          <a:noFill/>
          <a:ln/>
        </p:spPr>
        <p:txBody>
          <a:bodyPr wrap="none" lIns="0" tIns="0" rIns="0" bIns="0" rtlCol="0" anchor="t">
            <a:spAutoFit/>
          </a:bodyPr>
          <a:lstStyle/>
          <a:p>
            <a:pPr algn="l" indent="0" marL="0">
              <a:lnSpc>
                <a:spcPct val="120000"/>
              </a:lnSpc>
              <a:buNone/>
            </a:pPr>
            <a:r>
              <a:rPr lang="en-US" sz="1500" dirty="0">
                <a:solidFill>
                  <a:srgbClr val="2563EB"/>
                </a:solidFill>
                <a:latin typeface="Inter" pitchFamily="34" charset="0"/>
                <a:ea typeface="Inter" pitchFamily="34" charset="-122"/>
                <a:cs typeface="Inter" pitchFamily="34" charset="-120"/>
              </a:rPr>
              <a:t>•</a:t>
            </a:r>
            <a:endParaRPr lang="en-US" sz="1500" dirty="0"/>
          </a:p>
        </p:txBody>
      </p:sp>
      <p:sp>
        <p:nvSpPr>
          <p:cNvPr id="18" name="Text 14"/>
          <p:cNvSpPr/>
          <p:nvPr/>
        </p:nvSpPr>
        <p:spPr>
          <a:xfrm>
            <a:off x="4786313" y="2177058"/>
            <a:ext cx="112514" cy="300038"/>
          </a:xfrm>
          <a:prstGeom prst="rect">
            <a:avLst/>
          </a:prstGeom>
          <a:noFill/>
          <a:ln/>
        </p:spPr>
        <p:txBody>
          <a:bodyPr wrap="none" lIns="0" tIns="0" rIns="0" bIns="0" rtlCol="0" anchor="t">
            <a:spAutoFit/>
          </a:bodyPr>
          <a:lstStyle/>
          <a:p>
            <a:pPr algn="l" indent="0" marL="0">
              <a:lnSpc>
                <a:spcPct val="120000"/>
              </a:lnSpc>
              <a:buNone/>
            </a:pPr>
            <a:r>
              <a:rPr lang="en-US" sz="1500" dirty="0">
                <a:solidFill>
                  <a:srgbClr val="2563EB"/>
                </a:solidFill>
                <a:latin typeface="Inter" pitchFamily="34" charset="0"/>
                <a:ea typeface="Inter" pitchFamily="34" charset="-122"/>
                <a:cs typeface="Inter" pitchFamily="34" charset="-120"/>
              </a:rPr>
              <a:t>•</a:t>
            </a:r>
            <a:endParaRPr lang="en-US" sz="1500" dirty="0"/>
          </a:p>
        </p:txBody>
      </p:sp>
      <p:sp>
        <p:nvSpPr>
          <p:cNvPr id="19" name="Text 15"/>
          <p:cNvSpPr/>
          <p:nvPr/>
        </p:nvSpPr>
        <p:spPr>
          <a:xfrm>
            <a:off x="4786313" y="3148608"/>
            <a:ext cx="112514" cy="300038"/>
          </a:xfrm>
          <a:prstGeom prst="rect">
            <a:avLst/>
          </a:prstGeom>
          <a:noFill/>
          <a:ln/>
        </p:spPr>
        <p:txBody>
          <a:bodyPr wrap="none" lIns="0" tIns="0" rIns="0" bIns="0" rtlCol="0" anchor="t">
            <a:spAutoFit/>
          </a:bodyPr>
          <a:lstStyle/>
          <a:p>
            <a:pPr algn="l" indent="0" marL="0">
              <a:lnSpc>
                <a:spcPct val="120000"/>
              </a:lnSpc>
              <a:buNone/>
            </a:pPr>
            <a:r>
              <a:rPr lang="en-US" sz="1500" dirty="0">
                <a:solidFill>
                  <a:srgbClr val="2563EB"/>
                </a:solidFill>
                <a:latin typeface="Inter" pitchFamily="34" charset="0"/>
                <a:ea typeface="Inter" pitchFamily="34" charset="-122"/>
                <a:cs typeface="Inter" pitchFamily="34" charset="-120"/>
              </a:rPr>
              <a:t>•</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2026-05-05T03:11:17Z</dcterms:created>
  <dcterms:modified xsi:type="dcterms:W3CDTF">2026-05-05T03:11:17Z</dcterms:modified>
</cp:coreProperties>
</file>