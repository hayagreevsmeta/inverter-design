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before we dive into the specifics, let's quickly outline what this project is all about. We're focusing on an EV traction inverter, where the fundamental frequency isn't constant; it changes with vehicle speed. This means we have high current at low fundamental frequencies during city driving, and lower current but higher fundamental frequencies on the highway. We'll explore how we can adapt the switching frequency to these conditions, rather than just keeping it constant. Our main goal is to compare the junction temperature of the semiconductors when using an adaptive switching frequency versus a constant 20 kHz. We'll also be looking at the output current waveforms and ensuring our Total Harmonic Distortion, or THD, meets expectations. This project uses an 800V DC bus and an RL load, and we're specifically working with a three-level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did we choose an 800V architecture for this design? It's all about meeting modern EV performance demands, especially for charging and efficiency. The main reason is that doubling the bus voltage effectively halves the phase current for the same power output. This dramatically reduces I squared R losses by 75% across the entire powertrain, from the inverter to the motor and even the cabling. This also means we can use 50% less copper, saving 10 to 15 kilograms in vehicle weight. Plus, 800V enables ultra-fast DC charging at over 350 kilowatts, cutting charge times from 45 minutes to under 20 minutes. But this higher voltage also brings a challenge: increased dv/dt stress on motor insulation, which leads us to our next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based on that analysis, we implemented an adaptive switching frequency schedule. This isn't just an analytical guess; it's fully validated in our dynamic time-domain simulation. The core idea is to maintain a sufficient frequency modulation ratio, or mf, which is the ratio of switching frequency to electrical frequency. At low speeds, like urban driving at 40 kilometers per hour, the electrical frequency is low. So, we can drop the switching frequency to 5 kHz and still keep a high enough mf. This reduces switching losses by 75% when the current is highest. But at high speeds, like highway driving at 120 kilometers per hour, the electrical frequency is much higher. Here, the controller automatically increases the switching frequency to 20 kHz to prevent distortion.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879699"/>
            <a:ext cx="8001000" cy="828675"/>
          </a:xfrm>
          <a:prstGeom prst="rect">
            <a:avLst/>
          </a:prstGeom>
          <a:noFill/>
          <a:ln/>
        </p:spPr>
        <p:txBody>
          <a:bodyPr wrap="square" lIns="0" tIns="0" rIns="0" bIns="0" rtlCol="0" anchor="t">
            <a:spAutoFit/>
          </a:bodyPr>
          <a:lstStyle/>
          <a:p>
            <a:pPr algn="ctr" indent="0" marL="0">
              <a:buNone/>
            </a:pPr>
            <a:r>
              <a:rPr lang="en-US" sz="24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450" dirty="0"/>
          </a:p>
        </p:txBody>
      </p:sp>
      <p:sp>
        <p:nvSpPr>
          <p:cNvPr id="5" name="Text 1"/>
          <p:cNvSpPr/>
          <p:nvPr/>
        </p:nvSpPr>
        <p:spPr>
          <a:xfrm>
            <a:off x="571500" y="2851249"/>
            <a:ext cx="8001000" cy="137517"/>
          </a:xfrm>
          <a:prstGeom prst="rect">
            <a:avLst/>
          </a:prstGeom>
          <a:noFill/>
          <a:ln/>
        </p:spPr>
        <p:txBody>
          <a:bodyPr wrap="square" lIns="0" tIns="0" rIns="0" bIns="0" rtlCol="0" anchor="t">
            <a:spAutoFit/>
          </a:bodyPr>
          <a:lstStyle/>
          <a:p>
            <a:pPr algn="ctr" indent="0" marL="0">
              <a:buNone/>
            </a:pPr>
            <a:r>
              <a:rPr lang="en-US" sz="850" dirty="0">
                <a:solidFill>
                  <a:srgbClr val="000000"/>
                </a:solidFill>
                <a:latin typeface="Inter" pitchFamily="34" charset="0"/>
                <a:ea typeface="Inter" pitchFamily="34" charset="-122"/>
                <a:cs typeface="Inter" pitchFamily="34" charset="-120"/>
              </a:rPr>
              <a:t>Design and Comprehensive Loss Analysis</a:t>
            </a:r>
            <a:endParaRPr lang="en-US" sz="850" dirty="0"/>
          </a:p>
        </p:txBody>
      </p:sp>
      <p:sp>
        <p:nvSpPr>
          <p:cNvPr id="6" name="Text 2"/>
          <p:cNvSpPr/>
          <p:nvPr/>
        </p:nvSpPr>
        <p:spPr>
          <a:xfrm>
            <a:off x="571500" y="2988766"/>
            <a:ext cx="8001000" cy="137517"/>
          </a:xfrm>
          <a:prstGeom prst="rect">
            <a:avLst/>
          </a:prstGeom>
          <a:noFill/>
          <a:ln/>
        </p:spPr>
        <p:txBody>
          <a:bodyPr wrap="square" lIns="0" tIns="0" rIns="0" bIns="0" rtlCol="0" anchor="t">
            <a:spAutoFit/>
          </a:bodyPr>
          <a:lstStyle/>
          <a:p>
            <a:pPr algn="ctr" indent="0" marL="0">
              <a:buNone/>
            </a:pPr>
            <a:r>
              <a:rPr lang="en-US" sz="850" dirty="0">
                <a:solidFill>
                  <a:srgbClr val="000000"/>
                </a:solidFill>
                <a:latin typeface="Inter" pitchFamily="34" charset="0"/>
                <a:ea typeface="Inter" pitchFamily="34" charset="-122"/>
                <a:cs typeface="Inter" pitchFamily="34" charset="-120"/>
              </a:rPr>
              <a:t>Hayagreev S.</a:t>
            </a:r>
            <a:endParaRPr lang="en-US" sz="850" dirty="0"/>
          </a:p>
        </p:txBody>
      </p:sp>
      <p:sp>
        <p:nvSpPr>
          <p:cNvPr id="7" name="Text 3"/>
          <p:cNvSpPr/>
          <p:nvPr/>
        </p:nvSpPr>
        <p:spPr>
          <a:xfrm>
            <a:off x="571500" y="3126284"/>
            <a:ext cx="8001000" cy="137517"/>
          </a:xfrm>
          <a:prstGeom prst="rect">
            <a:avLst/>
          </a:prstGeom>
          <a:noFill/>
          <a:ln/>
        </p:spPr>
        <p:txBody>
          <a:bodyPr wrap="square" lIns="0" tIns="0" rIns="0" bIns="0" rtlCol="0" anchor="t">
            <a:spAutoFit/>
          </a:bodyPr>
          <a:lstStyle/>
          <a:p>
            <a:pPr algn="ctr" indent="0" marL="0">
              <a:buNone/>
            </a:pPr>
            <a:r>
              <a:rPr lang="en-US" sz="850" dirty="0">
                <a:solidFill>
                  <a:srgbClr val="000000"/>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Project Overview</a:t>
            </a:r>
            <a:endParaRPr lang="en-US" sz="1800" dirty="0"/>
          </a:p>
        </p:txBody>
      </p:sp>
      <p:sp>
        <p:nvSpPr>
          <p:cNvPr id="7" name="Text 3"/>
          <p:cNvSpPr/>
          <p:nvPr/>
        </p:nvSpPr>
        <p:spPr>
          <a:xfrm>
            <a:off x="571500" y="1098352"/>
            <a:ext cx="159127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In an EV traction inverter, the</a:t>
            </a:r>
            <a:endParaRPr lang="en-US" sz="850" dirty="0"/>
          </a:p>
        </p:txBody>
      </p:sp>
      <p:sp>
        <p:nvSpPr>
          <p:cNvPr id="8" name="Text 4"/>
          <p:cNvSpPr/>
          <p:nvPr/>
        </p:nvSpPr>
        <p:spPr>
          <a:xfrm>
            <a:off x="2162770" y="1098352"/>
            <a:ext cx="19431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fundamental frequency is not fixed</a:t>
            </a:r>
            <a:endParaRPr lang="en-US" sz="800" dirty="0"/>
          </a:p>
        </p:txBody>
      </p:sp>
      <p:sp>
        <p:nvSpPr>
          <p:cNvPr id="9" name="Text 5"/>
          <p:cNvSpPr/>
          <p:nvPr/>
        </p:nvSpPr>
        <p:spPr>
          <a:xfrm>
            <a:off x="4105870" y="1098352"/>
            <a:ext cx="244673"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 it</a:t>
            </a:r>
            <a:endParaRPr lang="en-US" sz="850" dirty="0"/>
          </a:p>
        </p:txBody>
      </p:sp>
      <p:sp>
        <p:nvSpPr>
          <p:cNvPr id="10" name="Text 6"/>
          <p:cNvSpPr/>
          <p:nvPr/>
        </p:nvSpPr>
        <p:spPr>
          <a:xfrm>
            <a:off x="571500" y="1235869"/>
            <a:ext cx="3604022"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follows the vehicle operating condition because it is directly tied to</a:t>
            </a:r>
            <a:endParaRPr lang="en-US" sz="850" dirty="0"/>
          </a:p>
        </p:txBody>
      </p:sp>
      <p:sp>
        <p:nvSpPr>
          <p:cNvPr id="11" name="Text 7"/>
          <p:cNvSpPr/>
          <p:nvPr/>
        </p:nvSpPr>
        <p:spPr>
          <a:xfrm>
            <a:off x="571500" y="1373386"/>
            <a:ext cx="900113"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motor speed via</a:t>
            </a:r>
            <a:endParaRPr lang="en-US" sz="850" dirty="0"/>
          </a:p>
        </p:txBody>
      </p:sp>
      <p:sp>
        <p:nvSpPr>
          <p:cNvPr id="12" name="Text 8"/>
          <p:cNvSpPr/>
          <p:nvPr/>
        </p:nvSpPr>
        <p:spPr>
          <a:xfrm>
            <a:off x="1471613" y="1373386"/>
            <a:ext cx="44648"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a:t>
            </a:r>
            <a:endParaRPr lang="en-US" sz="800" dirty="0"/>
          </a:p>
        </p:txBody>
      </p:sp>
      <p:sp>
        <p:nvSpPr>
          <p:cNvPr id="13" name="Text 9"/>
          <p:cNvSpPr/>
          <p:nvPr/>
        </p:nvSpPr>
        <p:spPr>
          <a:xfrm>
            <a:off x="1516261" y="1415886"/>
            <a:ext cx="57150" cy="116086"/>
          </a:xfrm>
          <a:prstGeom prst="rect">
            <a:avLst/>
          </a:prstGeom>
          <a:noFill/>
          <a:ln/>
        </p:spPr>
        <p:txBody>
          <a:bodyPr wrap="none" lIns="0" tIns="0" rIns="0" bIns="0" rtlCol="0" anchor="t">
            <a:spAutoFit/>
          </a:bodyPr>
          <a:lstStyle/>
          <a:p>
            <a:pPr algn="l" indent="0" marL="0">
              <a:buNone/>
            </a:pPr>
            <a:r>
              <a:rPr lang="en-US" sz="650" b="1" baseline="-40000" dirty="0">
                <a:solidFill>
                  <a:srgbClr val="000000"/>
                </a:solidFill>
                <a:latin typeface="Inter Bold" pitchFamily="34" charset="0"/>
                <a:ea typeface="Inter Bold" pitchFamily="34" charset="-122"/>
                <a:cs typeface="Inter Bold" pitchFamily="34" charset="-120"/>
              </a:rPr>
              <a:t>e</a:t>
            </a:r>
            <a:endParaRPr lang="en-US" sz="650" dirty="0"/>
          </a:p>
        </p:txBody>
      </p:sp>
      <p:sp>
        <p:nvSpPr>
          <p:cNvPr id="14" name="Text 10"/>
          <p:cNvSpPr/>
          <p:nvPr/>
        </p:nvSpPr>
        <p:spPr>
          <a:xfrm>
            <a:off x="1573411" y="1373386"/>
            <a:ext cx="567928"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 (P/2) · n</a:t>
            </a:r>
            <a:endParaRPr lang="en-US" sz="800" dirty="0"/>
          </a:p>
        </p:txBody>
      </p:sp>
      <p:sp>
        <p:nvSpPr>
          <p:cNvPr id="15" name="Text 11"/>
          <p:cNvSpPr/>
          <p:nvPr/>
        </p:nvSpPr>
        <p:spPr>
          <a:xfrm>
            <a:off x="2141339" y="1415886"/>
            <a:ext cx="258961" cy="116086"/>
          </a:xfrm>
          <a:prstGeom prst="rect">
            <a:avLst/>
          </a:prstGeom>
          <a:noFill/>
          <a:ln/>
        </p:spPr>
        <p:txBody>
          <a:bodyPr wrap="none" lIns="0" tIns="0" rIns="0" bIns="0" rtlCol="0" anchor="t">
            <a:spAutoFit/>
          </a:bodyPr>
          <a:lstStyle/>
          <a:p>
            <a:pPr algn="l" indent="0" marL="0">
              <a:buNone/>
            </a:pPr>
            <a:r>
              <a:rPr lang="en-US" sz="650" b="1" baseline="-40000" dirty="0">
                <a:solidFill>
                  <a:srgbClr val="000000"/>
                </a:solidFill>
                <a:latin typeface="Inter Bold" pitchFamily="34" charset="0"/>
                <a:ea typeface="Inter Bold" pitchFamily="34" charset="-122"/>
                <a:cs typeface="Inter Bold" pitchFamily="34" charset="-120"/>
              </a:rPr>
              <a:t>mech</a:t>
            </a:r>
            <a:endParaRPr lang="en-US" sz="650" dirty="0"/>
          </a:p>
        </p:txBody>
      </p:sp>
      <p:sp>
        <p:nvSpPr>
          <p:cNvPr id="16" name="Text 12"/>
          <p:cNvSpPr/>
          <p:nvPr/>
        </p:nvSpPr>
        <p:spPr>
          <a:xfrm>
            <a:off x="2400300" y="1373386"/>
            <a:ext cx="250031"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 60</a:t>
            </a:r>
            <a:endParaRPr lang="en-US" sz="800" dirty="0"/>
          </a:p>
        </p:txBody>
      </p:sp>
      <p:sp>
        <p:nvSpPr>
          <p:cNvPr id="17" name="Text 13"/>
          <p:cNvSpPr/>
          <p:nvPr/>
        </p:nvSpPr>
        <p:spPr>
          <a:xfrm>
            <a:off x="2650331" y="1373386"/>
            <a:ext cx="32147"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t>
            </a:r>
            <a:endParaRPr lang="en-US" sz="850" dirty="0"/>
          </a:p>
        </p:txBody>
      </p:sp>
      <p:sp>
        <p:nvSpPr>
          <p:cNvPr id="18" name="Text 14"/>
          <p:cNvSpPr/>
          <p:nvPr/>
        </p:nvSpPr>
        <p:spPr>
          <a:xfrm>
            <a:off x="571500" y="1631984"/>
            <a:ext cx="364331"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Under</a:t>
            </a:r>
            <a:endParaRPr lang="en-US" sz="850" dirty="0"/>
          </a:p>
        </p:txBody>
      </p:sp>
      <p:sp>
        <p:nvSpPr>
          <p:cNvPr id="19" name="Text 15"/>
          <p:cNvSpPr/>
          <p:nvPr/>
        </p:nvSpPr>
        <p:spPr>
          <a:xfrm>
            <a:off x="935831" y="1631984"/>
            <a:ext cx="626864"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city driving</a:t>
            </a:r>
            <a:endParaRPr lang="en-US" sz="800" dirty="0"/>
          </a:p>
        </p:txBody>
      </p:sp>
      <p:sp>
        <p:nvSpPr>
          <p:cNvPr id="20" name="Text 16"/>
          <p:cNvSpPr/>
          <p:nvPr/>
        </p:nvSpPr>
        <p:spPr>
          <a:xfrm>
            <a:off x="1562695" y="1631984"/>
            <a:ext cx="1614488"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 the inverter operates at low f</a:t>
            </a:r>
            <a:endParaRPr lang="en-US" sz="850" dirty="0"/>
          </a:p>
        </p:txBody>
      </p:sp>
      <p:sp>
        <p:nvSpPr>
          <p:cNvPr id="21" name="Text 17"/>
          <p:cNvSpPr/>
          <p:nvPr/>
        </p:nvSpPr>
        <p:spPr>
          <a:xfrm>
            <a:off x="3177183" y="1674484"/>
            <a:ext cx="55364" cy="116086"/>
          </a:xfrm>
          <a:prstGeom prst="rect">
            <a:avLst/>
          </a:prstGeom>
          <a:noFill/>
          <a:ln/>
        </p:spPr>
        <p:txBody>
          <a:bodyPr wrap="none" lIns="0" tIns="0" rIns="0" bIns="0" rtlCol="0" anchor="t">
            <a:spAutoFit/>
          </a:bodyPr>
          <a:lstStyle/>
          <a:p>
            <a:pPr algn="l" indent="0" marL="0">
              <a:buNone/>
            </a:pPr>
            <a:r>
              <a:rPr lang="en-US" sz="700" baseline="-40000" dirty="0">
                <a:solidFill>
                  <a:srgbClr val="000000"/>
                </a:solidFill>
                <a:latin typeface="Inter" pitchFamily="34" charset="0"/>
                <a:ea typeface="Inter" pitchFamily="34" charset="-122"/>
                <a:cs typeface="Inter" pitchFamily="34" charset="-120"/>
              </a:rPr>
              <a:t>e</a:t>
            </a:r>
            <a:endParaRPr lang="en-US" sz="700" dirty="0"/>
          </a:p>
        </p:txBody>
      </p:sp>
      <p:sp>
        <p:nvSpPr>
          <p:cNvPr id="22" name="Text 18"/>
          <p:cNvSpPr/>
          <p:nvPr/>
        </p:nvSpPr>
        <p:spPr>
          <a:xfrm>
            <a:off x="3232547" y="1631984"/>
            <a:ext cx="980480"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with high current.</a:t>
            </a:r>
            <a:endParaRPr lang="en-US" sz="850" dirty="0"/>
          </a:p>
        </p:txBody>
      </p:sp>
      <p:sp>
        <p:nvSpPr>
          <p:cNvPr id="23" name="Text 19"/>
          <p:cNvSpPr/>
          <p:nvPr/>
        </p:nvSpPr>
        <p:spPr>
          <a:xfrm>
            <a:off x="571500" y="1790570"/>
            <a:ext cx="364331"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Under</a:t>
            </a:r>
            <a:endParaRPr lang="en-US" sz="850" dirty="0"/>
          </a:p>
        </p:txBody>
      </p:sp>
      <p:sp>
        <p:nvSpPr>
          <p:cNvPr id="24" name="Text 20"/>
          <p:cNvSpPr/>
          <p:nvPr/>
        </p:nvSpPr>
        <p:spPr>
          <a:xfrm>
            <a:off x="935831" y="1790570"/>
            <a:ext cx="891183"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highway driving</a:t>
            </a:r>
            <a:endParaRPr lang="en-US" sz="800" dirty="0"/>
          </a:p>
        </p:txBody>
      </p:sp>
      <p:sp>
        <p:nvSpPr>
          <p:cNvPr id="25" name="Text 21"/>
          <p:cNvSpPr/>
          <p:nvPr/>
        </p:nvSpPr>
        <p:spPr>
          <a:xfrm>
            <a:off x="1827014" y="1790570"/>
            <a:ext cx="107156"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 f</a:t>
            </a:r>
            <a:endParaRPr lang="en-US" sz="850" dirty="0"/>
          </a:p>
        </p:txBody>
      </p:sp>
      <p:sp>
        <p:nvSpPr>
          <p:cNvPr id="26" name="Text 22"/>
          <p:cNvSpPr/>
          <p:nvPr/>
        </p:nvSpPr>
        <p:spPr>
          <a:xfrm>
            <a:off x="1934170" y="1833070"/>
            <a:ext cx="55364" cy="116086"/>
          </a:xfrm>
          <a:prstGeom prst="rect">
            <a:avLst/>
          </a:prstGeom>
          <a:noFill/>
          <a:ln/>
        </p:spPr>
        <p:txBody>
          <a:bodyPr wrap="none" lIns="0" tIns="0" rIns="0" bIns="0" rtlCol="0" anchor="t">
            <a:spAutoFit/>
          </a:bodyPr>
          <a:lstStyle/>
          <a:p>
            <a:pPr algn="l" indent="0" marL="0">
              <a:buNone/>
            </a:pPr>
            <a:r>
              <a:rPr lang="en-US" sz="700" baseline="-40000" dirty="0">
                <a:solidFill>
                  <a:srgbClr val="000000"/>
                </a:solidFill>
                <a:latin typeface="Inter" pitchFamily="34" charset="0"/>
                <a:ea typeface="Inter" pitchFamily="34" charset="-122"/>
                <a:cs typeface="Inter" pitchFamily="34" charset="-120"/>
              </a:rPr>
              <a:t>e</a:t>
            </a:r>
            <a:endParaRPr lang="en-US" sz="700" dirty="0"/>
          </a:p>
        </p:txBody>
      </p:sp>
      <p:sp>
        <p:nvSpPr>
          <p:cNvPr id="27" name="Text 23"/>
          <p:cNvSpPr/>
          <p:nvPr/>
        </p:nvSpPr>
        <p:spPr>
          <a:xfrm>
            <a:off x="1989534" y="1790570"/>
            <a:ext cx="1871663"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is higher but current is lower. The</a:t>
            </a:r>
            <a:endParaRPr lang="en-US" sz="850" dirty="0"/>
          </a:p>
        </p:txBody>
      </p:sp>
      <p:sp>
        <p:nvSpPr>
          <p:cNvPr id="28" name="Text 24"/>
          <p:cNvSpPr/>
          <p:nvPr/>
        </p:nvSpPr>
        <p:spPr>
          <a:xfrm>
            <a:off x="3861197" y="1790570"/>
            <a:ext cx="542925"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switching</a:t>
            </a:r>
            <a:endParaRPr lang="en-US" sz="800" dirty="0"/>
          </a:p>
        </p:txBody>
      </p:sp>
      <p:sp>
        <p:nvSpPr>
          <p:cNvPr id="29" name="Text 25"/>
          <p:cNvSpPr/>
          <p:nvPr/>
        </p:nvSpPr>
        <p:spPr>
          <a:xfrm>
            <a:off x="571500" y="1949155"/>
            <a:ext cx="1841302"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frequency can also be scheduled</a:t>
            </a:r>
            <a:endParaRPr lang="en-US" sz="800" dirty="0"/>
          </a:p>
        </p:txBody>
      </p:sp>
      <p:sp>
        <p:nvSpPr>
          <p:cNvPr id="30" name="Text 26"/>
          <p:cNvSpPr/>
          <p:nvPr/>
        </p:nvSpPr>
        <p:spPr>
          <a:xfrm>
            <a:off x="2412802" y="1949155"/>
            <a:ext cx="1789509"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according to operating condition</a:t>
            </a:r>
            <a:endParaRPr lang="en-US" sz="850" dirty="0"/>
          </a:p>
        </p:txBody>
      </p:sp>
      <p:sp>
        <p:nvSpPr>
          <p:cNvPr id="31" name="Text 27"/>
          <p:cNvSpPr/>
          <p:nvPr/>
        </p:nvSpPr>
        <p:spPr>
          <a:xfrm>
            <a:off x="571500" y="2086673"/>
            <a:ext cx="3580805"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rather than kept constant, balancing efficiency, torque quality, and</a:t>
            </a:r>
            <a:endParaRPr lang="en-US" sz="850" dirty="0"/>
          </a:p>
        </p:txBody>
      </p:sp>
      <p:sp>
        <p:nvSpPr>
          <p:cNvPr id="32" name="Text 28"/>
          <p:cNvSpPr/>
          <p:nvPr/>
        </p:nvSpPr>
        <p:spPr>
          <a:xfrm>
            <a:off x="571500" y="2224190"/>
            <a:ext cx="2128838"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switching stress across the drive cycle.</a:t>
            </a:r>
            <a:endParaRPr lang="en-US" sz="850" dirty="0"/>
          </a:p>
        </p:txBody>
      </p:sp>
      <p:sp>
        <p:nvSpPr>
          <p:cNvPr id="33" name="Text 29"/>
          <p:cNvSpPr/>
          <p:nvPr/>
        </p:nvSpPr>
        <p:spPr>
          <a:xfrm>
            <a:off x="571500" y="2361707"/>
            <a:ext cx="3857625" cy="428625"/>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Load:3-phase RL — R = 1.3 Ω, L = 2 mHDC Bus:800V battery sourceDeliverables:IEEE conference paper</a:t>
            </a:r>
            <a:endParaRPr lang="en-US" sz="1050" dirty="0"/>
          </a:p>
        </p:txBody>
      </p:sp>
      <p:sp>
        <p:nvSpPr>
          <p:cNvPr id="34" name="Text 30"/>
          <p:cNvSpPr/>
          <p:nvPr/>
        </p:nvSpPr>
        <p:spPr>
          <a:xfrm>
            <a:off x="4714875" y="1098352"/>
            <a:ext cx="3857625"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Project Objectives</a:t>
            </a:r>
            <a:endParaRPr lang="en-US" sz="850" dirty="0"/>
          </a:p>
        </p:txBody>
      </p:sp>
      <p:sp>
        <p:nvSpPr>
          <p:cNvPr id="35" name="Text 31"/>
          <p:cNvSpPr/>
          <p:nvPr/>
        </p:nvSpPr>
        <p:spPr>
          <a:xfrm>
            <a:off x="5000625" y="1235869"/>
            <a:ext cx="3571875" cy="642938"/>
          </a:xfrm>
          <a:prstGeom prst="rect">
            <a:avLst/>
          </a:prstGeom>
          <a:noFill/>
          <a:ln/>
        </p:spPr>
        <p:txBody>
          <a:bodyPr wrap="square" lIns="0" tIns="0" rIns="0" bIns="0" rtlCol="0" anchor="t">
            <a:spAutoFit/>
          </a:bodyPr>
          <a:lstStyle/>
          <a:p>
            <a:pPr algn="l" marL="127000" indent="-127000">
              <a:lnSpc>
                <a:spcPct val="120000"/>
              </a:lnSpc>
              <a:buSzPct val="100000"/>
              <a:buChar char="•"/>
            </a:pPr>
            <a:r>
              <a:rPr lang="en-US" sz="1050" dirty="0">
                <a:solidFill>
                  <a:srgbClr val="000000"/>
                </a:solidFill>
                <a:latin typeface="Inter" pitchFamily="34" charset="0"/>
                <a:ea typeface="Inter" pitchFamily="34" charset="-122"/>
                <a:cs typeface="Inter" pitchFamily="34" charset="-120"/>
              </a:rPr>
              <a:t>1</a:t>
            </a:r>
            <a:r>
              <a:rPr lang="en-US" sz="1050" dirty="0">
                <a:solidFill>
                  <a:srgbClr val="000000"/>
                </a:solidFill>
                <a:latin typeface="Inter" pitchFamily="34" charset="0"/>
                <a:ea typeface="Inter" pitchFamily="34" charset="-122"/>
                <a:cs typeface="Inter" pitchFamily="34" charset="-120"/>
              </a:rPr>
              <a:t> </a:t>
            </a:r>
            <a:r>
              <a:rPr lang="en-US" sz="1050" dirty="0">
                <a:solidFill>
                  <a:srgbClr val="000000"/>
                </a:solidFill>
                <a:latin typeface="Inter" pitchFamily="34" charset="0"/>
                <a:ea typeface="Inter" pitchFamily="34" charset="-122"/>
                <a:cs typeface="Inter" pitchFamily="34" charset="-120"/>
              </a:rPr>
              <a:t>Research and select a suitable </a:t>
            </a:r>
            <a:r>
              <a:rPr lang="en-US" sz="1000" b="1" dirty="0">
                <a:solidFill>
                  <a:srgbClr val="000000"/>
                </a:solidFill>
                <a:latin typeface="Inter Bold" pitchFamily="34" charset="0"/>
                <a:ea typeface="Inter Bold" pitchFamily="34" charset="-122"/>
                <a:cs typeface="Inter Bold" pitchFamily="34" charset="-120"/>
              </a:rPr>
              <a:t>three-level inverter topology</a:t>
            </a:r>
            <a:r>
              <a:rPr lang="en-US" sz="1050" dirty="0">
                <a:solidFill>
                  <a:srgbClr val="000000"/>
                </a:solidFill>
                <a:latin typeface="Inter" pitchFamily="34" charset="0"/>
                <a:ea typeface="Inter" pitchFamily="34" charset="-122"/>
                <a:cs typeface="Inter" pitchFamily="34" charset="-120"/>
              </a:rPr>
              <a:t>, specifying components (voltage, current, frequency)</a:t>
            </a:r>
            <a:endParaRPr lang="en-US" sz="1050" dirty="0"/>
          </a:p>
        </p:txBody>
      </p:sp>
      <p:sp>
        <p:nvSpPr>
          <p:cNvPr id="36" name="Text 32"/>
          <p:cNvSpPr/>
          <p:nvPr/>
        </p:nvSpPr>
        <p:spPr>
          <a:xfrm>
            <a:off x="5000625" y="1950244"/>
            <a:ext cx="3571875" cy="428625"/>
          </a:xfrm>
          <a:prstGeom prst="rect">
            <a:avLst/>
          </a:prstGeom>
          <a:noFill/>
          <a:ln/>
        </p:spPr>
        <p:txBody>
          <a:bodyPr wrap="square" lIns="0" tIns="0" rIns="0" bIns="0" rtlCol="0" anchor="t">
            <a:spAutoFit/>
          </a:bodyPr>
          <a:lstStyle/>
          <a:p>
            <a:pPr algn="l" marL="127000" indent="-127000">
              <a:lnSpc>
                <a:spcPct val="120000"/>
              </a:lnSpc>
              <a:buSzPct val="100000"/>
              <a:buChar char="•"/>
            </a:pPr>
            <a:r>
              <a:rPr lang="en-US" sz="1050" dirty="0">
                <a:solidFill>
                  <a:srgbClr val="000000"/>
                </a:solidFill>
                <a:latin typeface="Inter" pitchFamily="34" charset="0"/>
                <a:ea typeface="Inter" pitchFamily="34" charset="-122"/>
                <a:cs typeface="Inter" pitchFamily="34" charset="-120"/>
              </a:rPr>
              <a:t>2</a:t>
            </a:r>
            <a:r>
              <a:rPr lang="en-US" sz="1050" dirty="0">
                <a:solidFill>
                  <a:srgbClr val="000000"/>
                </a:solidFill>
                <a:latin typeface="Inter" pitchFamily="34" charset="0"/>
                <a:ea typeface="Inter" pitchFamily="34" charset="-122"/>
                <a:cs typeface="Inter" pitchFamily="34" charset="-120"/>
              </a:rPr>
              <a:t> </a:t>
            </a:r>
            <a:r>
              <a:rPr lang="en-US" sz="1050" dirty="0">
                <a:solidFill>
                  <a:srgbClr val="000000"/>
                </a:solidFill>
                <a:latin typeface="Inter" pitchFamily="34" charset="0"/>
                <a:ea typeface="Inter" pitchFamily="34" charset="-122"/>
                <a:cs typeface="Inter" pitchFamily="34" charset="-120"/>
              </a:rPr>
              <a:t>Develop a detailed </a:t>
            </a:r>
            <a:r>
              <a:rPr lang="en-US" sz="1000" b="1" dirty="0">
                <a:solidFill>
                  <a:srgbClr val="000000"/>
                </a:solidFill>
                <a:latin typeface="Inter Bold" pitchFamily="34" charset="0"/>
                <a:ea typeface="Inter Bold" pitchFamily="34" charset="-122"/>
                <a:cs typeface="Inter Bold" pitchFamily="34" charset="-120"/>
              </a:rPr>
              <a:t>simulation model</a:t>
            </a:r>
            <a:r>
              <a:rPr lang="en-US" sz="1050" dirty="0">
                <a:solidFill>
                  <a:srgbClr val="000000"/>
                </a:solidFill>
                <a:latin typeface="Inter" pitchFamily="34" charset="0"/>
                <a:ea typeface="Inter" pitchFamily="34" charset="-122"/>
                <a:cs typeface="Inter" pitchFamily="34" charset="-120"/>
              </a:rPr>
              <a:t> including DC source, switching devices, and capacitors</a:t>
            </a:r>
            <a:endParaRPr lang="en-US" sz="1050" dirty="0"/>
          </a:p>
        </p:txBody>
      </p:sp>
      <p:sp>
        <p:nvSpPr>
          <p:cNvPr id="37" name="Text 33"/>
          <p:cNvSpPr/>
          <p:nvPr/>
        </p:nvSpPr>
        <p:spPr>
          <a:xfrm>
            <a:off x="5000625" y="2469952"/>
            <a:ext cx="87511" cy="173236"/>
          </a:xfrm>
          <a:prstGeom prst="rect">
            <a:avLst/>
          </a:prstGeom>
          <a:noFill/>
          <a:ln/>
        </p:spPr>
        <p:txBody>
          <a:bodyPr wrap="none" lIns="0" tIns="0" rIns="0" bIns="0" rtlCol="0" anchor="t">
            <a:spAutoFit/>
          </a:bodyPr>
          <a:lstStyle/>
          <a:p>
            <a:pPr algn="l" marL="127000" indent="-127000">
              <a:lnSpc>
                <a:spcPct val="120000"/>
              </a:lnSpc>
              <a:buSzPct val="100000"/>
              <a:buChar char="•"/>
            </a:pPr>
            <a:r>
              <a:rPr lang="en-US" sz="1050" dirty="0">
                <a:solidFill>
                  <a:srgbClr val="000000"/>
                </a:solidFill>
                <a:latin typeface="Inter" pitchFamily="34" charset="0"/>
                <a:ea typeface="Inter" pitchFamily="34" charset="-122"/>
                <a:cs typeface="Inter" pitchFamily="34" charset="-120"/>
              </a:rPr>
              <a:t>3</a:t>
            </a:r>
            <a:endParaRPr lang="en-US" sz="1050" dirty="0"/>
          </a:p>
        </p:txBody>
      </p:sp>
      <p:sp>
        <p:nvSpPr>
          <p:cNvPr id="38" name="Text 34"/>
          <p:cNvSpPr/>
          <p:nvPr/>
        </p:nvSpPr>
        <p:spPr>
          <a:xfrm>
            <a:off x="5129213" y="2469952"/>
            <a:ext cx="2623542"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Compare semiconductor temperature</a:t>
            </a:r>
            <a:endParaRPr lang="en-US" sz="1000" dirty="0"/>
          </a:p>
        </p:txBody>
      </p:sp>
      <p:sp>
        <p:nvSpPr>
          <p:cNvPr id="39" name="Text 35"/>
          <p:cNvSpPr/>
          <p:nvPr/>
        </p:nvSpPr>
        <p:spPr>
          <a:xfrm>
            <a:off x="5000625" y="2469952"/>
            <a:ext cx="3186113" cy="387548"/>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under adaptive f</a:t>
            </a:r>
            <a:endParaRPr lang="en-US" sz="1050" dirty="0"/>
          </a:p>
        </p:txBody>
      </p:sp>
      <p:sp>
        <p:nvSpPr>
          <p:cNvPr id="40" name="Text 36"/>
          <p:cNvSpPr/>
          <p:nvPr/>
        </p:nvSpPr>
        <p:spPr>
          <a:xfrm>
            <a:off x="5672138" y="2737842"/>
            <a:ext cx="160734"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sw</a:t>
            </a:r>
            <a:endParaRPr lang="en-US" sz="850" dirty="0"/>
          </a:p>
        </p:txBody>
      </p:sp>
      <p:sp>
        <p:nvSpPr>
          <p:cNvPr id="41" name="Text 37"/>
          <p:cNvSpPr/>
          <p:nvPr/>
        </p:nvSpPr>
        <p:spPr>
          <a:xfrm>
            <a:off x="5832872" y="2684264"/>
            <a:ext cx="1989534"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vs. constant 20 kHz baseline</a:t>
            </a:r>
            <a:endParaRPr lang="en-US" sz="1050" dirty="0"/>
          </a:p>
        </p:txBody>
      </p:sp>
      <p:sp>
        <p:nvSpPr>
          <p:cNvPr id="42" name="Text 38"/>
          <p:cNvSpPr/>
          <p:nvPr/>
        </p:nvSpPr>
        <p:spPr>
          <a:xfrm>
            <a:off x="5000625" y="2971800"/>
            <a:ext cx="3571875" cy="428625"/>
          </a:xfrm>
          <a:prstGeom prst="rect">
            <a:avLst/>
          </a:prstGeom>
          <a:noFill/>
          <a:ln/>
        </p:spPr>
        <p:txBody>
          <a:bodyPr wrap="square" lIns="0" tIns="0" rIns="0" bIns="0" rtlCol="0" anchor="t">
            <a:spAutoFit/>
          </a:bodyPr>
          <a:lstStyle/>
          <a:p>
            <a:pPr algn="l" marL="127000" indent="-127000">
              <a:lnSpc>
                <a:spcPct val="120000"/>
              </a:lnSpc>
              <a:buSzPct val="100000"/>
              <a:buChar char="•"/>
            </a:pPr>
            <a:r>
              <a:rPr lang="en-US" sz="1050" dirty="0">
                <a:solidFill>
                  <a:srgbClr val="000000"/>
                </a:solidFill>
                <a:latin typeface="Inter" pitchFamily="34" charset="0"/>
                <a:ea typeface="Inter" pitchFamily="34" charset="-122"/>
                <a:cs typeface="Inter" pitchFamily="34" charset="-120"/>
              </a:rPr>
              <a:t>4</a:t>
            </a:r>
            <a:r>
              <a:rPr lang="en-US" sz="1050" dirty="0">
                <a:solidFill>
                  <a:srgbClr val="000000"/>
                </a:solidFill>
                <a:latin typeface="Inter" pitchFamily="34" charset="0"/>
                <a:ea typeface="Inter" pitchFamily="34" charset="-122"/>
                <a:cs typeface="Inter" pitchFamily="34" charset="-120"/>
              </a:rPr>
              <a:t> </a:t>
            </a:r>
            <a:r>
              <a:rPr lang="en-US" sz="1050" dirty="0">
                <a:solidFill>
                  <a:srgbClr val="000000"/>
                </a:solidFill>
                <a:latin typeface="Inter" pitchFamily="34" charset="0"/>
                <a:ea typeface="Inter" pitchFamily="34" charset="-122"/>
                <a:cs typeface="Inter" pitchFamily="34" charset="-120"/>
              </a:rPr>
              <a:t>Analyze output current waveforms and verify expected </a:t>
            </a:r>
            <a:r>
              <a:rPr lang="en-US" sz="1000" b="1" dirty="0">
                <a:solidFill>
                  <a:srgbClr val="000000"/>
                </a:solidFill>
                <a:latin typeface="Inter Bold" pitchFamily="34" charset="0"/>
                <a:ea typeface="Inter Bold" pitchFamily="34" charset="-122"/>
                <a:cs typeface="Inter Bold" pitchFamily="34" charset="-120"/>
              </a:rPr>
              <a:t>THD performance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Design Choice: 800V Architecture</a:t>
            </a:r>
            <a:endParaRPr lang="en-US" sz="1800" dirty="0"/>
          </a:p>
        </p:txBody>
      </p:sp>
      <p:sp>
        <p:nvSpPr>
          <p:cNvPr id="7" name="Text 3"/>
          <p:cNvSpPr/>
          <p:nvPr/>
        </p:nvSpPr>
        <p:spPr>
          <a:xfrm>
            <a:off x="571500" y="1098352"/>
            <a:ext cx="8001000"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To meet modern EV performance demands, an </a:t>
            </a:r>
            <a:r>
              <a:rPr lang="en-US" sz="800" b="1" dirty="0">
                <a:solidFill>
                  <a:srgbClr val="000000"/>
                </a:solidFill>
                <a:latin typeface="Inter Bold" pitchFamily="34" charset="0"/>
                <a:ea typeface="Inter Bold" pitchFamily="34" charset="-122"/>
                <a:cs typeface="Inter Bold" pitchFamily="34" charset="-120"/>
              </a:rPr>
              <a:t>800V DC bus architecture</a:t>
            </a:r>
            <a:r>
              <a:rPr lang="en-US" sz="850" dirty="0">
                <a:solidFill>
                  <a:srgbClr val="000000"/>
                </a:solidFill>
                <a:latin typeface="Inter" pitchFamily="34" charset="0"/>
                <a:ea typeface="Inter" pitchFamily="34" charset="-122"/>
                <a:cs typeface="Inter" pitchFamily="34" charset="-120"/>
              </a:rPr>
              <a:t> was explicitly chosen for this design over traditional 400V systems to </a:t>
            </a:r>
            <a:r>
              <a:rPr lang="en-US" sz="850" dirty="0">
                <a:solidFill>
                  <a:srgbClr val="000000"/>
                </a:solidFill>
                <a:latin typeface="Inter" pitchFamily="34" charset="0"/>
                <a:ea typeface="Inter" pitchFamily="34" charset="-122"/>
                <a:cs typeface="Inter" pitchFamily="34" charset="-120"/>
              </a:rPr>
              <a:t>address three primary vehicle-level objectives:</a:t>
            </a:r>
            <a:endParaRPr lang="en-US" sz="850" dirty="0"/>
          </a:p>
        </p:txBody>
      </p:sp>
      <p:sp>
        <p:nvSpPr>
          <p:cNvPr id="8" name="Text 4"/>
          <p:cNvSpPr/>
          <p:nvPr/>
        </p:nvSpPr>
        <p:spPr>
          <a:xfrm>
            <a:off x="571500" y="1373386"/>
            <a:ext cx="8001000" cy="428625"/>
          </a:xfrm>
          <a:prstGeom prst="rect">
            <a:avLst/>
          </a:prstGeom>
          <a:noFill/>
          <a:ln/>
        </p:spPr>
        <p:txBody>
          <a:bodyPr wrap="squar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Halved Phase Currents: </a:t>
            </a:r>
            <a:r>
              <a:rPr lang="en-US" sz="1050" dirty="0">
                <a:solidFill>
                  <a:srgbClr val="000000"/>
                </a:solidFill>
                <a:latin typeface="Inter" pitchFamily="34" charset="0"/>
                <a:ea typeface="Inter" pitchFamily="34" charset="-122"/>
                <a:cs typeface="Inter" pitchFamily="34" charset="-120"/>
              </a:rPr>
              <a:t>Doubling the bus voltage from 400V to 800V halves the required phase current for the exact </a:t>
            </a:r>
            <a:r>
              <a:rPr lang="en-US" sz="1050" dirty="0">
                <a:solidFill>
                  <a:srgbClr val="000000"/>
                </a:solidFill>
                <a:latin typeface="Inter" pitchFamily="34" charset="0"/>
                <a:ea typeface="Inter" pitchFamily="34" charset="-122"/>
                <a:cs typeface="Inter" pitchFamily="34" charset="-120"/>
              </a:rPr>
              <a:t>same motor power output.</a:t>
            </a:r>
            <a:endParaRPr lang="en-US" sz="1000" dirty="0"/>
          </a:p>
        </p:txBody>
      </p:sp>
      <p:sp>
        <p:nvSpPr>
          <p:cNvPr id="9" name="Text 5"/>
          <p:cNvSpPr/>
          <p:nvPr/>
        </p:nvSpPr>
        <p:spPr>
          <a:xfrm>
            <a:off x="571500" y="1944886"/>
            <a:ext cx="8001000" cy="428625"/>
          </a:xfrm>
          <a:prstGeom prst="rect">
            <a:avLst/>
          </a:prstGeom>
          <a:noFill/>
          <a:ln/>
        </p:spPr>
        <p:txBody>
          <a:bodyPr wrap="squar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Reduced Ohmic Losses: </a:t>
            </a:r>
            <a:r>
              <a:rPr lang="en-US" sz="1050" dirty="0">
                <a:solidFill>
                  <a:srgbClr val="000000"/>
                </a:solidFill>
                <a:latin typeface="Inter" pitchFamily="34" charset="0"/>
                <a:ea typeface="Inter" pitchFamily="34" charset="-122"/>
                <a:cs typeface="Inter" pitchFamily="34" charset="-120"/>
              </a:rPr>
              <a:t>Lower currents drastically reduce I²R conduction losses in the traction inverter switches, </a:t>
            </a:r>
            <a:r>
              <a:rPr lang="en-US" sz="1050" dirty="0">
                <a:solidFill>
                  <a:srgbClr val="000000"/>
                </a:solidFill>
                <a:latin typeface="Inter" pitchFamily="34" charset="0"/>
                <a:ea typeface="Inter" pitchFamily="34" charset="-122"/>
                <a:cs typeface="Inter" pitchFamily="34" charset="-120"/>
              </a:rPr>
              <a:t>motor stator windings, and high-voltage DC cabling.</a:t>
            </a:r>
            <a:endParaRPr lang="en-US" sz="1000" dirty="0"/>
          </a:p>
        </p:txBody>
      </p:sp>
      <p:sp>
        <p:nvSpPr>
          <p:cNvPr id="10" name="Text 6"/>
          <p:cNvSpPr/>
          <p:nvPr/>
        </p:nvSpPr>
        <p:spPr>
          <a:xfrm>
            <a:off x="571500" y="2516386"/>
            <a:ext cx="8001000" cy="428625"/>
          </a:xfrm>
          <a:prstGeom prst="rect">
            <a:avLst/>
          </a:prstGeom>
          <a:noFill/>
          <a:ln/>
        </p:spPr>
        <p:txBody>
          <a:bodyPr wrap="squar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Ultra-Fast Charging: </a:t>
            </a:r>
            <a:r>
              <a:rPr lang="en-US" sz="1050" dirty="0">
                <a:solidFill>
                  <a:srgbClr val="000000"/>
                </a:solidFill>
                <a:latin typeface="Inter" pitchFamily="34" charset="0"/>
                <a:ea typeface="Inter" pitchFamily="34" charset="-122"/>
                <a:cs typeface="Inter" pitchFamily="34" charset="-120"/>
              </a:rPr>
              <a:t>An 800V bus allows for DC fast charging at power levels exceeding 350 kW without requiring </a:t>
            </a:r>
            <a:r>
              <a:rPr lang="en-US" sz="1050" dirty="0">
                <a:solidFill>
                  <a:srgbClr val="000000"/>
                </a:solidFill>
                <a:latin typeface="Inter" pitchFamily="34" charset="0"/>
                <a:ea typeface="Inter" pitchFamily="34" charset="-122"/>
                <a:cs typeface="Inter" pitchFamily="34" charset="-120"/>
              </a:rPr>
              <a:t>prohibitively thick, heavy, or liquid-cooled charging cables.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800" dirty="0"/>
          </a:p>
        </p:txBody>
      </p:sp>
      <p:sp>
        <p:nvSpPr>
          <p:cNvPr id="7" name="Text 3"/>
          <p:cNvSpPr/>
          <p:nvPr/>
        </p:nvSpPr>
        <p:spPr>
          <a:xfrm>
            <a:off x="571500" y="1098352"/>
            <a:ext cx="3857625"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The 800V Challenge</a:t>
            </a:r>
            <a:endParaRPr lang="en-US" sz="850" dirty="0"/>
          </a:p>
        </p:txBody>
      </p:sp>
      <p:sp>
        <p:nvSpPr>
          <p:cNvPr id="8" name="Text 4"/>
          <p:cNvSpPr/>
          <p:nvPr/>
        </p:nvSpPr>
        <p:spPr>
          <a:xfrm>
            <a:off x="571500" y="1235869"/>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 standard 2-level VSI at 800V switches the full bus voltage in under </a:t>
            </a:r>
            <a:r>
              <a:rPr lang="en-US" sz="850" dirty="0">
                <a:solidFill>
                  <a:srgbClr val="000000"/>
                </a:solidFill>
                <a:latin typeface="Inter" pitchFamily="34" charset="0"/>
                <a:ea typeface="Inter" pitchFamily="34" charset="-122"/>
                <a:cs typeface="Inter" pitchFamily="34" charset="-120"/>
              </a:rPr>
              <a:t>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000000"/>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1510903"/>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a:t>
            </a:r>
            <a:r>
              <a:rPr lang="en-US" sz="800" b="1" dirty="0">
                <a:solidFill>
                  <a:srgbClr val="000000"/>
                </a:solidFill>
                <a:latin typeface="Inter Bold" pitchFamily="34" charset="0"/>
                <a:ea typeface="Inter Bold" pitchFamily="34" charset="-122"/>
                <a:cs typeface="Inter Bold" pitchFamily="34" charset="-120"/>
              </a:rPr>
              <a:t>is exceeded by over 13×</a:t>
            </a:r>
            <a:r>
              <a:rPr lang="en-US" sz="850" dirty="0">
                <a:solidFill>
                  <a:srgbClr val="000000"/>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785938"/>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1000 </a:t>
            </a:r>
            <a:r>
              <a:rPr lang="en-US" sz="800" b="1" dirty="0">
                <a:solidFill>
                  <a:srgbClr val="000000"/>
                </a:solidFill>
                <a:latin typeface="Inter Bold" pitchFamily="34" charset="0"/>
                <a:ea typeface="Inter Bold" pitchFamily="34" charset="-122"/>
                <a:cs typeface="Inter Bold" pitchFamily="34" charset="-120"/>
              </a:rPr>
              <a:t>hours</a:t>
            </a:r>
            <a:r>
              <a:rPr lang="en-US" sz="850" dirty="0">
                <a:solidFill>
                  <a:srgbClr val="000000"/>
                </a:solidFill>
                <a:latin typeface="Inter" pitchFamily="34" charset="0"/>
                <a:ea typeface="Inter" pitchFamily="34" charset="-122"/>
                <a:cs typeface="Inter" pitchFamily="34" charset="-120"/>
              </a:rPr>
              <a:t> of continuous operation.</a:t>
            </a:r>
            <a:endParaRPr lang="en-US" sz="850" dirty="0"/>
          </a:p>
        </p:txBody>
      </p:sp>
      <p:sp>
        <p:nvSpPr>
          <p:cNvPr id="11" name="Text 7"/>
          <p:cNvSpPr/>
          <p:nvPr/>
        </p:nvSpPr>
        <p:spPr>
          <a:xfrm>
            <a:off x="4714875" y="1098352"/>
            <a:ext cx="3857625"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The Multilevel Solution</a:t>
            </a:r>
            <a:endParaRPr lang="en-US" sz="850" dirty="0"/>
          </a:p>
        </p:txBody>
      </p:sp>
      <p:sp>
        <p:nvSpPr>
          <p:cNvPr id="12" name="Text 8"/>
          <p:cNvSpPr/>
          <p:nvPr/>
        </p:nvSpPr>
        <p:spPr>
          <a:xfrm>
            <a:off x="4714875" y="1235869"/>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000000"/>
                </a:solidFill>
                <a:latin typeface="Inter" pitchFamily="34" charset="0"/>
                <a:ea typeface="Inter" pitchFamily="34" charset="-122"/>
                <a:cs typeface="Inter" pitchFamily="34" charset="-120"/>
              </a:rPr>
              <a:t>, halving </a:t>
            </a:r>
            <a:r>
              <a:rPr lang="en-US" sz="850" dirty="0">
                <a:solidFill>
                  <a:srgbClr val="000000"/>
                </a:solidFill>
                <a:latin typeface="Inter" pitchFamily="34" charset="0"/>
                <a:ea typeface="Inter" pitchFamily="34" charset="-122"/>
                <a:cs typeface="Inter" pitchFamily="34" charset="-120"/>
              </a:rPr>
              <a:t>dv/dt to ~8 kV/µs.</a:t>
            </a:r>
            <a:endParaRPr lang="en-US" sz="850" dirty="0"/>
          </a:p>
        </p:txBody>
      </p:sp>
      <p:sp>
        <p:nvSpPr>
          <p:cNvPr id="13" name="Text 9"/>
          <p:cNvSpPr/>
          <p:nvPr/>
        </p:nvSpPr>
        <p:spPr>
          <a:xfrm>
            <a:off x="4714875" y="1510903"/>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000000"/>
                </a:solidFill>
                <a:latin typeface="Inter" pitchFamily="34" charset="0"/>
                <a:ea typeface="Inter" pitchFamily="34" charset="-122"/>
                <a:cs typeface="Inter" pitchFamily="34" charset="-120"/>
              </a:rPr>
              <a:t> by synthesizing a closer </a:t>
            </a:r>
            <a:r>
              <a:rPr lang="en-US" sz="850" dirty="0">
                <a:solidFill>
                  <a:srgbClr val="000000"/>
                </a:solidFill>
                <a:latin typeface="Inter" pitchFamily="34" charset="0"/>
                <a:ea typeface="Inter" pitchFamily="34" charset="-122"/>
                <a:cs typeface="Inter" pitchFamily="34" charset="-120"/>
              </a:rPr>
              <a:t>sine approximation.</a:t>
            </a:r>
            <a:endParaRPr lang="en-US" sz="850" dirty="0"/>
          </a:p>
        </p:txBody>
      </p:sp>
      <p:sp>
        <p:nvSpPr>
          <p:cNvPr id="14" name="Text 10"/>
          <p:cNvSpPr/>
          <p:nvPr/>
        </p:nvSpPr>
        <p:spPr>
          <a:xfrm>
            <a:off x="4714875" y="1785938"/>
            <a:ext cx="3857625" cy="275034"/>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000000"/>
                </a:solidFill>
                <a:latin typeface="Inter" pitchFamily="34" charset="0"/>
                <a:ea typeface="Inter" pitchFamily="34" charset="-122"/>
                <a:cs typeface="Inter" pitchFamily="34" charset="-120"/>
              </a:rPr>
              <a:t>.</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Topology Selection: FC vs NPC</a:t>
            </a:r>
            <a:endParaRPr lang="en-US" sz="1800" dirty="0"/>
          </a:p>
        </p:txBody>
      </p:sp>
      <p:sp>
        <p:nvSpPr>
          <p:cNvPr id="7" name="Text 3"/>
          <p:cNvSpPr/>
          <p:nvPr/>
        </p:nvSpPr>
        <p:spPr>
          <a:xfrm>
            <a:off x="571500" y="1098352"/>
            <a:ext cx="800100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Neutral Point Clamped (NPC) Limitations</a:t>
            </a:r>
            <a:endParaRPr lang="en-US" sz="850" dirty="0"/>
          </a:p>
        </p:txBody>
      </p:sp>
      <p:sp>
        <p:nvSpPr>
          <p:cNvPr id="8" name="Text 4"/>
          <p:cNvSpPr/>
          <p:nvPr/>
        </p:nvSpPr>
        <p:spPr>
          <a:xfrm>
            <a:off x="571500" y="1235869"/>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000000"/>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9" name="Text 5"/>
          <p:cNvSpPr/>
          <p:nvPr/>
        </p:nvSpPr>
        <p:spPr>
          <a:xfrm>
            <a:off x="571500" y="1373386"/>
            <a:ext cx="800100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000000"/>
                </a:solidFill>
                <a:latin typeface="Inter" pitchFamily="34" charset="0"/>
                <a:ea typeface="Inter" pitchFamily="34" charset="-122"/>
                <a:cs typeface="Inter" pitchFamily="34" charset="-120"/>
              </a:rPr>
              <a:t>, requiring complex control algorithms.</a:t>
            </a:r>
            <a:endParaRPr lang="en-US" sz="850" dirty="0"/>
          </a:p>
        </p:txBody>
      </p:sp>
      <p:sp>
        <p:nvSpPr>
          <p:cNvPr id="10" name="Text 6"/>
          <p:cNvSpPr/>
          <p:nvPr/>
        </p:nvSpPr>
        <p:spPr>
          <a:xfrm>
            <a:off x="571500" y="1510903"/>
            <a:ext cx="800100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Flying Capacitor (FC) Advantages</a:t>
            </a:r>
            <a:endParaRPr lang="en-US" sz="850" dirty="0"/>
          </a:p>
        </p:txBody>
      </p:sp>
      <p:sp>
        <p:nvSpPr>
          <p:cNvPr id="11" name="Text 7"/>
          <p:cNvSpPr/>
          <p:nvPr/>
        </p:nvSpPr>
        <p:spPr>
          <a:xfrm>
            <a:off x="571500" y="1648420"/>
            <a:ext cx="800100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000000"/>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1785938"/>
            <a:ext cx="8001000"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000000"/>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1923455"/>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000000"/>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563195"/>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FC Switching States and PD-PWM</a:t>
            </a:r>
            <a:endParaRPr lang="en-US" sz="1800" dirty="0"/>
          </a:p>
        </p:txBody>
      </p:sp>
      <p:sp>
        <p:nvSpPr>
          <p:cNvPr id="7" name="Text 3"/>
          <p:cNvSpPr/>
          <p:nvPr/>
        </p:nvSpPr>
        <p:spPr>
          <a:xfrm>
            <a:off x="571500" y="1098352"/>
            <a:ext cx="1535906" cy="825103"/>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000000"/>
                </a:solidFill>
                <a:latin typeface="Inter" pitchFamily="34" charset="0"/>
                <a:ea typeface="Inter" pitchFamily="34" charset="-122"/>
                <a:cs typeface="Inter" pitchFamily="34" charset="-120"/>
              </a:rPr>
              <a:t> Each </a:t>
            </a:r>
            <a:r>
              <a:rPr lang="en-US" sz="850" dirty="0">
                <a:solidFill>
                  <a:srgbClr val="000000"/>
                </a:solidFill>
                <a:latin typeface="Inter" pitchFamily="34" charset="0"/>
                <a:ea typeface="Inter" pitchFamily="34" charset="-122"/>
                <a:cs typeface="Inter" pitchFamily="34" charset="-120"/>
              </a:rPr>
              <a:t>phase leg (a, b, c) utilizes </a:t>
            </a:r>
            <a:r>
              <a:rPr lang="en-US" sz="850" dirty="0">
                <a:solidFill>
                  <a:srgbClr val="000000"/>
                </a:solidFill>
                <a:latin typeface="Inter" pitchFamily="34" charset="0"/>
                <a:ea typeface="Inter" pitchFamily="34" charset="-122"/>
                <a:cs typeface="Inter" pitchFamily="34" charset="-120"/>
              </a:rPr>
              <a:t>four switches (e.g., q1a, </a:t>
            </a:r>
            <a:r>
              <a:rPr lang="en-US" sz="850" dirty="0">
                <a:solidFill>
                  <a:srgbClr val="000000"/>
                </a:solidFill>
                <a:latin typeface="Inter" pitchFamily="34" charset="0"/>
                <a:ea typeface="Inter" pitchFamily="34" charset="-122"/>
                <a:cs typeface="Inter" pitchFamily="34" charset="-120"/>
              </a:rPr>
              <a:t>q2a, q2a, q1a) with a flying </a:t>
            </a:r>
            <a:r>
              <a:rPr lang="en-US" sz="850" dirty="0">
                <a:solidFill>
                  <a:srgbClr val="000000"/>
                </a:solidFill>
                <a:latin typeface="Inter" pitchFamily="34" charset="0"/>
                <a:ea typeface="Inter" pitchFamily="34" charset="-122"/>
                <a:cs typeface="Inter" pitchFamily="34" charset="-120"/>
              </a:rPr>
              <a:t>capacitor bridging the inner </a:t>
            </a:r>
            <a:r>
              <a:rPr lang="en-US" sz="850" dirty="0">
                <a:solidFill>
                  <a:srgbClr val="000000"/>
                </a:solidFill>
                <a:latin typeface="Inter" pitchFamily="34" charset="0"/>
                <a:ea typeface="Inter" pitchFamily="34" charset="-122"/>
                <a:cs typeface="Inter" pitchFamily="34" charset="-120"/>
              </a:rPr>
              <a:t>junctions.</a:t>
            </a:r>
            <a:endParaRPr lang="en-US" sz="800" dirty="0"/>
          </a:p>
        </p:txBody>
      </p:sp>
      <p:sp>
        <p:nvSpPr>
          <p:cNvPr id="8" name="Text 4"/>
          <p:cNvSpPr/>
          <p:nvPr/>
        </p:nvSpPr>
        <p:spPr>
          <a:xfrm>
            <a:off x="571500" y="1923455"/>
            <a:ext cx="1535906" cy="825103"/>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000000"/>
                </a:solidFill>
                <a:latin typeface="Inter" pitchFamily="34" charset="0"/>
                <a:ea typeface="Inter" pitchFamily="34" charset="-122"/>
                <a:cs typeface="Inter" pitchFamily="34" charset="-120"/>
              </a:rPr>
              <a:t> The </a:t>
            </a:r>
            <a:r>
              <a:rPr lang="en-US" sz="850" dirty="0">
                <a:solidFill>
                  <a:srgbClr val="000000"/>
                </a:solidFill>
                <a:latin typeface="Inter" pitchFamily="34" charset="0"/>
                <a:ea typeface="Inter" pitchFamily="34" charset="-122"/>
                <a:cs typeface="Inter" pitchFamily="34" charset="-120"/>
              </a:rPr>
              <a:t>topology synthesizes three </a:t>
            </a:r>
            <a:r>
              <a:rPr lang="en-US" sz="850" dirty="0">
                <a:solidFill>
                  <a:srgbClr val="000000"/>
                </a:solidFill>
                <a:latin typeface="Inter" pitchFamily="34" charset="0"/>
                <a:ea typeface="Inter" pitchFamily="34" charset="-122"/>
                <a:cs typeface="Inter" pitchFamily="34" charset="-120"/>
              </a:rPr>
              <a:t>distinct voltage levels per </a:t>
            </a:r>
            <a:r>
              <a:rPr lang="en-US" sz="850" dirty="0">
                <a:solidFill>
                  <a:srgbClr val="000000"/>
                </a:solidFill>
                <a:latin typeface="Inter" pitchFamily="34" charset="0"/>
                <a:ea typeface="Inter" pitchFamily="34" charset="-122"/>
                <a:cs typeface="Inter" pitchFamily="34" charset="-120"/>
              </a:rPr>
              <a:t>phase relative to the DC </a:t>
            </a:r>
            <a:r>
              <a:rPr lang="en-US" sz="850" dirty="0">
                <a:solidFill>
                  <a:srgbClr val="000000"/>
                </a:solidFill>
                <a:latin typeface="Inter" pitchFamily="34" charset="0"/>
                <a:ea typeface="Inter" pitchFamily="34" charset="-122"/>
                <a:cs typeface="Inter" pitchFamily="34" charset="-120"/>
              </a:rPr>
              <a:t>midpoint (0): +Vdc, 0, and -</a:t>
            </a:r>
            <a:r>
              <a:rPr lang="en-US" sz="850" dirty="0">
                <a:solidFill>
                  <a:srgbClr val="000000"/>
                </a:solidFill>
                <a:latin typeface="Inter" pitchFamily="34" charset="0"/>
                <a:ea typeface="Inter" pitchFamily="34" charset="-122"/>
                <a:cs typeface="Inter" pitchFamily="34" charset="-120"/>
              </a:rPr>
              <a:t>Vdc.</a:t>
            </a:r>
            <a:endParaRPr lang="en-US" sz="800" dirty="0"/>
          </a:p>
        </p:txBody>
      </p:sp>
      <p:sp>
        <p:nvSpPr>
          <p:cNvPr id="9" name="Text 5"/>
          <p:cNvSpPr/>
          <p:nvPr/>
        </p:nvSpPr>
        <p:spPr>
          <a:xfrm>
            <a:off x="571500" y="2748558"/>
            <a:ext cx="1246584"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Redundant zero states</a:t>
            </a:r>
            <a:endParaRPr lang="en-US" sz="800" dirty="0"/>
          </a:p>
        </p:txBody>
      </p:sp>
      <p:sp>
        <p:nvSpPr>
          <p:cNvPr id="10" name="Text 6"/>
          <p:cNvSpPr/>
          <p:nvPr/>
        </p:nvSpPr>
        <p:spPr>
          <a:xfrm>
            <a:off x="571500" y="2886075"/>
            <a:ext cx="1405533"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enable natural balancing:</a:t>
            </a:r>
            <a:endParaRPr lang="en-US" sz="800" dirty="0"/>
          </a:p>
        </p:txBody>
      </p:sp>
      <p:sp>
        <p:nvSpPr>
          <p:cNvPr id="11" name="Text 7"/>
          <p:cNvSpPr/>
          <p:nvPr/>
        </p:nvSpPr>
        <p:spPr>
          <a:xfrm>
            <a:off x="571500" y="3023592"/>
            <a:ext cx="1535906" cy="687586"/>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State 1:</a:t>
            </a:r>
            <a:r>
              <a:rPr lang="en-US" sz="850" dirty="0">
                <a:solidFill>
                  <a:srgbClr val="000000"/>
                </a:solidFill>
                <a:latin typeface="Inter" pitchFamily="34" charset="0"/>
                <a:ea typeface="Inter" pitchFamily="34" charset="-122"/>
                <a:cs typeface="Inter" pitchFamily="34" charset="-120"/>
              </a:rPr>
              <a:t> q1=1, q2=0 → </a:t>
            </a:r>
            <a:r>
              <a:rPr lang="en-US" sz="850" dirty="0">
                <a:solidFill>
                  <a:srgbClr val="000000"/>
                </a:solidFill>
                <a:latin typeface="Inter" pitchFamily="34" charset="0"/>
                <a:ea typeface="Inter" pitchFamily="34" charset="-122"/>
                <a:cs typeface="Inter" pitchFamily="34" charset="-120"/>
              </a:rPr>
              <a:t>Output = 0V (Charges Cfc)</a:t>
            </a:r>
            <a:r>
              <a:rPr lang="en-US" sz="850" dirty="0">
                <a:solidFill>
                  <a:srgbClr val="000000"/>
                </a:solidFill>
                <a:latin typeface="Inter" pitchFamily="34" charset="0"/>
                <a:ea typeface="Inter" pitchFamily="34" charset="-122"/>
                <a:cs typeface="Inter" pitchFamily="34" charset="-120"/>
              </a:rPr>
              <a:t>
</a:t>
            </a:r>
            <a:r>
              <a:rPr lang="en-US" sz="800" b="1" dirty="0">
                <a:solidFill>
                  <a:srgbClr val="000000"/>
                </a:solidFill>
                <a:latin typeface="Inter Bold" pitchFamily="34" charset="0"/>
                <a:ea typeface="Inter Bold" pitchFamily="34" charset="-122"/>
                <a:cs typeface="Inter Bold" pitchFamily="34" charset="-120"/>
              </a:rPr>
              <a:t>State 2:</a:t>
            </a:r>
            <a:r>
              <a:rPr lang="en-US" sz="850" dirty="0">
                <a:solidFill>
                  <a:srgbClr val="000000"/>
                </a:solidFill>
                <a:latin typeface="Inter" pitchFamily="34" charset="0"/>
                <a:ea typeface="Inter" pitchFamily="34" charset="-122"/>
                <a:cs typeface="Inter" pitchFamily="34" charset="-120"/>
              </a:rPr>
              <a:t> q1=0, q2=1 → </a:t>
            </a:r>
            <a:r>
              <a:rPr lang="en-US" sz="850" dirty="0">
                <a:solidFill>
                  <a:srgbClr val="000000"/>
                </a:solidFill>
                <a:latin typeface="Inter" pitchFamily="34" charset="0"/>
                <a:ea typeface="Inter" pitchFamily="34" charset="-122"/>
                <a:cs typeface="Inter" pitchFamily="34" charset="-120"/>
              </a:rPr>
              <a:t>Output = 0V (Discharges </a:t>
            </a:r>
            <a:r>
              <a:rPr lang="en-US" sz="850" dirty="0">
                <a:solidFill>
                  <a:srgbClr val="000000"/>
                </a:solidFill>
                <a:latin typeface="Inter" pitchFamily="34" charset="0"/>
                <a:ea typeface="Inter" pitchFamily="34" charset="-122"/>
                <a:cs typeface="Inter" pitchFamily="34" charset="-120"/>
              </a:rPr>
              <a:t>Cfc)</a:t>
            </a:r>
            <a:endParaRPr lang="en-US" sz="850" dirty="0"/>
          </a:p>
        </p:txBody>
      </p:sp>
      <p:sp>
        <p:nvSpPr>
          <p:cNvPr id="12" name="Text 8"/>
          <p:cNvSpPr/>
          <p:nvPr/>
        </p:nvSpPr>
        <p:spPr>
          <a:xfrm>
            <a:off x="571500" y="3711178"/>
            <a:ext cx="1535906" cy="962620"/>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000000"/>
                </a:solidFill>
                <a:latin typeface="Inter" pitchFamily="34" charset="0"/>
                <a:ea typeface="Inter" pitchFamily="34" charset="-122"/>
                <a:cs typeface="Inter" pitchFamily="34" charset="-120"/>
              </a:rPr>
              <a:t> Phase Disposition PWM </a:t>
            </a:r>
            <a:r>
              <a:rPr lang="en-US" sz="850" dirty="0">
                <a:solidFill>
                  <a:srgbClr val="000000"/>
                </a:solidFill>
                <a:latin typeface="Inter" pitchFamily="34" charset="0"/>
                <a:ea typeface="Inter" pitchFamily="34" charset="-122"/>
                <a:cs typeface="Inter" pitchFamily="34" charset="-120"/>
              </a:rPr>
              <a:t>actively selects between the </a:t>
            </a:r>
            <a:r>
              <a:rPr lang="en-US" sz="850" dirty="0">
                <a:solidFill>
                  <a:srgbClr val="000000"/>
                </a:solidFill>
                <a:latin typeface="Inter" pitchFamily="34" charset="0"/>
                <a:ea typeface="Inter" pitchFamily="34" charset="-122"/>
                <a:cs typeface="Inter" pitchFamily="34" charset="-120"/>
              </a:rPr>
              <a:t>redundant zero states </a:t>
            </a:r>
            <a:r>
              <a:rPr lang="en-US" sz="850" dirty="0">
                <a:solidFill>
                  <a:srgbClr val="000000"/>
                </a:solidFill>
                <a:latin typeface="Inter" pitchFamily="34" charset="0"/>
                <a:ea typeface="Inter" pitchFamily="34" charset="-122"/>
                <a:cs typeface="Inter" pitchFamily="34" charset="-120"/>
              </a:rPr>
              <a:t>based on the phase current </a:t>
            </a:r>
            <a:r>
              <a:rPr lang="en-US" sz="850" dirty="0">
                <a:solidFill>
                  <a:srgbClr val="000000"/>
                </a:solidFill>
                <a:latin typeface="Inter" pitchFamily="34" charset="0"/>
                <a:ea typeface="Inter" pitchFamily="34" charset="-122"/>
                <a:cs typeface="Inter" pitchFamily="34" charset="-120"/>
              </a:rPr>
              <a:t>direction to maintain Vfc at </a:t>
            </a:r>
            <a:r>
              <a:rPr lang="en-US" sz="850" dirty="0">
                <a:solidFill>
                  <a:srgbClr val="000000"/>
                </a:solidFill>
                <a:latin typeface="Inter" pitchFamily="34" charset="0"/>
                <a:ea typeface="Inter" pitchFamily="34" charset="-122"/>
                <a:cs typeface="Inter" pitchFamily="34" charset="-120"/>
              </a:rPr>
              <a:t>exactly Vdc/2.</a:t>
            </a:r>
            <a:endParaRPr lang="en-US" sz="800" dirty="0"/>
          </a:p>
        </p:txBody>
      </p:sp>
      <p:pic>
        <p:nvPicPr>
          <p:cNvPr id="13" name="Image 1" descr="preencoded.png">    </p:cNvPr>
          <p:cNvPicPr>
            <a:picLocks noChangeAspect="1"/>
          </p:cNvPicPr>
          <p:nvPr/>
        </p:nvPicPr>
        <p:blipFill>
          <a:blip r:embed="rId2"/>
          <a:stretch>
            <a:fillRect/>
          </a:stretch>
        </p:blipFill>
        <p:spPr>
          <a:xfrm>
            <a:off x="2393156" y="1098352"/>
            <a:ext cx="6179344" cy="3857625"/>
          </a:xfrm>
          <a:prstGeom prst="rect">
            <a:avLst/>
          </a:prstGeom>
        </p:spPr>
      </p:pic>
      <p:sp>
        <p:nvSpPr>
          <p:cNvPr id="14" name="Text 9"/>
          <p:cNvSpPr/>
          <p:nvPr/>
        </p:nvSpPr>
        <p:spPr>
          <a:xfrm>
            <a:off x="2393156" y="4982766"/>
            <a:ext cx="6179344" cy="137517"/>
          </a:xfrm>
          <a:prstGeom prst="rect">
            <a:avLst/>
          </a:prstGeom>
          <a:noFill/>
          <a:ln/>
        </p:spPr>
        <p:txBody>
          <a:bodyPr wrap="squar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Source: Advanced Power Electronics Converters (E. Cipriano)</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Component Selection</a:t>
            </a:r>
            <a:endParaRPr lang="en-US" sz="1800" dirty="0"/>
          </a:p>
        </p:txBody>
      </p:sp>
      <p:sp>
        <p:nvSpPr>
          <p:cNvPr id="7" name="Text 3"/>
          <p:cNvSpPr/>
          <p:nvPr/>
        </p:nvSpPr>
        <p:spPr>
          <a:xfrm>
            <a:off x="571500" y="1098352"/>
            <a:ext cx="2000250" cy="825103"/>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Switch: Wolfspeed </a:t>
            </a:r>
            <a:r>
              <a:rPr lang="en-US" sz="800" b="1" dirty="0">
                <a:solidFill>
                  <a:srgbClr val="000000"/>
                </a:solidFill>
                <a:latin typeface="Inter Bold" pitchFamily="34" charset="0"/>
                <a:ea typeface="Inter Bold" pitchFamily="34" charset="-122"/>
                <a:cs typeface="Inter Bold" pitchFamily="34" charset="-120"/>
              </a:rPr>
              <a:t>CAB450M12XM3</a:t>
            </a:r>
            <a:r>
              <a:rPr lang="en-US" sz="850" dirty="0">
                <a:solidFill>
                  <a:srgbClr val="000000"/>
                </a:solidFill>
                <a:latin typeface="Inter" pitchFamily="34" charset="0"/>
                <a:ea typeface="Inter" pitchFamily="34" charset="-122"/>
                <a:cs typeface="Inter" pitchFamily="34" charset="-120"/>
              </a:rPr>
              <a:t> — 1200V rating </a:t>
            </a:r>
            <a:r>
              <a:rPr lang="en-US" sz="850" dirty="0">
                <a:solidFill>
                  <a:srgbClr val="000000"/>
                </a:solidFill>
                <a:latin typeface="Inter" pitchFamily="34" charset="0"/>
                <a:ea typeface="Inter" pitchFamily="34" charset="-122"/>
                <a:cs typeface="Inter" pitchFamily="34" charset="-120"/>
              </a:rPr>
              <a:t>provides a 50% margin over the </a:t>
            </a:r>
            <a:r>
              <a:rPr lang="en-US" sz="850" dirty="0">
                <a:solidFill>
                  <a:srgbClr val="000000"/>
                </a:solidFill>
                <a:latin typeface="Inter" pitchFamily="34" charset="0"/>
                <a:ea typeface="Inter" pitchFamily="34" charset="-122"/>
                <a:cs typeface="Inter" pitchFamily="34" charset="-120"/>
              </a:rPr>
              <a:t>400V/switch stress. 450A rating </a:t>
            </a:r>
            <a:r>
              <a:rPr lang="en-US" sz="850" dirty="0">
                <a:solidFill>
                  <a:srgbClr val="000000"/>
                </a:solidFill>
                <a:latin typeface="Inter" pitchFamily="34" charset="0"/>
                <a:ea typeface="Inter" pitchFamily="34" charset="-122"/>
                <a:cs typeface="Inter" pitchFamily="34" charset="-120"/>
              </a:rPr>
              <a:t>offers a 3.3× margin over the 136A </a:t>
            </a:r>
            <a:r>
              <a:rPr lang="en-US" sz="850" dirty="0">
                <a:solidFill>
                  <a:srgbClr val="000000"/>
                </a:solidFill>
                <a:latin typeface="Inter" pitchFamily="34" charset="0"/>
                <a:ea typeface="Inter" pitchFamily="34" charset="-122"/>
                <a:cs typeface="Inter" pitchFamily="34" charset="-120"/>
              </a:rPr>
              <a:t>peak current.</a:t>
            </a:r>
            <a:endParaRPr lang="en-US" sz="800" dirty="0"/>
          </a:p>
        </p:txBody>
      </p:sp>
      <p:sp>
        <p:nvSpPr>
          <p:cNvPr id="8" name="Text 4"/>
          <p:cNvSpPr/>
          <p:nvPr/>
        </p:nvSpPr>
        <p:spPr>
          <a:xfrm>
            <a:off x="571500" y="1923455"/>
            <a:ext cx="2000250" cy="550069"/>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000000"/>
                </a:solidFill>
                <a:latin typeface="Inter" pitchFamily="34" charset="0"/>
                <a:ea typeface="Inter" pitchFamily="34" charset="-122"/>
                <a:cs typeface="Inter" pitchFamily="34" charset="-120"/>
              </a:rPr>
              <a:t> — Delivers </a:t>
            </a:r>
            <a:r>
              <a:rPr lang="en-US" sz="850" dirty="0">
                <a:solidFill>
                  <a:srgbClr val="000000"/>
                </a:solidFill>
                <a:latin typeface="Inter" pitchFamily="34" charset="0"/>
                <a:ea typeface="Inter" pitchFamily="34" charset="-122"/>
                <a:cs typeface="Inter" pitchFamily="34" charset="-120"/>
              </a:rPr>
              <a:t>10× lower switching energy, </a:t>
            </a:r>
            <a:r>
              <a:rPr lang="en-US" sz="850" dirty="0">
                <a:solidFill>
                  <a:srgbClr val="000000"/>
                </a:solidFill>
                <a:latin typeface="Inter" pitchFamily="34" charset="0"/>
                <a:ea typeface="Inter" pitchFamily="34" charset="-122"/>
                <a:cs typeface="Inter" pitchFamily="34" charset="-120"/>
              </a:rPr>
              <a:t>eliminates tail current, and enables </a:t>
            </a:r>
            <a:r>
              <a:rPr lang="en-US" sz="850" dirty="0">
                <a:solidFill>
                  <a:srgbClr val="000000"/>
                </a:solidFill>
                <a:latin typeface="Inter" pitchFamily="34" charset="0"/>
                <a:ea typeface="Inter" pitchFamily="34" charset="-122"/>
                <a:cs typeface="Inter" pitchFamily="34" charset="-120"/>
              </a:rPr>
              <a:t>efficient 20 kHz operation.</a:t>
            </a:r>
            <a:endParaRPr lang="en-US" sz="800" dirty="0"/>
          </a:p>
        </p:txBody>
      </p:sp>
      <p:sp>
        <p:nvSpPr>
          <p:cNvPr id="9" name="Text 5"/>
          <p:cNvSpPr/>
          <p:nvPr/>
        </p:nvSpPr>
        <p:spPr>
          <a:xfrm>
            <a:off x="571500" y="2473523"/>
            <a:ext cx="2000250" cy="412552"/>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000000"/>
                </a:solidFill>
                <a:latin typeface="Inter" pitchFamily="34" charset="0"/>
                <a:ea typeface="Inter" pitchFamily="34" charset="-122"/>
                <a:cs typeface="Inter" pitchFamily="34" charset="-120"/>
              </a:rPr>
              <a:t> — C = Ipk / (2 × </a:t>
            </a:r>
            <a:r>
              <a:rPr lang="en-US" sz="850" dirty="0">
                <a:solidFill>
                  <a:srgbClr val="000000"/>
                </a:solidFill>
                <a:latin typeface="Inter" pitchFamily="34" charset="0"/>
                <a:ea typeface="Inter" pitchFamily="34" charset="-122"/>
                <a:cs typeface="Inter" pitchFamily="34" charset="-120"/>
              </a:rPr>
              <a:t>fsw_min × ΔVfc) = 136A / (2 × 5kHz </a:t>
            </a:r>
            <a:r>
              <a:rPr lang="en-US" sz="850" dirty="0">
                <a:solidFill>
                  <a:srgbClr val="000000"/>
                </a:solidFill>
                <a:latin typeface="Inter" pitchFamily="34" charset="0"/>
                <a:ea typeface="Inter" pitchFamily="34" charset="-122"/>
                <a:cs typeface="Inter" pitchFamily="34" charset="-120"/>
              </a:rPr>
              <a:t>×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000000"/>
                </a:solidFill>
                <a:latin typeface="Inter" pitchFamily="34" charset="0"/>
                <a:ea typeface="Inter" pitchFamily="34" charset="-122"/>
                <a:cs typeface="Inter" pitchFamily="34" charset="-120"/>
              </a:rPr>
              <a:t>.</a:t>
            </a:r>
            <a:endParaRPr lang="en-US" sz="800" dirty="0"/>
          </a:p>
        </p:txBody>
      </p:sp>
      <p:sp>
        <p:nvSpPr>
          <p:cNvPr id="10" name="Text 6"/>
          <p:cNvSpPr/>
          <p:nvPr/>
        </p:nvSpPr>
        <p:spPr>
          <a:xfrm>
            <a:off x="571500" y="2886075"/>
            <a:ext cx="2000250" cy="687586"/>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000000"/>
                </a:solidFill>
                <a:latin typeface="Inter" pitchFamily="34" charset="0"/>
                <a:ea typeface="Inter" pitchFamily="34" charset="-122"/>
                <a:cs typeface="Inter" pitchFamily="34" charset="-120"/>
              </a:rPr>
              <a:t> — </a:t>
            </a:r>
            <a:r>
              <a:rPr lang="en-US" sz="850" dirty="0">
                <a:solidFill>
                  <a:srgbClr val="000000"/>
                </a:solidFill>
                <a:latin typeface="Inter" pitchFamily="34" charset="0"/>
                <a:ea typeface="Inter" pitchFamily="34" charset="-122"/>
                <a:cs typeface="Inter" pitchFamily="34" charset="-120"/>
              </a:rPr>
              <a:t>Selected for ESR &lt; 5mΩ, &gt;100A RMS </a:t>
            </a:r>
            <a:r>
              <a:rPr lang="en-US" sz="850" dirty="0">
                <a:solidFill>
                  <a:srgbClr val="000000"/>
                </a:solidFill>
                <a:latin typeface="Inter" pitchFamily="34" charset="0"/>
                <a:ea typeface="Inter" pitchFamily="34" charset="-122"/>
                <a:cs typeface="Inter" pitchFamily="34" charset="-120"/>
              </a:rPr>
              <a:t>ripple capability, self-healing </a:t>
            </a:r>
            <a:r>
              <a:rPr lang="en-US" sz="850" dirty="0">
                <a:solidFill>
                  <a:srgbClr val="000000"/>
                </a:solidFill>
                <a:latin typeface="Inter" pitchFamily="34" charset="0"/>
                <a:ea typeface="Inter" pitchFamily="34" charset="-122"/>
                <a:cs typeface="Inter" pitchFamily="34" charset="-120"/>
              </a:rPr>
              <a:t>properties, and automotive-grade </a:t>
            </a:r>
            <a:r>
              <a:rPr lang="en-US" sz="850" dirty="0">
                <a:solidFill>
                  <a:srgbClr val="000000"/>
                </a:solidFill>
                <a:latin typeface="Inter" pitchFamily="34" charset="0"/>
                <a:ea typeface="Inter" pitchFamily="34" charset="-122"/>
                <a:cs typeface="Inter" pitchFamily="34" charset="-120"/>
              </a:rPr>
              <a:t>reliability.</a:t>
            </a:r>
            <a:endParaRPr lang="en-US" sz="800" dirty="0"/>
          </a:p>
        </p:txBody>
      </p:sp>
      <p:sp>
        <p:nvSpPr>
          <p:cNvPr id="11" name="Text 7"/>
          <p:cNvSpPr/>
          <p:nvPr/>
        </p:nvSpPr>
        <p:spPr>
          <a:xfrm>
            <a:off x="571500" y="3573661"/>
            <a:ext cx="2000250" cy="550069"/>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000000"/>
                </a:solidFill>
                <a:latin typeface="Inter" pitchFamily="34" charset="0"/>
                <a:ea typeface="Inter" pitchFamily="34" charset="-122"/>
                <a:cs typeface="Inter" pitchFamily="34" charset="-120"/>
              </a:rPr>
              <a:t> — Rth_jc = 0.094 </a:t>
            </a:r>
            <a:r>
              <a:rPr lang="en-US" sz="850" dirty="0">
                <a:solidFill>
                  <a:srgbClr val="000000"/>
                </a:solidFill>
                <a:latin typeface="Inter" pitchFamily="34" charset="0"/>
                <a:ea typeface="Inter" pitchFamily="34" charset="-122"/>
                <a:cs typeface="Inter" pitchFamily="34" charset="-120"/>
              </a:rPr>
              <a:t>°C/W, modeled using a 4-layer </a:t>
            </a:r>
            <a:r>
              <a:rPr lang="en-US" sz="850" dirty="0">
                <a:solidFill>
                  <a:srgbClr val="000000"/>
                </a:solidFill>
                <a:latin typeface="Inter" pitchFamily="34" charset="0"/>
                <a:ea typeface="Inter" pitchFamily="34" charset="-122"/>
                <a:cs typeface="Inter" pitchFamily="34" charset="-120"/>
              </a:rPr>
              <a:t>Foster network for accurate transient </a:t>
            </a:r>
            <a:r>
              <a:rPr lang="en-US" sz="850" dirty="0">
                <a:solidFill>
                  <a:srgbClr val="000000"/>
                </a:solidFill>
                <a:latin typeface="Inter" pitchFamily="34" charset="0"/>
                <a:ea typeface="Inter" pitchFamily="34" charset="-122"/>
                <a:cs typeface="Inter" pitchFamily="34" charset="-120"/>
              </a:rPr>
              <a:t>thermal analysis.</a:t>
            </a:r>
            <a:endParaRPr lang="en-US" sz="800" dirty="0"/>
          </a:p>
        </p:txBody>
      </p:sp>
      <p:pic>
        <p:nvPicPr>
          <p:cNvPr id="12" name="Image 1" descr="preencoded.png">    </p:cNvPr>
          <p:cNvPicPr>
            <a:picLocks noChangeAspect="1"/>
          </p:cNvPicPr>
          <p:nvPr/>
        </p:nvPicPr>
        <p:blipFill>
          <a:blip r:embed="rId2"/>
          <a:stretch>
            <a:fillRect/>
          </a:stretch>
        </p:blipFill>
        <p:spPr>
          <a:xfrm>
            <a:off x="2857500" y="1098352"/>
            <a:ext cx="5715000" cy="32575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11469291"/>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Vehicle Architecture Mapping</a:t>
            </a:r>
            <a:endParaRPr lang="en-US" sz="1800" dirty="0"/>
          </a:p>
        </p:txBody>
      </p:sp>
      <p:sp>
        <p:nvSpPr>
          <p:cNvPr id="7" name="Text 3"/>
          <p:cNvSpPr/>
          <p:nvPr/>
        </p:nvSpPr>
        <p:spPr>
          <a:xfrm>
            <a:off x="571500" y="1098352"/>
            <a:ext cx="655439" cy="1512689"/>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Drivetrain </a:t>
            </a:r>
            <a:r>
              <a:rPr lang="en-US" sz="850" dirty="0">
                <a:solidFill>
                  <a:srgbClr val="000000"/>
                </a:solidFill>
                <a:latin typeface="Inter" pitchFamily="34" charset="0"/>
                <a:ea typeface="Inter" pitchFamily="34" charset="-122"/>
                <a:cs typeface="Inter" pitchFamily="34" charset="-120"/>
              </a:rPr>
              <a:t>parameters </a:t>
            </a:r>
            <a:r>
              <a:rPr lang="en-US" sz="850" dirty="0">
                <a:solidFill>
                  <a:srgbClr val="000000"/>
                </a:solidFill>
                <a:latin typeface="Inter" pitchFamily="34" charset="0"/>
                <a:ea typeface="Inter" pitchFamily="34" charset="-122"/>
                <a:cs typeface="Inter" pitchFamily="34" charset="-120"/>
              </a:rPr>
              <a:t>dictate the </a:t>
            </a:r>
            <a:r>
              <a:rPr lang="en-US" sz="850" dirty="0">
                <a:solidFill>
                  <a:srgbClr val="000000"/>
                </a:solidFill>
                <a:latin typeface="Inter" pitchFamily="34" charset="0"/>
                <a:ea typeface="Inter" pitchFamily="34" charset="-122"/>
                <a:cs typeface="Inter" pitchFamily="34" charset="-120"/>
              </a:rPr>
              <a:t>operating </a:t>
            </a:r>
            <a:r>
              <a:rPr lang="en-US" sz="850" dirty="0">
                <a:solidFill>
                  <a:srgbClr val="000000"/>
                </a:solidFill>
                <a:latin typeface="Inter" pitchFamily="34" charset="0"/>
                <a:ea typeface="Inter" pitchFamily="34" charset="-122"/>
                <a:cs typeface="Inter" pitchFamily="34" charset="-120"/>
              </a:rPr>
              <a:t>points: </a:t>
            </a:r>
            <a:r>
              <a:rPr lang="en-US" sz="800" b="1" dirty="0">
                <a:solidFill>
                  <a:srgbClr val="000000"/>
                </a:solidFill>
                <a:latin typeface="Inter Bold" pitchFamily="34" charset="0"/>
                <a:ea typeface="Inter Bold" pitchFamily="34" charset="-122"/>
                <a:cs typeface="Inter Bold" pitchFamily="34" charset="-120"/>
              </a:rPr>
              <a:t>G = </a:t>
            </a:r>
            <a:r>
              <a:rPr lang="en-US" sz="800" b="1" dirty="0">
                <a:solidFill>
                  <a:srgbClr val="000000"/>
                </a:solidFill>
                <a:latin typeface="Inter Bold" pitchFamily="34" charset="0"/>
                <a:ea typeface="Inter Bold" pitchFamily="34" charset="-122"/>
                <a:cs typeface="Inter Bold" pitchFamily="34" charset="-120"/>
              </a:rPr>
              <a:t>8.19</a:t>
            </a:r>
            <a:r>
              <a:rPr lang="en-US" sz="850" dirty="0">
                <a:solidFill>
                  <a:srgbClr val="000000"/>
                </a:solidFill>
                <a:latin typeface="Inter" pitchFamily="34" charset="0"/>
                <a:ea typeface="Inter" pitchFamily="34" charset="-122"/>
                <a:cs typeface="Inter" pitchFamily="34" charset="-120"/>
              </a:rPr>
              <a:t> gear </a:t>
            </a:r>
            <a:r>
              <a:rPr lang="en-US" sz="850" dirty="0">
                <a:solidFill>
                  <a:srgbClr val="000000"/>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a:t>
            </a:r>
            <a:r>
              <a:rPr lang="en-US" sz="800" b="1" dirty="0">
                <a:solidFill>
                  <a:srgbClr val="000000"/>
                </a:solidFill>
                <a:latin typeface="Inter Bold" pitchFamily="34" charset="0"/>
                <a:ea typeface="Inter Bold" pitchFamily="34" charset="-122"/>
                <a:cs typeface="Inter Bold" pitchFamily="34" charset="-120"/>
              </a:rPr>
              <a:t>0.315m</a:t>
            </a:r>
            <a:r>
              <a:rPr lang="en-US" sz="850" dirty="0">
                <a:solidFill>
                  <a:srgbClr val="000000"/>
                </a:solidFill>
                <a:latin typeface="Inter" pitchFamily="34" charset="0"/>
                <a:ea typeface="Inter" pitchFamily="34" charset="-122"/>
                <a:cs typeface="Inter" pitchFamily="34" charset="-120"/>
              </a:rPr>
              <a:t> tyre </a:t>
            </a:r>
            <a:r>
              <a:rPr lang="en-US" sz="850" dirty="0">
                <a:solidFill>
                  <a:srgbClr val="000000"/>
                </a:solidFill>
                <a:latin typeface="Inter" pitchFamily="34" charset="0"/>
                <a:ea typeface="Inter" pitchFamily="34" charset="-122"/>
                <a:cs typeface="Inter" pitchFamily="34" charset="-120"/>
              </a:rPr>
              <a:t>radius, </a:t>
            </a:r>
            <a:r>
              <a:rPr lang="en-US" sz="800" b="1" dirty="0">
                <a:solidFill>
                  <a:srgbClr val="000000"/>
                </a:solidFill>
                <a:latin typeface="Inter Bold" pitchFamily="34" charset="0"/>
                <a:ea typeface="Inter Bold" pitchFamily="34" charset="-122"/>
                <a:cs typeface="Inter Bold" pitchFamily="34" charset="-120"/>
              </a:rPr>
              <a:t>p = </a:t>
            </a:r>
            <a:r>
              <a:rPr lang="en-US" sz="800" b="1" dirty="0">
                <a:solidFill>
                  <a:srgbClr val="000000"/>
                </a:solidFill>
                <a:latin typeface="Inter Bold" pitchFamily="34" charset="0"/>
                <a:ea typeface="Inter Bold" pitchFamily="34" charset="-122"/>
                <a:cs typeface="Inter Bold" pitchFamily="34" charset="-120"/>
              </a:rPr>
              <a:t>4</a:t>
            </a:r>
            <a:r>
              <a:rPr lang="en-US" sz="850" dirty="0">
                <a:solidFill>
                  <a:srgbClr val="000000"/>
                </a:solidFill>
                <a:latin typeface="Inter" pitchFamily="34" charset="0"/>
                <a:ea typeface="Inter" pitchFamily="34" charset="-122"/>
                <a:cs typeface="Inter" pitchFamily="34" charset="-120"/>
              </a:rPr>
              <a:t> pole </a:t>
            </a:r>
            <a:r>
              <a:rPr lang="en-US" sz="850" dirty="0">
                <a:solidFill>
                  <a:srgbClr val="000000"/>
                </a:solidFill>
                <a:latin typeface="Inter" pitchFamily="34" charset="0"/>
                <a:ea typeface="Inter" pitchFamily="34" charset="-122"/>
                <a:cs typeface="Inter" pitchFamily="34" charset="-120"/>
              </a:rPr>
              <a:t>pairs.</a:t>
            </a:r>
            <a:endParaRPr lang="en-US" sz="850" dirty="0"/>
          </a:p>
        </p:txBody>
      </p:sp>
      <p:sp>
        <p:nvSpPr>
          <p:cNvPr id="8" name="Text 4"/>
          <p:cNvSpPr/>
          <p:nvPr/>
        </p:nvSpPr>
        <p:spPr>
          <a:xfrm>
            <a:off x="571500" y="2611041"/>
            <a:ext cx="500063"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Electrical</a:t>
            </a:r>
            <a:endParaRPr lang="en-US" sz="850" dirty="0"/>
          </a:p>
        </p:txBody>
      </p:sp>
      <p:sp>
        <p:nvSpPr>
          <p:cNvPr id="9" name="Text 5"/>
          <p:cNvSpPr/>
          <p:nvPr/>
        </p:nvSpPr>
        <p:spPr>
          <a:xfrm>
            <a:off x="571500" y="2748558"/>
            <a:ext cx="550069"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frequency</a:t>
            </a:r>
            <a:endParaRPr lang="en-US" sz="850" dirty="0"/>
          </a:p>
        </p:txBody>
      </p:sp>
      <p:sp>
        <p:nvSpPr>
          <p:cNvPr id="10" name="Text 6"/>
          <p:cNvSpPr/>
          <p:nvPr/>
        </p:nvSpPr>
        <p:spPr>
          <a:xfrm>
            <a:off x="571500" y="2886075"/>
            <a:ext cx="307181"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(fe) is</a:t>
            </a:r>
            <a:endParaRPr lang="en-US" sz="850" dirty="0"/>
          </a:p>
        </p:txBody>
      </p:sp>
      <p:sp>
        <p:nvSpPr>
          <p:cNvPr id="11" name="Text 7"/>
          <p:cNvSpPr/>
          <p:nvPr/>
        </p:nvSpPr>
        <p:spPr>
          <a:xfrm>
            <a:off x="571500" y="3023592"/>
            <a:ext cx="401836"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directly</a:t>
            </a:r>
            <a:endParaRPr lang="en-US" sz="850" dirty="0"/>
          </a:p>
        </p:txBody>
      </p:sp>
      <p:sp>
        <p:nvSpPr>
          <p:cNvPr id="12" name="Text 8"/>
          <p:cNvSpPr/>
          <p:nvPr/>
        </p:nvSpPr>
        <p:spPr>
          <a:xfrm>
            <a:off x="571500" y="3161109"/>
            <a:ext cx="655439"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proportional</a:t>
            </a:r>
            <a:endParaRPr lang="en-US" sz="850" dirty="0"/>
          </a:p>
        </p:txBody>
      </p:sp>
      <p:sp>
        <p:nvSpPr>
          <p:cNvPr id="13" name="Text 9"/>
          <p:cNvSpPr/>
          <p:nvPr/>
        </p:nvSpPr>
        <p:spPr>
          <a:xfrm>
            <a:off x="571500" y="3298627"/>
            <a:ext cx="521494"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to vehicle</a:t>
            </a:r>
            <a:endParaRPr lang="en-US" sz="850" dirty="0"/>
          </a:p>
        </p:txBody>
      </p:sp>
      <p:sp>
        <p:nvSpPr>
          <p:cNvPr id="14" name="Text 10"/>
          <p:cNvSpPr/>
          <p:nvPr/>
        </p:nvSpPr>
        <p:spPr>
          <a:xfrm>
            <a:off x="571500" y="3436144"/>
            <a:ext cx="542925"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speed (v):</a:t>
            </a:r>
            <a:endParaRPr lang="en-US" sz="850" dirty="0"/>
          </a:p>
        </p:txBody>
      </p:sp>
      <p:sp>
        <p:nvSpPr>
          <p:cNvPr id="15" name="Text 11"/>
          <p:cNvSpPr/>
          <p:nvPr/>
        </p:nvSpPr>
        <p:spPr>
          <a:xfrm>
            <a:off x="571500" y="3573661"/>
            <a:ext cx="655439" cy="275034"/>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fe = (v/r) × (G/2π) × p</a:t>
            </a:r>
            <a:endParaRPr lang="en-US" sz="850" dirty="0"/>
          </a:p>
        </p:txBody>
      </p:sp>
      <p:sp>
        <p:nvSpPr>
          <p:cNvPr id="16" name="Text 12"/>
          <p:cNvSpPr/>
          <p:nvPr/>
        </p:nvSpPr>
        <p:spPr>
          <a:xfrm>
            <a:off x="571500" y="3848695"/>
            <a:ext cx="655439" cy="1375172"/>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Using an RL </a:t>
            </a:r>
            <a:r>
              <a:rPr lang="en-US" sz="850" dirty="0">
                <a:solidFill>
                  <a:srgbClr val="000000"/>
                </a:solidFill>
                <a:latin typeface="Inter" pitchFamily="34" charset="0"/>
                <a:ea typeface="Inter" pitchFamily="34" charset="-122"/>
                <a:cs typeface="Inter" pitchFamily="34" charset="-120"/>
              </a:rPr>
              <a:t>load model </a:t>
            </a:r>
            <a:r>
              <a:rPr lang="en-US" sz="850" dirty="0">
                <a:solidFill>
                  <a:srgbClr val="000000"/>
                </a:solidFill>
                <a:latin typeface="Inter" pitchFamily="34" charset="0"/>
                <a:ea typeface="Inter" pitchFamily="34" charset="-122"/>
                <a:cs typeface="Inter" pitchFamily="34" charset="-120"/>
              </a:rPr>
              <a:t>(R = 1.3Ω, L </a:t>
            </a:r>
            <a:r>
              <a:rPr lang="en-US" sz="850" dirty="0">
                <a:solidFill>
                  <a:srgbClr val="000000"/>
                </a:solidFill>
                <a:latin typeface="Inter" pitchFamily="34" charset="0"/>
                <a:ea typeface="Inter" pitchFamily="34" charset="-122"/>
                <a:cs typeface="Inter" pitchFamily="34" charset="-120"/>
              </a:rPr>
              <a:t>= 2mH), </a:t>
            </a:r>
            <a:r>
              <a:rPr lang="en-US" sz="800" b="1" dirty="0">
                <a:solidFill>
                  <a:srgbClr val="000000"/>
                </a:solidFill>
                <a:latin typeface="Inter Bold" pitchFamily="34" charset="0"/>
                <a:ea typeface="Inter Bold" pitchFamily="34" charset="-122"/>
                <a:cs typeface="Inter Bold" pitchFamily="34" charset="-120"/>
              </a:rPr>
              <a:t>current </a:t>
            </a:r>
            <a:r>
              <a:rPr lang="en-US" sz="800" b="1" dirty="0">
                <a:solidFill>
                  <a:srgbClr val="000000"/>
                </a:solidFill>
                <a:latin typeface="Inter Bold" pitchFamily="34" charset="0"/>
                <a:ea typeface="Inter Bold" pitchFamily="34" charset="-122"/>
                <a:cs typeface="Inter Bold" pitchFamily="34" charset="-120"/>
              </a:rPr>
              <a:t>decreases </a:t>
            </a:r>
            <a:r>
              <a:rPr lang="en-US" sz="800" b="1" dirty="0">
                <a:solidFill>
                  <a:srgbClr val="000000"/>
                </a:solidFill>
                <a:latin typeface="Inter Bold" pitchFamily="34" charset="0"/>
                <a:ea typeface="Inter Bold" pitchFamily="34" charset="-122"/>
                <a:cs typeface="Inter Bold" pitchFamily="34" charset="-120"/>
              </a:rPr>
              <a:t>with speed</a:t>
            </a:r>
            <a:r>
              <a:rPr lang="en-US" sz="850" dirty="0">
                <a:solidFill>
                  <a:srgbClr val="000000"/>
                </a:solidFill>
                <a:latin typeface="Inter" pitchFamily="34" charset="0"/>
                <a:ea typeface="Inter" pitchFamily="34" charset="-122"/>
                <a:cs typeface="Inter" pitchFamily="34" charset="-120"/>
              </a:rPr>
              <a:t> as load </a:t>
            </a:r>
            <a:r>
              <a:rPr lang="en-US" sz="850" dirty="0">
                <a:solidFill>
                  <a:srgbClr val="000000"/>
                </a:solidFill>
                <a:latin typeface="Inter" pitchFamily="34" charset="0"/>
                <a:ea typeface="Inter" pitchFamily="34" charset="-122"/>
                <a:cs typeface="Inter" pitchFamily="34" charset="-120"/>
              </a:rPr>
              <a:t>impedance </a:t>
            </a:r>
            <a:r>
              <a:rPr lang="en-US" sz="850" dirty="0">
                <a:solidFill>
                  <a:srgbClr val="000000"/>
                </a:solidFill>
                <a:latin typeface="Inter" pitchFamily="34" charset="0"/>
                <a:ea typeface="Inter" pitchFamily="34" charset="-122"/>
                <a:cs typeface="Inter" pitchFamily="34" charset="-120"/>
              </a:rPr>
              <a:t>increases.</a:t>
            </a:r>
            <a:endParaRPr lang="en-US" sz="850" dirty="0"/>
          </a:p>
        </p:txBody>
      </p:sp>
      <p:sp>
        <p:nvSpPr>
          <p:cNvPr id="17" name="Text 13"/>
          <p:cNvSpPr/>
          <p:nvPr/>
        </p:nvSpPr>
        <p:spPr>
          <a:xfrm>
            <a:off x="571500" y="5223867"/>
            <a:ext cx="655439" cy="962620"/>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Urban (40 </a:t>
            </a:r>
            <a:r>
              <a:rPr lang="en-US" sz="800" b="1" dirty="0">
                <a:solidFill>
                  <a:srgbClr val="000000"/>
                </a:solidFill>
                <a:latin typeface="Inter Bold" pitchFamily="34" charset="0"/>
                <a:ea typeface="Inter Bold" pitchFamily="34" charset="-122"/>
                <a:cs typeface="Inter Bold" pitchFamily="34" charset="-120"/>
              </a:rPr>
              <a:t>km/h):</a:t>
            </a:r>
            <a:r>
              <a:rPr lang="en-US" sz="850" dirty="0">
                <a:solidFill>
                  <a:srgbClr val="000000"/>
                </a:solidFill>
                <a:latin typeface="Inter" pitchFamily="34" charset="0"/>
                <a:ea typeface="Inter" pitchFamily="34" charset="-122"/>
                <a:cs typeface="Inter" pitchFamily="34" charset="-120"/>
              </a:rPr>
              <a:t> fe = </a:t>
            </a:r>
            <a:r>
              <a:rPr lang="en-US" sz="850" dirty="0">
                <a:solidFill>
                  <a:srgbClr val="000000"/>
                </a:solidFill>
                <a:latin typeface="Inter" pitchFamily="34" charset="0"/>
                <a:ea typeface="Inter" pitchFamily="34" charset="-122"/>
                <a:cs typeface="Inter" pitchFamily="34" charset="-120"/>
              </a:rPr>
              <a:t>184 Hz, Ipk </a:t>
            </a:r>
            <a:r>
              <a:rPr lang="en-US" sz="850" dirty="0">
                <a:solidFill>
                  <a:srgbClr val="000000"/>
                </a:solidFill>
                <a:latin typeface="Inter" pitchFamily="34" charset="0"/>
                <a:ea typeface="Inter" pitchFamily="34" charset="-122"/>
                <a:cs typeface="Inter" pitchFamily="34" charset="-120"/>
              </a:rPr>
              <a:t>= 136A — </a:t>
            </a:r>
            <a:r>
              <a:rPr lang="en-US" sz="850" dirty="0">
                <a:solidFill>
                  <a:srgbClr val="000000"/>
                </a:solidFill>
                <a:latin typeface="Inter" pitchFamily="34" charset="0"/>
                <a:ea typeface="Inter" pitchFamily="34" charset="-122"/>
                <a:cs typeface="Inter" pitchFamily="34" charset="-120"/>
              </a:rPr>
              <a:t>highest </a:t>
            </a:r>
            <a:r>
              <a:rPr lang="en-US" sz="850" dirty="0">
                <a:solidFill>
                  <a:srgbClr val="000000"/>
                </a:solidFill>
                <a:latin typeface="Inter" pitchFamily="34" charset="0"/>
                <a:ea typeface="Inter" pitchFamily="34" charset="-122"/>
                <a:cs typeface="Inter" pitchFamily="34" charset="-120"/>
              </a:rPr>
              <a:t>thermal </a:t>
            </a:r>
            <a:r>
              <a:rPr lang="en-US" sz="850" dirty="0">
                <a:solidFill>
                  <a:srgbClr val="000000"/>
                </a:solidFill>
                <a:latin typeface="Inter" pitchFamily="34" charset="0"/>
                <a:ea typeface="Inter" pitchFamily="34" charset="-122"/>
                <a:cs typeface="Inter" pitchFamily="34" charset="-120"/>
              </a:rPr>
              <a:t>stress.</a:t>
            </a:r>
            <a:endParaRPr lang="en-US" sz="800" dirty="0"/>
          </a:p>
        </p:txBody>
      </p:sp>
      <p:sp>
        <p:nvSpPr>
          <p:cNvPr id="18" name="Text 14"/>
          <p:cNvSpPr/>
          <p:nvPr/>
        </p:nvSpPr>
        <p:spPr>
          <a:xfrm>
            <a:off x="571500" y="6186488"/>
            <a:ext cx="655439" cy="1237655"/>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Highway </a:t>
            </a:r>
            <a:r>
              <a:rPr lang="en-US" sz="800" b="1" dirty="0">
                <a:solidFill>
                  <a:srgbClr val="000000"/>
                </a:solidFill>
                <a:latin typeface="Inter Bold" pitchFamily="34" charset="0"/>
                <a:ea typeface="Inter Bold" pitchFamily="34" charset="-122"/>
                <a:cs typeface="Inter Bold" pitchFamily="34" charset="-120"/>
              </a:rPr>
              <a:t>(120 km/h):</a:t>
            </a:r>
            <a:r>
              <a:rPr lang="en-US" sz="850" dirty="0">
                <a:solidFill>
                  <a:srgbClr val="000000"/>
                </a:solidFill>
                <a:latin typeface="Inter" pitchFamily="34" charset="0"/>
                <a:ea typeface="Inter" pitchFamily="34" charset="-122"/>
                <a:cs typeface="Inter" pitchFamily="34" charset="-120"/>
              </a:rPr>
              <a:t> fe = 552 </a:t>
            </a:r>
            <a:r>
              <a:rPr lang="en-US" sz="850" dirty="0">
                <a:solidFill>
                  <a:srgbClr val="000000"/>
                </a:solidFill>
                <a:latin typeface="Inter" pitchFamily="34" charset="0"/>
                <a:ea typeface="Inter" pitchFamily="34" charset="-122"/>
                <a:cs typeface="Inter" pitchFamily="34" charset="-120"/>
              </a:rPr>
              <a:t>Hz, Ipk = </a:t>
            </a:r>
            <a:r>
              <a:rPr lang="en-US" sz="850" dirty="0">
                <a:solidFill>
                  <a:srgbClr val="000000"/>
                </a:solidFill>
                <a:latin typeface="Inter" pitchFamily="34" charset="0"/>
                <a:ea typeface="Inter" pitchFamily="34" charset="-122"/>
                <a:cs typeface="Inter" pitchFamily="34" charset="-120"/>
              </a:rPr>
              <a:t>51A — </a:t>
            </a:r>
            <a:r>
              <a:rPr lang="en-US" sz="850" dirty="0">
                <a:solidFill>
                  <a:srgbClr val="000000"/>
                </a:solidFill>
                <a:latin typeface="Inter" pitchFamily="34" charset="0"/>
                <a:ea typeface="Inter" pitchFamily="34" charset="-122"/>
                <a:cs typeface="Inter" pitchFamily="34" charset="-120"/>
              </a:rPr>
              <a:t>lowest loss </a:t>
            </a:r>
            <a:r>
              <a:rPr lang="en-US" sz="850" dirty="0">
                <a:solidFill>
                  <a:srgbClr val="000000"/>
                </a:solidFill>
                <a:latin typeface="Inter" pitchFamily="34" charset="0"/>
                <a:ea typeface="Inter" pitchFamily="34" charset="-122"/>
                <a:cs typeface="Inter" pitchFamily="34" charset="-120"/>
              </a:rPr>
              <a:t>but highest </a:t>
            </a:r>
            <a:r>
              <a:rPr lang="en-US" sz="850" dirty="0">
                <a:solidFill>
                  <a:srgbClr val="000000"/>
                </a:solidFill>
                <a:latin typeface="Inter" pitchFamily="34" charset="0"/>
                <a:ea typeface="Inter" pitchFamily="34" charset="-122"/>
                <a:cs typeface="Inter" pitchFamily="34" charset="-120"/>
              </a:rPr>
              <a:t>frequency </a:t>
            </a:r>
            <a:r>
              <a:rPr lang="en-US" sz="850" dirty="0">
                <a:solidFill>
                  <a:srgbClr val="000000"/>
                </a:solidFill>
                <a:latin typeface="Inter" pitchFamily="34" charset="0"/>
                <a:ea typeface="Inter" pitchFamily="34" charset="-122"/>
                <a:cs typeface="Inter" pitchFamily="34" charset="-120"/>
              </a:rPr>
              <a:t>demand.</a:t>
            </a:r>
            <a:endParaRPr lang="en-US" sz="800" dirty="0"/>
          </a:p>
        </p:txBody>
      </p:sp>
      <p:pic>
        <p:nvPicPr>
          <p:cNvPr id="19" name="Image 1" descr="preencoded.png">    </p:cNvPr>
          <p:cNvPicPr>
            <a:picLocks noChangeAspect="1"/>
          </p:cNvPicPr>
          <p:nvPr/>
        </p:nvPicPr>
        <p:blipFill>
          <a:blip r:embed="rId2"/>
          <a:stretch>
            <a:fillRect/>
          </a:stretch>
        </p:blipFill>
        <p:spPr>
          <a:xfrm>
            <a:off x="1512689" y="1098352"/>
            <a:ext cx="9901238" cy="990123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9654778"/>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Switching Loss Analysis</a:t>
            </a:r>
            <a:endParaRPr lang="en-US" sz="1800" dirty="0"/>
          </a:p>
        </p:txBody>
      </p:sp>
      <p:sp>
        <p:nvSpPr>
          <p:cNvPr id="7" name="Text 3"/>
          <p:cNvSpPr/>
          <p:nvPr/>
        </p:nvSpPr>
        <p:spPr>
          <a:xfrm>
            <a:off x="571500" y="1098352"/>
            <a:ext cx="517922"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Graovac-</a:t>
            </a:r>
            <a:endParaRPr lang="en-US" sz="800" dirty="0"/>
          </a:p>
        </p:txBody>
      </p:sp>
      <p:sp>
        <p:nvSpPr>
          <p:cNvPr id="8" name="Text 4"/>
          <p:cNvSpPr/>
          <p:nvPr/>
        </p:nvSpPr>
        <p:spPr>
          <a:xfrm>
            <a:off x="571500" y="1235869"/>
            <a:ext cx="492919"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Purschel</a:t>
            </a:r>
            <a:endParaRPr lang="en-US" sz="800" dirty="0"/>
          </a:p>
        </p:txBody>
      </p:sp>
      <p:sp>
        <p:nvSpPr>
          <p:cNvPr id="9" name="Text 5"/>
          <p:cNvSpPr/>
          <p:nvPr/>
        </p:nvSpPr>
        <p:spPr>
          <a:xfrm>
            <a:off x="571500" y="1373386"/>
            <a:ext cx="544711"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analytical</a:t>
            </a:r>
            <a:endParaRPr lang="en-US" sz="800" dirty="0"/>
          </a:p>
        </p:txBody>
      </p:sp>
      <p:sp>
        <p:nvSpPr>
          <p:cNvPr id="10" name="Text 6"/>
          <p:cNvSpPr/>
          <p:nvPr/>
        </p:nvSpPr>
        <p:spPr>
          <a:xfrm>
            <a:off x="571500" y="1510903"/>
            <a:ext cx="425053" cy="137517"/>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method</a:t>
            </a:r>
            <a:endParaRPr lang="en-US" sz="800" dirty="0"/>
          </a:p>
        </p:txBody>
      </p:sp>
      <p:sp>
        <p:nvSpPr>
          <p:cNvPr id="11" name="Text 7"/>
          <p:cNvSpPr/>
          <p:nvPr/>
        </p:nvSpPr>
        <p:spPr>
          <a:xfrm>
            <a:off x="996553" y="1510903"/>
            <a:ext cx="296466"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used</a:t>
            </a:r>
            <a:endParaRPr lang="en-US" sz="850" dirty="0"/>
          </a:p>
        </p:txBody>
      </p:sp>
      <p:sp>
        <p:nvSpPr>
          <p:cNvPr id="12" name="Text 8"/>
          <p:cNvSpPr/>
          <p:nvPr/>
        </p:nvSpPr>
        <p:spPr>
          <a:xfrm>
            <a:off x="571500" y="1648420"/>
            <a:ext cx="400050"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for loss</a:t>
            </a:r>
            <a:endParaRPr lang="en-US" sz="850" dirty="0"/>
          </a:p>
        </p:txBody>
      </p:sp>
      <p:sp>
        <p:nvSpPr>
          <p:cNvPr id="13" name="Text 9"/>
          <p:cNvSpPr/>
          <p:nvPr/>
        </p:nvSpPr>
        <p:spPr>
          <a:xfrm>
            <a:off x="571500" y="1785938"/>
            <a:ext cx="621506" cy="137517"/>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calculation:</a:t>
            </a:r>
            <a:endParaRPr lang="en-US" sz="850" dirty="0"/>
          </a:p>
        </p:txBody>
      </p:sp>
      <p:sp>
        <p:nvSpPr>
          <p:cNvPr id="14" name="Text 10"/>
          <p:cNvSpPr/>
          <p:nvPr/>
        </p:nvSpPr>
        <p:spPr>
          <a:xfrm>
            <a:off x="571500" y="1923455"/>
            <a:ext cx="766167" cy="687586"/>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Psw = Nc × (fsw/π) × Esw_ref × (Ipk/Iref) × (Vdc_sw/Vref)</a:t>
            </a:r>
            <a:endParaRPr lang="en-US" sz="850" dirty="0"/>
          </a:p>
        </p:txBody>
      </p:sp>
      <p:sp>
        <p:nvSpPr>
          <p:cNvPr id="15" name="Text 11"/>
          <p:cNvSpPr/>
          <p:nvPr/>
        </p:nvSpPr>
        <p:spPr>
          <a:xfrm>
            <a:off x="571500" y="2611041"/>
            <a:ext cx="766167" cy="1925241"/>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Urban driving </a:t>
            </a:r>
            <a:r>
              <a:rPr lang="en-US" sz="800" b="1" dirty="0">
                <a:solidFill>
                  <a:srgbClr val="000000"/>
                </a:solidFill>
                <a:latin typeface="Inter Bold" pitchFamily="34" charset="0"/>
                <a:ea typeface="Inter Bold" pitchFamily="34" charset="-122"/>
                <a:cs typeface="Inter Bold" pitchFamily="34" charset="-120"/>
              </a:rPr>
              <a:t>at 20 kHz:</a:t>
            </a:r>
            <a:r>
              <a:rPr lang="en-US" sz="850" dirty="0">
                <a:solidFill>
                  <a:srgbClr val="000000"/>
                </a:solidFill>
                <a:latin typeface="Inter" pitchFamily="34" charset="0"/>
                <a:ea typeface="Inter" pitchFamily="34" charset="-122"/>
                <a:cs typeface="Inter" pitchFamily="34" charset="-120"/>
              </a:rPr>
              <a:t> P_sw = 84.3 </a:t>
            </a:r>
            <a:r>
              <a:rPr lang="en-US" sz="850" dirty="0">
                <a:solidFill>
                  <a:srgbClr val="000000"/>
                </a:solidFill>
                <a:latin typeface="Inter" pitchFamily="34" charset="0"/>
                <a:ea typeface="Inter" pitchFamily="34" charset="-122"/>
                <a:cs typeface="Inter" pitchFamily="34" charset="-120"/>
              </a:rPr>
              <a:t>W/phase vs </a:t>
            </a:r>
            <a:r>
              <a:rPr lang="en-US" sz="850" dirty="0">
                <a:solidFill>
                  <a:srgbClr val="000000"/>
                </a:solidFill>
                <a:latin typeface="Inter" pitchFamily="34" charset="0"/>
                <a:ea typeface="Inter" pitchFamily="34" charset="-122"/>
                <a:cs typeface="Inter" pitchFamily="34" charset="-120"/>
              </a:rPr>
              <a:t>P_cond = 51.5 </a:t>
            </a:r>
            <a:r>
              <a:rPr lang="en-US" sz="850" dirty="0">
                <a:solidFill>
                  <a:srgbClr val="000000"/>
                </a:solidFill>
                <a:latin typeface="Inter" pitchFamily="34" charset="0"/>
                <a:ea typeface="Inter" pitchFamily="34" charset="-122"/>
                <a:cs typeface="Inter" pitchFamily="34" charset="-120"/>
              </a:rPr>
              <a:t>W/phase. </a:t>
            </a:r>
            <a:r>
              <a:rPr lang="en-US" sz="850" dirty="0">
                <a:solidFill>
                  <a:srgbClr val="000000"/>
                </a:solidFill>
                <a:latin typeface="Inter" pitchFamily="34" charset="0"/>
                <a:ea typeface="Inter" pitchFamily="34" charset="-122"/>
                <a:cs typeface="Inter" pitchFamily="34" charset="-120"/>
              </a:rPr>
              <a:t>Switching </a:t>
            </a:r>
            <a:r>
              <a:rPr lang="en-US" sz="850" dirty="0">
                <a:solidFill>
                  <a:srgbClr val="000000"/>
                </a:solidFill>
                <a:latin typeface="Inter" pitchFamily="34" charset="0"/>
                <a:ea typeface="Inter" pitchFamily="34" charset="-122"/>
                <a:cs typeface="Inter" pitchFamily="34" charset="-120"/>
              </a:rPr>
              <a:t>losses heavily </a:t>
            </a:r>
            <a:r>
              <a:rPr lang="en-US" sz="850" dirty="0">
                <a:solidFill>
                  <a:srgbClr val="000000"/>
                </a:solidFill>
                <a:latin typeface="Inter" pitchFamily="34" charset="0"/>
                <a:ea typeface="Inter" pitchFamily="34" charset="-122"/>
                <a:cs typeface="Inter" pitchFamily="34" charset="-120"/>
              </a:rPr>
              <a:t>dominate </a:t>
            </a:r>
            <a:r>
              <a:rPr lang="en-US" sz="850" dirty="0">
                <a:solidFill>
                  <a:srgbClr val="000000"/>
                </a:solidFill>
                <a:latin typeface="Inter" pitchFamily="34" charset="0"/>
                <a:ea typeface="Inter" pitchFamily="34" charset="-122"/>
                <a:cs typeface="Inter" pitchFamily="34" charset="-120"/>
              </a:rPr>
              <a:t>(63% of total) </a:t>
            </a:r>
            <a:r>
              <a:rPr lang="en-US" sz="850" dirty="0">
                <a:solidFill>
                  <a:srgbClr val="000000"/>
                </a:solidFill>
                <a:latin typeface="Inter" pitchFamily="34" charset="0"/>
                <a:ea typeface="Inter" pitchFamily="34" charset="-122"/>
                <a:cs typeface="Inter" pitchFamily="34" charset="-120"/>
              </a:rPr>
              <a:t>due to high </a:t>
            </a:r>
            <a:r>
              <a:rPr lang="en-US" sz="850" dirty="0">
                <a:solidFill>
                  <a:srgbClr val="000000"/>
                </a:solidFill>
                <a:latin typeface="Inter" pitchFamily="34" charset="0"/>
                <a:ea typeface="Inter" pitchFamily="34" charset="-122"/>
                <a:cs typeface="Inter" pitchFamily="34" charset="-120"/>
              </a:rPr>
              <a:t>phase </a:t>
            </a:r>
            <a:r>
              <a:rPr lang="en-US" sz="850" dirty="0">
                <a:solidFill>
                  <a:srgbClr val="000000"/>
                </a:solidFill>
                <a:latin typeface="Inter" pitchFamily="34" charset="0"/>
                <a:ea typeface="Inter" pitchFamily="34" charset="-122"/>
                <a:cs typeface="Inter" pitchFamily="34" charset="-120"/>
              </a:rPr>
              <a:t>currents </a:t>
            </a:r>
            <a:r>
              <a:rPr lang="en-US" sz="850" dirty="0">
                <a:solidFill>
                  <a:srgbClr val="000000"/>
                </a:solidFill>
                <a:latin typeface="Inter" pitchFamily="34" charset="0"/>
                <a:ea typeface="Inter" pitchFamily="34" charset="-122"/>
                <a:cs typeface="Inter" pitchFamily="34" charset="-120"/>
              </a:rPr>
              <a:t>(136A).</a:t>
            </a:r>
            <a:endParaRPr lang="en-US" sz="800" dirty="0"/>
          </a:p>
        </p:txBody>
      </p:sp>
      <p:sp>
        <p:nvSpPr>
          <p:cNvPr id="16" name="Text 12"/>
          <p:cNvSpPr/>
          <p:nvPr/>
        </p:nvSpPr>
        <p:spPr>
          <a:xfrm>
            <a:off x="571500" y="4536281"/>
            <a:ext cx="766167" cy="1512689"/>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Highway </a:t>
            </a:r>
            <a:r>
              <a:rPr lang="en-US" sz="800" b="1" dirty="0">
                <a:solidFill>
                  <a:srgbClr val="000000"/>
                </a:solidFill>
                <a:latin typeface="Inter Bold" pitchFamily="34" charset="0"/>
                <a:ea typeface="Inter Bold" pitchFamily="34" charset="-122"/>
                <a:cs typeface="Inter Bold" pitchFamily="34" charset="-120"/>
              </a:rPr>
              <a:t>driving at 20 </a:t>
            </a:r>
            <a:r>
              <a:rPr lang="en-US" sz="800" b="1" dirty="0">
                <a:solidFill>
                  <a:srgbClr val="000000"/>
                </a:solidFill>
                <a:latin typeface="Inter Bold" pitchFamily="34" charset="0"/>
                <a:ea typeface="Inter Bold" pitchFamily="34" charset="-122"/>
                <a:cs typeface="Inter Bold" pitchFamily="34" charset="-120"/>
              </a:rPr>
              <a:t>kHz:</a:t>
            </a:r>
            <a:r>
              <a:rPr lang="en-US" sz="850" dirty="0">
                <a:solidFill>
                  <a:srgbClr val="000000"/>
                </a:solidFill>
                <a:latin typeface="Inter" pitchFamily="34" charset="0"/>
                <a:ea typeface="Inter" pitchFamily="34" charset="-122"/>
                <a:cs typeface="Inter" pitchFamily="34" charset="-120"/>
              </a:rPr>
              <a:t> P_sw = </a:t>
            </a:r>
            <a:r>
              <a:rPr lang="en-US" sz="850" dirty="0">
                <a:solidFill>
                  <a:srgbClr val="000000"/>
                </a:solidFill>
                <a:latin typeface="Inter" pitchFamily="34" charset="0"/>
                <a:ea typeface="Inter" pitchFamily="34" charset="-122"/>
                <a:cs typeface="Inter" pitchFamily="34" charset="-120"/>
              </a:rPr>
              <a:t>31.7 W/phase </a:t>
            </a:r>
            <a:r>
              <a:rPr lang="en-US" sz="850" dirty="0">
                <a:solidFill>
                  <a:srgbClr val="000000"/>
                </a:solidFill>
                <a:latin typeface="Inter" pitchFamily="34" charset="0"/>
                <a:ea typeface="Inter" pitchFamily="34" charset="-122"/>
                <a:cs typeface="Inter" pitchFamily="34" charset="-120"/>
              </a:rPr>
              <a:t>vs P_cond = </a:t>
            </a:r>
            <a:r>
              <a:rPr lang="en-US" sz="850" dirty="0">
                <a:solidFill>
                  <a:srgbClr val="000000"/>
                </a:solidFill>
                <a:latin typeface="Inter" pitchFamily="34" charset="0"/>
                <a:ea typeface="Inter" pitchFamily="34" charset="-122"/>
                <a:cs typeface="Inter" pitchFamily="34" charset="-120"/>
              </a:rPr>
              <a:t>5.6 W/phase. </a:t>
            </a:r>
            <a:r>
              <a:rPr lang="en-US" sz="850" dirty="0">
                <a:solidFill>
                  <a:srgbClr val="000000"/>
                </a:solidFill>
                <a:latin typeface="Inter" pitchFamily="34" charset="0"/>
                <a:ea typeface="Inter" pitchFamily="34" charset="-122"/>
                <a:cs typeface="Inter" pitchFamily="34" charset="-120"/>
              </a:rPr>
              <a:t>Both losses </a:t>
            </a:r>
            <a:r>
              <a:rPr lang="en-US" sz="850" dirty="0">
                <a:solidFill>
                  <a:srgbClr val="000000"/>
                </a:solidFill>
                <a:latin typeface="Inter" pitchFamily="34" charset="0"/>
                <a:ea typeface="Inter" pitchFamily="34" charset="-122"/>
                <a:cs typeface="Inter" pitchFamily="34" charset="-120"/>
              </a:rPr>
              <a:t>are relatively </a:t>
            </a:r>
            <a:r>
              <a:rPr lang="en-US" sz="850" dirty="0">
                <a:solidFill>
                  <a:srgbClr val="000000"/>
                </a:solidFill>
                <a:latin typeface="Inter" pitchFamily="34" charset="0"/>
                <a:ea typeface="Inter" pitchFamily="34" charset="-122"/>
                <a:cs typeface="Inter" pitchFamily="34" charset="-120"/>
              </a:rPr>
              <a:t>low due to </a:t>
            </a:r>
            <a:r>
              <a:rPr lang="en-US" sz="850" dirty="0">
                <a:solidFill>
                  <a:srgbClr val="000000"/>
                </a:solidFill>
                <a:latin typeface="Inter" pitchFamily="34" charset="0"/>
                <a:ea typeface="Inter" pitchFamily="34" charset="-122"/>
                <a:cs typeface="Inter" pitchFamily="34" charset="-120"/>
              </a:rPr>
              <a:t>reduced </a:t>
            </a:r>
            <a:r>
              <a:rPr lang="en-US" sz="850" dirty="0">
                <a:solidFill>
                  <a:srgbClr val="000000"/>
                </a:solidFill>
                <a:latin typeface="Inter" pitchFamily="34" charset="0"/>
                <a:ea typeface="Inter" pitchFamily="34" charset="-122"/>
                <a:cs typeface="Inter" pitchFamily="34" charset="-120"/>
              </a:rPr>
              <a:t>current (51A).</a:t>
            </a:r>
            <a:endParaRPr lang="en-US" sz="800" dirty="0"/>
          </a:p>
        </p:txBody>
      </p:sp>
      <p:sp>
        <p:nvSpPr>
          <p:cNvPr id="17" name="Text 13"/>
          <p:cNvSpPr/>
          <p:nvPr/>
        </p:nvSpPr>
        <p:spPr>
          <a:xfrm>
            <a:off x="571500" y="6048970"/>
            <a:ext cx="766167" cy="1512689"/>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000000"/>
                </a:solidFill>
                <a:latin typeface="Inter" pitchFamily="34" charset="0"/>
                <a:ea typeface="Inter" pitchFamily="34" charset="-122"/>
                <a:cs typeface="Inter" pitchFamily="34" charset="-120"/>
              </a:rPr>
              <a:t> Operating at </a:t>
            </a:r>
            <a:r>
              <a:rPr lang="en-US" sz="850" dirty="0">
                <a:solidFill>
                  <a:srgbClr val="000000"/>
                </a:solidFill>
                <a:latin typeface="Inter" pitchFamily="34" charset="0"/>
                <a:ea typeface="Inter" pitchFamily="34" charset="-122"/>
                <a:cs typeface="Inter" pitchFamily="34" charset="-120"/>
              </a:rPr>
              <a:t>20 kHz is </a:t>
            </a:r>
            <a:r>
              <a:rPr lang="en-US" sz="850" dirty="0">
                <a:solidFill>
                  <a:srgbClr val="000000"/>
                </a:solidFill>
                <a:latin typeface="Inter" pitchFamily="34" charset="0"/>
                <a:ea typeface="Inter" pitchFamily="34" charset="-122"/>
                <a:cs typeface="Inter" pitchFamily="34" charset="-120"/>
              </a:rPr>
              <a:t>unnecessary </a:t>
            </a:r>
            <a:r>
              <a:rPr lang="en-US" sz="850" dirty="0">
                <a:solidFill>
                  <a:srgbClr val="000000"/>
                </a:solidFill>
                <a:latin typeface="Inter" pitchFamily="34" charset="0"/>
                <a:ea typeface="Inter" pitchFamily="34" charset="-122"/>
                <a:cs typeface="Inter" pitchFamily="34" charset="-120"/>
              </a:rPr>
              <a:t>at 40 km/h </a:t>
            </a:r>
            <a:r>
              <a:rPr lang="en-US" sz="850" dirty="0">
                <a:solidFill>
                  <a:srgbClr val="000000"/>
                </a:solidFill>
                <a:latin typeface="Inter" pitchFamily="34" charset="0"/>
                <a:ea typeface="Inter" pitchFamily="34" charset="-122"/>
                <a:cs typeface="Inter" pitchFamily="34" charset="-120"/>
              </a:rPr>
              <a:t>where the </a:t>
            </a:r>
            <a:r>
              <a:rPr lang="en-US" sz="850" dirty="0">
                <a:solidFill>
                  <a:srgbClr val="000000"/>
                </a:solidFill>
                <a:latin typeface="Inter" pitchFamily="34" charset="0"/>
                <a:ea typeface="Inter" pitchFamily="34" charset="-122"/>
                <a:cs typeface="Inter" pitchFamily="34" charset="-120"/>
              </a:rPr>
              <a:t>fundamental </a:t>
            </a:r>
            <a:r>
              <a:rPr lang="en-US" sz="850" dirty="0">
                <a:solidFill>
                  <a:srgbClr val="000000"/>
                </a:solidFill>
                <a:latin typeface="Inter" pitchFamily="34" charset="0"/>
                <a:ea typeface="Inter" pitchFamily="34" charset="-122"/>
                <a:cs typeface="Inter" pitchFamily="34" charset="-120"/>
              </a:rPr>
              <a:t>electrical </a:t>
            </a:r>
            <a:r>
              <a:rPr lang="en-US" sz="850" dirty="0">
                <a:solidFill>
                  <a:srgbClr val="000000"/>
                </a:solidFill>
                <a:latin typeface="Inter" pitchFamily="34" charset="0"/>
                <a:ea typeface="Inter" pitchFamily="34" charset="-122"/>
                <a:cs typeface="Inter" pitchFamily="34" charset="-120"/>
              </a:rPr>
              <a:t>frequency </a:t>
            </a:r>
            <a:r>
              <a:rPr lang="en-US" sz="850" dirty="0">
                <a:solidFill>
                  <a:srgbClr val="000000"/>
                </a:solidFill>
                <a:latin typeface="Inter" pitchFamily="34" charset="0"/>
                <a:ea typeface="Inter" pitchFamily="34" charset="-122"/>
                <a:cs typeface="Inter" pitchFamily="34" charset="-120"/>
              </a:rPr>
              <a:t>(fe) is only </a:t>
            </a:r>
            <a:r>
              <a:rPr lang="en-US" sz="850" dirty="0">
                <a:solidFill>
                  <a:srgbClr val="000000"/>
                </a:solidFill>
                <a:latin typeface="Inter" pitchFamily="34" charset="0"/>
                <a:ea typeface="Inter" pitchFamily="34" charset="-122"/>
                <a:cs typeface="Inter" pitchFamily="34" charset="-120"/>
              </a:rPr>
              <a:t>184 Hz.</a:t>
            </a:r>
            <a:endParaRPr lang="en-US" sz="800" dirty="0"/>
          </a:p>
        </p:txBody>
      </p:sp>
      <p:sp>
        <p:nvSpPr>
          <p:cNvPr id="18" name="Text 14"/>
          <p:cNvSpPr/>
          <p:nvPr/>
        </p:nvSpPr>
        <p:spPr>
          <a:xfrm>
            <a:off x="571500" y="7561659"/>
            <a:ext cx="766167" cy="1650206"/>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 minimum carrier ratio (mf = fsw/fe) of 27 at 5 kHz / 184 Hz is sufficient to maintain excellent THD while drastically cutting losses.</a:t>
            </a:r>
            <a:endParaRPr lang="en-US" sz="850" dirty="0"/>
          </a:p>
        </p:txBody>
      </p:sp>
      <p:pic>
        <p:nvPicPr>
          <p:cNvPr id="19" name="Image 1" descr="preencoded.png">    </p:cNvPr>
          <p:cNvPicPr>
            <a:picLocks noChangeAspect="1"/>
          </p:cNvPicPr>
          <p:nvPr/>
        </p:nvPicPr>
        <p:blipFill>
          <a:blip r:embed="rId2"/>
          <a:stretch>
            <a:fillRect/>
          </a:stretch>
        </p:blipFill>
        <p:spPr>
          <a:xfrm>
            <a:off x="1623417" y="1098352"/>
            <a:ext cx="9901238" cy="63293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563195"/>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Simulated Adaptive Switching Frequency</a:t>
            </a:r>
            <a:endParaRPr lang="en-US" sz="1800" dirty="0"/>
          </a:p>
        </p:txBody>
      </p:sp>
      <p:sp>
        <p:nvSpPr>
          <p:cNvPr id="7" name="Text 3"/>
          <p:cNvSpPr/>
          <p:nvPr/>
        </p:nvSpPr>
        <p:spPr>
          <a:xfrm>
            <a:off x="571500" y="1098352"/>
            <a:ext cx="3857625" cy="642938"/>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An adaptive switching frequency schedule was </a:t>
            </a:r>
            <a:r>
              <a:rPr lang="en-US" sz="1000" b="1" dirty="0">
                <a:solidFill>
                  <a:srgbClr val="000000"/>
                </a:solidFill>
                <a:latin typeface="Inter Bold" pitchFamily="34" charset="0"/>
                <a:ea typeface="Inter Bold" pitchFamily="34" charset="-122"/>
                <a:cs typeface="Inter Bold" pitchFamily="34" charset="-120"/>
              </a:rPr>
              <a:t>fully </a:t>
            </a:r>
            <a:r>
              <a:rPr lang="en-US" sz="1000" b="1" dirty="0">
                <a:solidFill>
                  <a:srgbClr val="000000"/>
                </a:solidFill>
                <a:latin typeface="Inter Bold" pitchFamily="34" charset="0"/>
                <a:ea typeface="Inter Bold" pitchFamily="34" charset="-122"/>
                <a:cs typeface="Inter Bold" pitchFamily="34" charset="-120"/>
              </a:rPr>
              <a:t>implemented and validated within the dynamic time-</a:t>
            </a:r>
            <a:r>
              <a:rPr lang="en-US" sz="1000" b="1" dirty="0">
                <a:solidFill>
                  <a:srgbClr val="000000"/>
                </a:solidFill>
                <a:latin typeface="Inter Bold" pitchFamily="34" charset="0"/>
                <a:ea typeface="Inter Bold" pitchFamily="34" charset="-122"/>
                <a:cs typeface="Inter Bold" pitchFamily="34" charset="-120"/>
              </a:rPr>
              <a:t>domain simulation</a:t>
            </a:r>
            <a:r>
              <a:rPr lang="en-US" sz="1050" dirty="0">
                <a:solidFill>
                  <a:srgbClr val="000000"/>
                </a:solidFill>
                <a:latin typeface="Inter" pitchFamily="34" charset="0"/>
                <a:ea typeface="Inter" pitchFamily="34" charset="-122"/>
                <a:cs typeface="Inter" pitchFamily="34" charset="-120"/>
              </a:rPr>
              <a:t>.</a:t>
            </a:r>
            <a:endParaRPr lang="en-US" sz="1050" dirty="0"/>
          </a:p>
        </p:txBody>
      </p:sp>
      <p:sp>
        <p:nvSpPr>
          <p:cNvPr id="8" name="Text 4"/>
          <p:cNvSpPr/>
          <p:nvPr/>
        </p:nvSpPr>
        <p:spPr>
          <a:xfrm>
            <a:off x="571500" y="1903809"/>
            <a:ext cx="3403997"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The methodology relies on maintaining a sufficient</a:t>
            </a:r>
            <a:endParaRPr lang="en-US" sz="1050" dirty="0"/>
          </a:p>
        </p:txBody>
      </p:sp>
      <p:sp>
        <p:nvSpPr>
          <p:cNvPr id="9" name="Text 5"/>
          <p:cNvSpPr/>
          <p:nvPr/>
        </p:nvSpPr>
        <p:spPr>
          <a:xfrm>
            <a:off x="571500" y="2118122"/>
            <a:ext cx="211097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frequency modulation ratio (m</a:t>
            </a:r>
            <a:endParaRPr lang="en-US" sz="1000" dirty="0"/>
          </a:p>
        </p:txBody>
      </p:sp>
      <p:sp>
        <p:nvSpPr>
          <p:cNvPr id="10" name="Text 6"/>
          <p:cNvSpPr/>
          <p:nvPr/>
        </p:nvSpPr>
        <p:spPr>
          <a:xfrm>
            <a:off x="2682478" y="2171700"/>
            <a:ext cx="48220" cy="144661"/>
          </a:xfrm>
          <a:prstGeom prst="rect">
            <a:avLst/>
          </a:prstGeom>
          <a:noFill/>
          <a:ln/>
        </p:spPr>
        <p:txBody>
          <a:bodyPr wrap="none" lIns="0" tIns="0" rIns="0" bIns="0" rtlCol="0" anchor="t">
            <a:spAutoFit/>
          </a:bodyPr>
          <a:lstStyle/>
          <a:p>
            <a:pPr algn="l" indent="0" marL="0">
              <a:lnSpc>
                <a:spcPct val="119976"/>
              </a:lnSpc>
              <a:buNone/>
            </a:pPr>
            <a:r>
              <a:rPr lang="en-US" sz="800" b="1" baseline="-40000" dirty="0">
                <a:solidFill>
                  <a:srgbClr val="000000"/>
                </a:solidFill>
                <a:latin typeface="Inter Bold" pitchFamily="34" charset="0"/>
                <a:ea typeface="Inter Bold" pitchFamily="34" charset="-122"/>
                <a:cs typeface="Inter Bold" pitchFamily="34" charset="-120"/>
              </a:rPr>
              <a:t>f</a:t>
            </a:r>
            <a:endParaRPr lang="en-US" sz="800" dirty="0"/>
          </a:p>
        </p:txBody>
      </p:sp>
      <p:sp>
        <p:nvSpPr>
          <p:cNvPr id="11" name="Text 7"/>
          <p:cNvSpPr/>
          <p:nvPr/>
        </p:nvSpPr>
        <p:spPr>
          <a:xfrm>
            <a:off x="2730698" y="2118122"/>
            <a:ext cx="221456"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 f</a:t>
            </a:r>
            <a:endParaRPr lang="en-US" sz="1000" dirty="0"/>
          </a:p>
        </p:txBody>
      </p:sp>
      <p:sp>
        <p:nvSpPr>
          <p:cNvPr id="12" name="Text 8"/>
          <p:cNvSpPr/>
          <p:nvPr/>
        </p:nvSpPr>
        <p:spPr>
          <a:xfrm>
            <a:off x="2952155" y="2171700"/>
            <a:ext cx="167878" cy="144661"/>
          </a:xfrm>
          <a:prstGeom prst="rect">
            <a:avLst/>
          </a:prstGeom>
          <a:noFill/>
          <a:ln/>
        </p:spPr>
        <p:txBody>
          <a:bodyPr wrap="none" lIns="0" tIns="0" rIns="0" bIns="0" rtlCol="0" anchor="t">
            <a:spAutoFit/>
          </a:bodyPr>
          <a:lstStyle/>
          <a:p>
            <a:pPr algn="l" indent="0" marL="0">
              <a:lnSpc>
                <a:spcPct val="119976"/>
              </a:lnSpc>
              <a:buNone/>
            </a:pPr>
            <a:r>
              <a:rPr lang="en-US" sz="800" b="1" baseline="-40000" dirty="0">
                <a:solidFill>
                  <a:srgbClr val="000000"/>
                </a:solidFill>
                <a:latin typeface="Inter Bold" pitchFamily="34" charset="0"/>
                <a:ea typeface="Inter Bold" pitchFamily="34" charset="-122"/>
                <a:cs typeface="Inter Bold" pitchFamily="34" charset="-120"/>
              </a:rPr>
              <a:t>sw</a:t>
            </a:r>
            <a:endParaRPr lang="en-US" sz="800" dirty="0"/>
          </a:p>
        </p:txBody>
      </p:sp>
      <p:sp>
        <p:nvSpPr>
          <p:cNvPr id="13" name="Text 9"/>
          <p:cNvSpPr/>
          <p:nvPr/>
        </p:nvSpPr>
        <p:spPr>
          <a:xfrm>
            <a:off x="3120033" y="2118122"/>
            <a:ext cx="180380"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 f</a:t>
            </a:r>
            <a:endParaRPr lang="en-US" sz="1000" dirty="0"/>
          </a:p>
        </p:txBody>
      </p:sp>
      <p:sp>
        <p:nvSpPr>
          <p:cNvPr id="14" name="Text 10"/>
          <p:cNvSpPr/>
          <p:nvPr/>
        </p:nvSpPr>
        <p:spPr>
          <a:xfrm>
            <a:off x="3300413" y="2171700"/>
            <a:ext cx="71438" cy="144661"/>
          </a:xfrm>
          <a:prstGeom prst="rect">
            <a:avLst/>
          </a:prstGeom>
          <a:noFill/>
          <a:ln/>
        </p:spPr>
        <p:txBody>
          <a:bodyPr wrap="none" lIns="0" tIns="0" rIns="0" bIns="0" rtlCol="0" anchor="t">
            <a:spAutoFit/>
          </a:bodyPr>
          <a:lstStyle/>
          <a:p>
            <a:pPr algn="l" indent="0" marL="0">
              <a:lnSpc>
                <a:spcPct val="119976"/>
              </a:lnSpc>
              <a:buNone/>
            </a:pPr>
            <a:r>
              <a:rPr lang="en-US" sz="800" b="1" baseline="-40000" dirty="0">
                <a:solidFill>
                  <a:srgbClr val="000000"/>
                </a:solidFill>
                <a:latin typeface="Inter Bold" pitchFamily="34" charset="0"/>
                <a:ea typeface="Inter Bold" pitchFamily="34" charset="-122"/>
                <a:cs typeface="Inter Bold" pitchFamily="34" charset="-120"/>
              </a:rPr>
              <a:t>e</a:t>
            </a:r>
            <a:endParaRPr lang="en-US" sz="800" dirty="0"/>
          </a:p>
        </p:txBody>
      </p:sp>
      <p:sp>
        <p:nvSpPr>
          <p:cNvPr id="15" name="Text 11"/>
          <p:cNvSpPr/>
          <p:nvPr/>
        </p:nvSpPr>
        <p:spPr>
          <a:xfrm>
            <a:off x="3371850" y="2118122"/>
            <a:ext cx="5357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a:t>
            </a:r>
            <a:endParaRPr lang="en-US" sz="1000" dirty="0"/>
          </a:p>
        </p:txBody>
      </p:sp>
      <p:sp>
        <p:nvSpPr>
          <p:cNvPr id="16" name="Text 12"/>
          <p:cNvSpPr/>
          <p:nvPr/>
        </p:nvSpPr>
        <p:spPr>
          <a:xfrm>
            <a:off x="3425428" y="2118122"/>
            <a:ext cx="675084"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to ensure</a:t>
            </a:r>
            <a:endParaRPr lang="en-US" sz="1050" dirty="0"/>
          </a:p>
        </p:txBody>
      </p:sp>
      <p:sp>
        <p:nvSpPr>
          <p:cNvPr id="17" name="Text 13"/>
          <p:cNvSpPr/>
          <p:nvPr/>
        </p:nvSpPr>
        <p:spPr>
          <a:xfrm>
            <a:off x="571500" y="2353866"/>
            <a:ext cx="2827139"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waveform quality while minimizing losses:</a:t>
            </a:r>
            <a:endParaRPr lang="en-US" sz="1050" dirty="0"/>
          </a:p>
        </p:txBody>
      </p:sp>
      <p:sp>
        <p:nvSpPr>
          <p:cNvPr id="18" name="Text 14"/>
          <p:cNvSpPr/>
          <p:nvPr/>
        </p:nvSpPr>
        <p:spPr>
          <a:xfrm>
            <a:off x="571500" y="2691408"/>
            <a:ext cx="3857625" cy="1071563"/>
          </a:xfrm>
          <a:prstGeom prst="rect">
            <a:avLst/>
          </a:prstGeom>
          <a:noFill/>
          <a:ln/>
        </p:spPr>
        <p:txBody>
          <a:bodyPr wrap="squar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Urban Driving (Low fe): </a:t>
            </a:r>
            <a:r>
              <a:rPr lang="en-US" sz="1050" dirty="0">
                <a:solidFill>
                  <a:srgbClr val="000000"/>
                </a:solidFill>
                <a:latin typeface="Inter" pitchFamily="34" charset="0"/>
                <a:ea typeface="Inter" pitchFamily="34" charset="-122"/>
                <a:cs typeface="Inter" pitchFamily="34" charset="-120"/>
              </a:rPr>
              <a:t>At 40 km/h, feis only 184 Hz. </a:t>
            </a:r>
            <a:r>
              <a:rPr lang="en-US" sz="1050" dirty="0">
                <a:solidFill>
                  <a:srgbClr val="000000"/>
                </a:solidFill>
                <a:latin typeface="Inter" pitchFamily="34" charset="0"/>
                <a:ea typeface="Inter" pitchFamily="34" charset="-122"/>
                <a:cs typeface="Inter" pitchFamily="34" charset="-120"/>
              </a:rPr>
              <a:t>The simulated controller dynamically drops fswto5 </a:t>
            </a:r>
            <a:r>
              <a:rPr lang="en-US" sz="1050" dirty="0">
                <a:solidFill>
                  <a:srgbClr val="000000"/>
                </a:solidFill>
                <a:latin typeface="Inter" pitchFamily="34" charset="0"/>
                <a:ea typeface="Inter" pitchFamily="34" charset="-122"/>
                <a:cs typeface="Inter" pitchFamily="34" charset="-120"/>
              </a:rPr>
              <a:t>kHzwhile keeping mf≈ 27. This yields a massive75% </a:t>
            </a:r>
            <a:r>
              <a:rPr lang="en-US" sz="1050" dirty="0">
                <a:solidFill>
                  <a:srgbClr val="000000"/>
                </a:solidFill>
                <a:latin typeface="Inter" pitchFamily="34" charset="0"/>
                <a:ea typeface="Inter" pitchFamily="34" charset="-122"/>
                <a:cs typeface="Inter" pitchFamily="34" charset="-120"/>
              </a:rPr>
              <a:t>reductionin switching losses exactly when the phase </a:t>
            </a:r>
            <a:r>
              <a:rPr lang="en-US" sz="1050" dirty="0">
                <a:solidFill>
                  <a:srgbClr val="000000"/>
                </a:solidFill>
                <a:latin typeface="Inter" pitchFamily="34" charset="0"/>
                <a:ea typeface="Inter" pitchFamily="34" charset="-122"/>
                <a:cs typeface="Inter" pitchFamily="34" charset="-120"/>
              </a:rPr>
              <a:t>current is highest (136 A).</a:t>
            </a:r>
            <a:endParaRPr lang="en-US" sz="1000" dirty="0"/>
          </a:p>
        </p:txBody>
      </p:sp>
      <p:sp>
        <p:nvSpPr>
          <p:cNvPr id="19" name="Text 15"/>
          <p:cNvSpPr/>
          <p:nvPr/>
        </p:nvSpPr>
        <p:spPr>
          <a:xfrm>
            <a:off x="571500" y="3905845"/>
            <a:ext cx="3857625" cy="1071563"/>
          </a:xfrm>
          <a:prstGeom prst="rect">
            <a:avLst/>
          </a:prstGeom>
          <a:noFill/>
          <a:ln/>
        </p:spPr>
        <p:txBody>
          <a:bodyPr wrap="squar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Highway Driving (High fe): </a:t>
            </a:r>
            <a:r>
              <a:rPr lang="en-US" sz="1050" dirty="0">
                <a:solidFill>
                  <a:srgbClr val="000000"/>
                </a:solidFill>
                <a:latin typeface="Inter" pitchFamily="34" charset="0"/>
                <a:ea typeface="Inter" pitchFamily="34" charset="-122"/>
                <a:cs typeface="Inter" pitchFamily="34" charset="-120"/>
              </a:rPr>
              <a:t>At 120 km/h, fereaches 552 </a:t>
            </a:r>
            <a:r>
              <a:rPr lang="en-US" sz="1050" dirty="0">
                <a:solidFill>
                  <a:srgbClr val="000000"/>
                </a:solidFill>
                <a:latin typeface="Inter" pitchFamily="34" charset="0"/>
                <a:ea typeface="Inter" pitchFamily="34" charset="-122"/>
                <a:cs typeface="Inter" pitchFamily="34" charset="-120"/>
              </a:rPr>
              <a:t>Hz. The controller automatically increases fswto20 </a:t>
            </a:r>
            <a:r>
              <a:rPr lang="en-US" sz="1050" dirty="0">
                <a:solidFill>
                  <a:srgbClr val="000000"/>
                </a:solidFill>
                <a:latin typeface="Inter" pitchFamily="34" charset="0"/>
                <a:ea typeface="Inter" pitchFamily="34" charset="-122"/>
                <a:cs typeface="Inter" pitchFamily="34" charset="-120"/>
              </a:rPr>
              <a:t>kHzto maintain mf≈ 36 and prevent distortion. </a:t>
            </a:r>
            <a:r>
              <a:rPr lang="en-US" sz="1050" dirty="0">
                <a:solidFill>
                  <a:srgbClr val="000000"/>
                </a:solidFill>
                <a:latin typeface="Inter" pitchFamily="34" charset="0"/>
                <a:ea typeface="Inter" pitchFamily="34" charset="-122"/>
                <a:cs typeface="Inter" pitchFamily="34" charset="-120"/>
              </a:rPr>
              <a:t>Fortunately, the phase current is much lower (51 A), </a:t>
            </a:r>
            <a:r>
              <a:rPr lang="en-US" sz="1050" dirty="0">
                <a:solidFill>
                  <a:srgbClr val="000000"/>
                </a:solidFill>
                <a:latin typeface="Inter" pitchFamily="34" charset="0"/>
                <a:ea typeface="Inter" pitchFamily="34" charset="-122"/>
                <a:cs typeface="Inter" pitchFamily="34" charset="-120"/>
              </a:rPr>
              <a:t>keeping absolute losses manageable.</a:t>
            </a:r>
            <a:endParaRPr lang="en-US" sz="1000" dirty="0"/>
          </a:p>
        </p:txBody>
      </p:sp>
      <p:pic>
        <p:nvPicPr>
          <p:cNvPr id="20" name="Image 1" descr="preencoded.png">    </p:cNvPr>
          <p:cNvPicPr>
            <a:picLocks noChangeAspect="1"/>
          </p:cNvPicPr>
          <p:nvPr/>
        </p:nvPicPr>
        <p:blipFill>
          <a:blip r:embed="rId2"/>
          <a:stretch>
            <a:fillRect/>
          </a:stretch>
        </p:blipFill>
        <p:spPr>
          <a:xfrm>
            <a:off x="4714875" y="2007673"/>
            <a:ext cx="3857625" cy="175323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9929813"/>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Thermal Impact of Adaptive Schedule</a:t>
            </a:r>
            <a:endParaRPr lang="en-US" sz="1800" dirty="0"/>
          </a:p>
        </p:txBody>
      </p:sp>
      <p:sp>
        <p:nvSpPr>
          <p:cNvPr id="7" name="Text 3"/>
          <p:cNvSpPr/>
          <p:nvPr/>
        </p:nvSpPr>
        <p:spPr>
          <a:xfrm>
            <a:off x="571500" y="1098352"/>
            <a:ext cx="657225" cy="1787723"/>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Urban Tj </a:t>
            </a:r>
            <a:r>
              <a:rPr lang="en-US" sz="800" b="1" dirty="0">
                <a:solidFill>
                  <a:srgbClr val="000000"/>
                </a:solidFill>
                <a:latin typeface="Inter Bold" pitchFamily="34" charset="0"/>
                <a:ea typeface="Inter Bold" pitchFamily="34" charset="-122"/>
                <a:cs typeface="Inter Bold" pitchFamily="34" charset="-120"/>
              </a:rPr>
              <a:t>reduction:</a:t>
            </a:r>
            <a:r>
              <a:rPr lang="en-US" sz="850" dirty="0">
                <a:solidFill>
                  <a:srgbClr val="000000"/>
                </a:solidFill>
                <a:latin typeface="Inter" pitchFamily="34" charset="0"/>
                <a:ea typeface="Inter" pitchFamily="34" charset="-122"/>
                <a:cs typeface="Inter" pitchFamily="34" charset="-120"/>
              </a:rPr>
              <a:t> Junction </a:t>
            </a:r>
            <a:r>
              <a:rPr lang="en-US" sz="850" dirty="0">
                <a:solidFill>
                  <a:srgbClr val="000000"/>
                </a:solidFill>
                <a:latin typeface="Inter" pitchFamily="34" charset="0"/>
                <a:ea typeface="Inter" pitchFamily="34" charset="-122"/>
                <a:cs typeface="Inter" pitchFamily="34" charset="-120"/>
              </a:rPr>
              <a:t>temperature </a:t>
            </a:r>
            <a:r>
              <a:rPr lang="en-US" sz="850" dirty="0">
                <a:solidFill>
                  <a:srgbClr val="000000"/>
                </a:solidFill>
                <a:latin typeface="Inter" pitchFamily="34" charset="0"/>
                <a:ea typeface="Inter" pitchFamily="34" charset="-122"/>
                <a:cs typeface="Inter" pitchFamily="34" charset="-120"/>
              </a:rPr>
              <a:t>drops from </a:t>
            </a:r>
            <a:r>
              <a:rPr lang="en-US" sz="850" dirty="0">
                <a:solidFill>
                  <a:srgbClr val="000000"/>
                </a:solidFill>
                <a:latin typeface="Inter" pitchFamily="34" charset="0"/>
                <a:ea typeface="Inter" pitchFamily="34" charset="-122"/>
                <a:cs typeface="Inter" pitchFamily="34" charset="-120"/>
              </a:rPr>
              <a:t>63.2°C </a:t>
            </a:r>
            <a:r>
              <a:rPr lang="en-US" sz="850" dirty="0">
                <a:solidFill>
                  <a:srgbClr val="000000"/>
                </a:solidFill>
                <a:latin typeface="Inter" pitchFamily="34" charset="0"/>
                <a:ea typeface="Inter" pitchFamily="34" charset="-122"/>
                <a:cs typeface="Inter" pitchFamily="34" charset="-120"/>
              </a:rPr>
              <a:t>(fixed 20 </a:t>
            </a:r>
            <a:r>
              <a:rPr lang="en-US" sz="850" dirty="0">
                <a:solidFill>
                  <a:srgbClr val="000000"/>
                </a:solidFill>
                <a:latin typeface="Inter" pitchFamily="34" charset="0"/>
                <a:ea typeface="Inter" pitchFamily="34" charset="-122"/>
                <a:cs typeface="Inter" pitchFamily="34" charset="-120"/>
              </a:rPr>
              <a:t>kHz) to </a:t>
            </a:r>
            <a:r>
              <a:rPr lang="en-US" sz="850" dirty="0">
                <a:solidFill>
                  <a:srgbClr val="000000"/>
                </a:solidFill>
                <a:latin typeface="Inter" pitchFamily="34" charset="0"/>
                <a:ea typeface="Inter" pitchFamily="34" charset="-122"/>
                <a:cs typeface="Inter" pitchFamily="34" charset="-120"/>
              </a:rPr>
              <a:t>53.5°C </a:t>
            </a:r>
            <a:r>
              <a:rPr lang="en-US" sz="850" dirty="0">
                <a:solidFill>
                  <a:srgbClr val="000000"/>
                </a:solidFill>
                <a:latin typeface="Inter" pitchFamily="34" charset="0"/>
                <a:ea typeface="Inter" pitchFamily="34" charset="-122"/>
                <a:cs typeface="Inter" pitchFamily="34" charset="-120"/>
              </a:rPr>
              <a:t>(adaptive 5 </a:t>
            </a:r>
            <a:r>
              <a:rPr lang="en-US" sz="850" dirty="0">
                <a:solidFill>
                  <a:srgbClr val="000000"/>
                </a:solidFill>
                <a:latin typeface="Inter" pitchFamily="34" charset="0"/>
                <a:ea typeface="Inter" pitchFamily="34" charset="-122"/>
                <a:cs typeface="Inter" pitchFamily="34" charset="-120"/>
              </a:rPr>
              <a:t>kHz) — a </a:t>
            </a:r>
            <a:r>
              <a:rPr lang="en-US" sz="800" b="1" dirty="0">
                <a:solidFill>
                  <a:srgbClr val="000000"/>
                </a:solidFill>
                <a:latin typeface="Inter Bold" pitchFamily="34" charset="0"/>
                <a:ea typeface="Inter Bold" pitchFamily="34" charset="-122"/>
                <a:cs typeface="Inter Bold" pitchFamily="34" charset="-120"/>
              </a:rPr>
              <a:t>ΔTj of </a:t>
            </a:r>
            <a:r>
              <a:rPr lang="en-US" sz="800" b="1" dirty="0">
                <a:solidFill>
                  <a:srgbClr val="000000"/>
                </a:solidFill>
                <a:latin typeface="Inter Bold" pitchFamily="34" charset="0"/>
                <a:ea typeface="Inter Bold" pitchFamily="34" charset="-122"/>
                <a:cs typeface="Inter Bold" pitchFamily="34" charset="-120"/>
              </a:rPr>
              <a:t>9.7°C</a:t>
            </a:r>
            <a:r>
              <a:rPr lang="en-US" sz="850" dirty="0">
                <a:solidFill>
                  <a:srgbClr val="000000"/>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886075"/>
            <a:ext cx="657225" cy="1650206"/>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Peak </a:t>
            </a:r>
            <a:r>
              <a:rPr lang="en-US" sz="800" b="1" dirty="0">
                <a:solidFill>
                  <a:srgbClr val="000000"/>
                </a:solidFill>
                <a:latin typeface="Inter Bold" pitchFamily="34" charset="0"/>
                <a:ea typeface="Inter Bold" pitchFamily="34" charset="-122"/>
                <a:cs typeface="Inter Bold" pitchFamily="34" charset="-120"/>
              </a:rPr>
              <a:t>torque Tj </a:t>
            </a:r>
            <a:r>
              <a:rPr lang="en-US" sz="800" b="1" dirty="0">
                <a:solidFill>
                  <a:srgbClr val="000000"/>
                </a:solidFill>
                <a:latin typeface="Inter Bold" pitchFamily="34" charset="0"/>
                <a:ea typeface="Inter Bold" pitchFamily="34" charset="-122"/>
                <a:cs typeface="Inter Bold" pitchFamily="34" charset="-120"/>
              </a:rPr>
              <a:t>reduction:</a:t>
            </a:r>
            <a:r>
              <a:rPr lang="en-US" sz="850" dirty="0">
                <a:solidFill>
                  <a:srgbClr val="000000"/>
                </a:solidFill>
                <a:latin typeface="Inter" pitchFamily="34" charset="0"/>
                <a:ea typeface="Inter" pitchFamily="34" charset="-122"/>
                <a:cs typeface="Inter" pitchFamily="34" charset="-120"/>
              </a:rPr>
              <a:t> At 20 km/h, </a:t>
            </a:r>
            <a:r>
              <a:rPr lang="en-US" sz="850" dirty="0">
                <a:solidFill>
                  <a:srgbClr val="000000"/>
                </a:solidFill>
                <a:latin typeface="Inter" pitchFamily="34" charset="0"/>
                <a:ea typeface="Inter" pitchFamily="34" charset="-122"/>
                <a:cs typeface="Inter" pitchFamily="34" charset="-120"/>
              </a:rPr>
              <a:t>the </a:t>
            </a:r>
            <a:r>
              <a:rPr lang="en-US" sz="850" dirty="0">
                <a:solidFill>
                  <a:srgbClr val="000000"/>
                </a:solidFill>
                <a:latin typeface="Inter" pitchFamily="34" charset="0"/>
                <a:ea typeface="Inter" pitchFamily="34" charset="-122"/>
                <a:cs typeface="Inter" pitchFamily="34" charset="-120"/>
              </a:rPr>
              <a:t>temperature </a:t>
            </a:r>
            <a:r>
              <a:rPr lang="en-US" sz="850" dirty="0">
                <a:solidFill>
                  <a:srgbClr val="000000"/>
                </a:solidFill>
                <a:latin typeface="Inter" pitchFamily="34" charset="0"/>
                <a:ea typeface="Inter" pitchFamily="34" charset="-122"/>
                <a:cs typeface="Inter" pitchFamily="34" charset="-120"/>
              </a:rPr>
              <a:t>drops from </a:t>
            </a:r>
            <a:r>
              <a:rPr lang="en-US" sz="850" dirty="0">
                <a:solidFill>
                  <a:srgbClr val="000000"/>
                </a:solidFill>
                <a:latin typeface="Inter" pitchFamily="34" charset="0"/>
                <a:ea typeface="Inter" pitchFamily="34" charset="-122"/>
                <a:cs typeface="Inter" pitchFamily="34" charset="-120"/>
              </a:rPr>
              <a:t>87.4°C to </a:t>
            </a:r>
            <a:r>
              <a:rPr lang="en-US" sz="850" dirty="0">
                <a:solidFill>
                  <a:srgbClr val="000000"/>
                </a:solidFill>
                <a:latin typeface="Inter" pitchFamily="34" charset="0"/>
                <a:ea typeface="Inter" pitchFamily="34" charset="-122"/>
                <a:cs typeface="Inter" pitchFamily="34" charset="-120"/>
              </a:rPr>
              <a:t>71.3°C — a </a:t>
            </a:r>
            <a:r>
              <a:rPr lang="en-US" sz="850" dirty="0">
                <a:solidFill>
                  <a:srgbClr val="000000"/>
                </a:solidFill>
                <a:latin typeface="Inter" pitchFamily="34" charset="0"/>
                <a:ea typeface="Inter" pitchFamily="34" charset="-122"/>
                <a:cs typeface="Inter" pitchFamily="34" charset="-120"/>
              </a:rPr>
              <a:t>massive </a:t>
            </a:r>
            <a:r>
              <a:rPr lang="en-US" sz="800" b="1" dirty="0">
                <a:solidFill>
                  <a:srgbClr val="000000"/>
                </a:solidFill>
                <a:latin typeface="Inter Bold" pitchFamily="34" charset="0"/>
                <a:ea typeface="Inter Bold" pitchFamily="34" charset="-122"/>
                <a:cs typeface="Inter Bold" pitchFamily="34" charset="-120"/>
              </a:rPr>
              <a:t>ΔTj of </a:t>
            </a:r>
            <a:r>
              <a:rPr lang="en-US" sz="800" b="1" dirty="0">
                <a:solidFill>
                  <a:srgbClr val="000000"/>
                </a:solidFill>
                <a:latin typeface="Inter Bold" pitchFamily="34" charset="0"/>
                <a:ea typeface="Inter Bold" pitchFamily="34" charset="-122"/>
                <a:cs typeface="Inter Bold" pitchFamily="34" charset="-120"/>
              </a:rPr>
              <a:t>16.2°C</a:t>
            </a:r>
            <a:r>
              <a:rPr lang="en-US" sz="850" dirty="0">
                <a:solidFill>
                  <a:srgbClr val="000000"/>
                </a:solidFill>
                <a:latin typeface="Inter" pitchFamily="34" charset="0"/>
                <a:ea typeface="Inter" pitchFamily="34" charset="-122"/>
                <a:cs typeface="Inter" pitchFamily="34" charset="-120"/>
              </a:rPr>
              <a:t>.</a:t>
            </a:r>
            <a:endParaRPr lang="en-US" sz="800" dirty="0"/>
          </a:p>
        </p:txBody>
      </p:sp>
      <p:sp>
        <p:nvSpPr>
          <p:cNvPr id="9" name="Text 5"/>
          <p:cNvSpPr/>
          <p:nvPr/>
        </p:nvSpPr>
        <p:spPr>
          <a:xfrm>
            <a:off x="571500" y="4536281"/>
            <a:ext cx="657225" cy="1375172"/>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Thermal </a:t>
            </a:r>
            <a:r>
              <a:rPr lang="en-US" sz="800" b="1" dirty="0">
                <a:solidFill>
                  <a:srgbClr val="000000"/>
                </a:solidFill>
                <a:latin typeface="Inter Bold" pitchFamily="34" charset="0"/>
                <a:ea typeface="Inter Bold" pitchFamily="34" charset="-122"/>
                <a:cs typeface="Inter Bold" pitchFamily="34" charset="-120"/>
              </a:rPr>
              <a:t>cycling </a:t>
            </a:r>
            <a:r>
              <a:rPr lang="en-US" sz="800" b="1" dirty="0">
                <a:solidFill>
                  <a:srgbClr val="000000"/>
                </a:solidFill>
                <a:latin typeface="Inter Bold" pitchFamily="34" charset="0"/>
                <a:ea typeface="Inter Bold" pitchFamily="34" charset="-122"/>
                <a:cs typeface="Inter Bold" pitchFamily="34" charset="-120"/>
              </a:rPr>
              <a:t>amplitude</a:t>
            </a:r>
            <a:r>
              <a:rPr lang="en-US" sz="850" dirty="0">
                <a:solidFill>
                  <a:srgbClr val="000000"/>
                </a:solidFill>
                <a:latin typeface="Inter" pitchFamily="34" charset="0"/>
                <a:ea typeface="Inter" pitchFamily="34" charset="-122"/>
                <a:cs typeface="Inter" pitchFamily="34" charset="-120"/>
              </a:rPr>
              <a:t> over a </a:t>
            </a:r>
            <a:r>
              <a:rPr lang="en-US" sz="850" dirty="0">
                <a:solidFill>
                  <a:srgbClr val="000000"/>
                </a:solidFill>
                <a:latin typeface="Inter" pitchFamily="34" charset="0"/>
                <a:ea typeface="Inter" pitchFamily="34" charset="-122"/>
                <a:cs typeface="Inter" pitchFamily="34" charset="-120"/>
              </a:rPr>
              <a:t>mixed drive </a:t>
            </a:r>
            <a:r>
              <a:rPr lang="en-US" sz="850" dirty="0">
                <a:solidFill>
                  <a:srgbClr val="000000"/>
                </a:solidFill>
                <a:latin typeface="Inter" pitchFamily="34" charset="0"/>
                <a:ea typeface="Inter" pitchFamily="34" charset="-122"/>
                <a:cs typeface="Inter" pitchFamily="34" charset="-120"/>
              </a:rPr>
              <a:t>cycle is </a:t>
            </a:r>
            <a:r>
              <a:rPr lang="en-US" sz="850" dirty="0">
                <a:solidFill>
                  <a:srgbClr val="000000"/>
                </a:solidFill>
                <a:latin typeface="Inter" pitchFamily="34" charset="0"/>
                <a:ea typeface="Inter" pitchFamily="34" charset="-122"/>
                <a:cs typeface="Inter" pitchFamily="34" charset="-120"/>
              </a:rPr>
              <a:t>reduced by </a:t>
            </a:r>
            <a:r>
              <a:rPr lang="en-US" sz="850" dirty="0">
                <a:solidFill>
                  <a:srgbClr val="000000"/>
                </a:solidFill>
                <a:latin typeface="Inter" pitchFamily="34" charset="0"/>
                <a:ea typeface="Inter" pitchFamily="34" charset="-122"/>
                <a:cs typeface="Inter" pitchFamily="34" charset="-120"/>
              </a:rPr>
              <a:t>53% (from </a:t>
            </a:r>
            <a:r>
              <a:rPr lang="en-US" sz="850" dirty="0">
                <a:solidFill>
                  <a:srgbClr val="000000"/>
                </a:solidFill>
                <a:latin typeface="Inter" pitchFamily="34" charset="0"/>
                <a:ea typeface="Inter" pitchFamily="34" charset="-122"/>
                <a:cs typeface="Inter" pitchFamily="34" charset="-120"/>
              </a:rPr>
              <a:t>16.4°C to </a:t>
            </a:r>
            <a:r>
              <a:rPr lang="en-US" sz="850" dirty="0">
                <a:solidFill>
                  <a:srgbClr val="000000"/>
                </a:solidFill>
                <a:latin typeface="Inter" pitchFamily="34" charset="0"/>
                <a:ea typeface="Inter" pitchFamily="34" charset="-122"/>
                <a:cs typeface="Inter" pitchFamily="34" charset="-120"/>
              </a:rPr>
              <a:t>7.7°C).</a:t>
            </a:r>
            <a:endParaRPr lang="en-US" sz="800" dirty="0"/>
          </a:p>
        </p:txBody>
      </p:sp>
      <p:sp>
        <p:nvSpPr>
          <p:cNvPr id="10" name="Text 6"/>
          <p:cNvSpPr/>
          <p:nvPr/>
        </p:nvSpPr>
        <p:spPr>
          <a:xfrm>
            <a:off x="571500" y="5911453"/>
            <a:ext cx="657225" cy="1925241"/>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Per the </a:t>
            </a:r>
            <a:r>
              <a:rPr lang="en-US" sz="850" dirty="0">
                <a:solidFill>
                  <a:srgbClr val="000000"/>
                </a:solidFill>
                <a:latin typeface="Inter" pitchFamily="34" charset="0"/>
                <a:ea typeface="Inter" pitchFamily="34" charset="-122"/>
                <a:cs typeface="Inter" pitchFamily="34" charset="-120"/>
              </a:rPr>
              <a:t>Coffin-</a:t>
            </a:r>
            <a:r>
              <a:rPr lang="en-US" sz="850" dirty="0">
                <a:solidFill>
                  <a:srgbClr val="000000"/>
                </a:solidFill>
                <a:latin typeface="Inter" pitchFamily="34" charset="0"/>
                <a:ea typeface="Inter" pitchFamily="34" charset="-122"/>
                <a:cs typeface="Inter" pitchFamily="34" charset="-120"/>
              </a:rPr>
              <a:t>Manson </a:t>
            </a:r>
            <a:r>
              <a:rPr lang="en-US" sz="850" dirty="0">
                <a:solidFill>
                  <a:srgbClr val="000000"/>
                </a:solidFill>
                <a:latin typeface="Inter" pitchFamily="34" charset="0"/>
                <a:ea typeface="Inter" pitchFamily="34" charset="-122"/>
                <a:cs typeface="Inter" pitchFamily="34" charset="-120"/>
              </a:rPr>
              <a:t>fatigue </a:t>
            </a:r>
            <a:r>
              <a:rPr lang="en-US" sz="850" dirty="0">
                <a:solidFill>
                  <a:srgbClr val="000000"/>
                </a:solidFill>
                <a:latin typeface="Inter" pitchFamily="34" charset="0"/>
                <a:ea typeface="Inter" pitchFamily="34" charset="-122"/>
                <a:cs typeface="Inter" pitchFamily="34" charset="-120"/>
              </a:rPr>
              <a:t>model, this </a:t>
            </a:r>
            <a:r>
              <a:rPr lang="en-US" sz="850" dirty="0">
                <a:solidFill>
                  <a:srgbClr val="000000"/>
                </a:solidFill>
                <a:latin typeface="Inter" pitchFamily="34" charset="0"/>
                <a:ea typeface="Inter" pitchFamily="34" charset="-122"/>
                <a:cs typeface="Inter" pitchFamily="34" charset="-120"/>
              </a:rPr>
              <a:t>reduced </a:t>
            </a:r>
            <a:r>
              <a:rPr lang="en-US" sz="850" dirty="0">
                <a:solidFill>
                  <a:srgbClr val="000000"/>
                </a:solidFill>
                <a:latin typeface="Inter" pitchFamily="34" charset="0"/>
                <a:ea typeface="Inter" pitchFamily="34" charset="-122"/>
                <a:cs typeface="Inter" pitchFamily="34" charset="-120"/>
              </a:rPr>
              <a:t>thermal </a:t>
            </a:r>
            <a:r>
              <a:rPr lang="en-US" sz="850" dirty="0">
                <a:solidFill>
                  <a:srgbClr val="000000"/>
                </a:solidFill>
                <a:latin typeface="Inter" pitchFamily="34" charset="0"/>
                <a:ea typeface="Inter" pitchFamily="34" charset="-122"/>
                <a:cs typeface="Inter" pitchFamily="34" charset="-120"/>
              </a:rPr>
              <a:t>cycling </a:t>
            </a:r>
            <a:r>
              <a:rPr lang="en-US" sz="850" dirty="0">
                <a:solidFill>
                  <a:srgbClr val="000000"/>
                </a:solidFill>
                <a:latin typeface="Inter" pitchFamily="34" charset="0"/>
                <a:ea typeface="Inter" pitchFamily="34" charset="-122"/>
                <a:cs typeface="Inter" pitchFamily="34" charset="-120"/>
              </a:rPr>
              <a:t>directly and </a:t>
            </a:r>
            <a:r>
              <a:rPr lang="en-US" sz="850" dirty="0">
                <a:solidFill>
                  <a:srgbClr val="000000"/>
                </a:solidFill>
                <a:latin typeface="Inter" pitchFamily="34" charset="0"/>
                <a:ea typeface="Inter" pitchFamily="34" charset="-122"/>
                <a:cs typeface="Inter" pitchFamily="34" charset="-120"/>
              </a:rPr>
              <a:t>significantly </a:t>
            </a:r>
            <a:r>
              <a:rPr lang="en-US" sz="800" b="1" dirty="0">
                <a:solidFill>
                  <a:srgbClr val="000000"/>
                </a:solidFill>
                <a:latin typeface="Inter Bold" pitchFamily="34" charset="0"/>
                <a:ea typeface="Inter Bold" pitchFamily="34" charset="-122"/>
                <a:cs typeface="Inter Bold" pitchFamily="34" charset="-120"/>
              </a:rPr>
              <a:t>extends </a:t>
            </a:r>
            <a:r>
              <a:rPr lang="en-US" sz="800" b="1" dirty="0">
                <a:solidFill>
                  <a:srgbClr val="000000"/>
                </a:solidFill>
                <a:latin typeface="Inter Bold" pitchFamily="34" charset="0"/>
                <a:ea typeface="Inter Bold" pitchFamily="34" charset="-122"/>
                <a:cs typeface="Inter Bold" pitchFamily="34" charset="-120"/>
              </a:rPr>
              <a:t>solder </a:t>
            </a:r>
            <a:r>
              <a:rPr lang="en-US" sz="800" b="1" dirty="0">
                <a:solidFill>
                  <a:srgbClr val="000000"/>
                </a:solidFill>
                <a:latin typeface="Inter Bold" pitchFamily="34" charset="0"/>
                <a:ea typeface="Inter Bold" pitchFamily="34" charset="-122"/>
                <a:cs typeface="Inter Bold" pitchFamily="34" charset="-120"/>
              </a:rPr>
              <a:t>fatigue </a:t>
            </a:r>
            <a:r>
              <a:rPr lang="en-US" sz="800" b="1" dirty="0">
                <a:solidFill>
                  <a:srgbClr val="000000"/>
                </a:solidFill>
                <a:latin typeface="Inter Bold" pitchFamily="34" charset="0"/>
                <a:ea typeface="Inter Bold" pitchFamily="34" charset="-122"/>
                <a:cs typeface="Inter Bold" pitchFamily="34" charset="-120"/>
              </a:rPr>
              <a:t>lifetime</a:t>
            </a:r>
            <a:r>
              <a:rPr lang="en-US" sz="850" dirty="0">
                <a:solidFill>
                  <a:srgbClr val="000000"/>
                </a:solidFill>
                <a:latin typeface="Inter" pitchFamily="34" charset="0"/>
                <a:ea typeface="Inter" pitchFamily="34" charset="-122"/>
                <a:cs typeface="Inter" pitchFamily="34" charset="-120"/>
              </a:rPr>
              <a:t>.</a:t>
            </a:r>
            <a:endParaRPr lang="en-US" sz="850" dirty="0"/>
          </a:p>
        </p:txBody>
      </p:sp>
      <p:sp>
        <p:nvSpPr>
          <p:cNvPr id="11" name="Text 7"/>
          <p:cNvSpPr/>
          <p:nvPr/>
        </p:nvSpPr>
        <p:spPr>
          <a:xfrm>
            <a:off x="571500" y="7836694"/>
            <a:ext cx="657225" cy="1650206"/>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All </a:t>
            </a:r>
            <a:r>
              <a:rPr lang="en-US" sz="850" dirty="0">
                <a:solidFill>
                  <a:srgbClr val="000000"/>
                </a:solidFill>
                <a:latin typeface="Inter" pitchFamily="34" charset="0"/>
                <a:ea typeface="Inter" pitchFamily="34" charset="-122"/>
                <a:cs typeface="Inter" pitchFamily="34" charset="-120"/>
              </a:rPr>
              <a:t>operating </a:t>
            </a:r>
            <a:r>
              <a:rPr lang="en-US" sz="850" dirty="0">
                <a:solidFill>
                  <a:srgbClr val="000000"/>
                </a:solidFill>
                <a:latin typeface="Inter" pitchFamily="34" charset="0"/>
                <a:ea typeface="Inter" pitchFamily="34" charset="-122"/>
                <a:cs typeface="Inter" pitchFamily="34" charset="-120"/>
              </a:rPr>
              <a:t>points </a:t>
            </a:r>
            <a:r>
              <a:rPr lang="en-US" sz="850" dirty="0">
                <a:solidFill>
                  <a:srgbClr val="000000"/>
                </a:solidFill>
                <a:latin typeface="Inter" pitchFamily="34" charset="0"/>
                <a:ea typeface="Inter" pitchFamily="34" charset="-122"/>
                <a:cs typeface="Inter" pitchFamily="34" charset="-120"/>
              </a:rPr>
              <a:t>remain well </a:t>
            </a:r>
            <a:r>
              <a:rPr lang="en-US" sz="850" dirty="0">
                <a:solidFill>
                  <a:srgbClr val="000000"/>
                </a:solidFill>
                <a:latin typeface="Inter" pitchFamily="34" charset="0"/>
                <a:ea typeface="Inter" pitchFamily="34" charset="-122"/>
                <a:cs typeface="Inter" pitchFamily="34" charset="-120"/>
              </a:rPr>
              <a:t>below the </a:t>
            </a:r>
            <a:r>
              <a:rPr lang="en-US" sz="850" dirty="0">
                <a:solidFill>
                  <a:srgbClr val="000000"/>
                </a:solidFill>
                <a:latin typeface="Inter" pitchFamily="34" charset="0"/>
                <a:ea typeface="Inter" pitchFamily="34" charset="-122"/>
                <a:cs typeface="Inter" pitchFamily="34" charset="-120"/>
              </a:rPr>
              <a:t>module's </a:t>
            </a:r>
            <a:r>
              <a:rPr lang="en-US" sz="850" dirty="0">
                <a:solidFill>
                  <a:srgbClr val="000000"/>
                </a:solidFill>
                <a:latin typeface="Inter" pitchFamily="34" charset="0"/>
                <a:ea typeface="Inter" pitchFamily="34" charset="-122"/>
                <a:cs typeface="Inter" pitchFamily="34" charset="-120"/>
              </a:rPr>
              <a:t>Tj_max of </a:t>
            </a:r>
            <a:r>
              <a:rPr lang="en-US" sz="850" dirty="0">
                <a:solidFill>
                  <a:srgbClr val="000000"/>
                </a:solidFill>
                <a:latin typeface="Inter" pitchFamily="34" charset="0"/>
                <a:ea typeface="Inter" pitchFamily="34" charset="-122"/>
                <a:cs typeface="Inter" pitchFamily="34" charset="-120"/>
              </a:rPr>
              <a:t>175°C, </a:t>
            </a:r>
            <a:r>
              <a:rPr lang="en-US" sz="850" dirty="0">
                <a:solidFill>
                  <a:srgbClr val="000000"/>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a:t>
            </a:r>
            <a:r>
              <a:rPr lang="en-US" sz="800" b="1" dirty="0">
                <a:solidFill>
                  <a:srgbClr val="000000"/>
                </a:solidFill>
                <a:latin typeface="Inter Bold" pitchFamily="34" charset="0"/>
                <a:ea typeface="Inter Bold" pitchFamily="34" charset="-122"/>
                <a:cs typeface="Inter Bold" pitchFamily="34" charset="-120"/>
              </a:rPr>
              <a:t>thermal </a:t>
            </a:r>
            <a:r>
              <a:rPr lang="en-US" sz="800" b="1" dirty="0">
                <a:solidFill>
                  <a:srgbClr val="000000"/>
                </a:solidFill>
                <a:latin typeface="Inter Bold" pitchFamily="34" charset="0"/>
                <a:ea typeface="Inter Bold" pitchFamily="34" charset="-122"/>
                <a:cs typeface="Inter Bold" pitchFamily="34" charset="-120"/>
              </a:rPr>
              <a:t>margin</a:t>
            </a:r>
            <a:r>
              <a:rPr lang="en-US" sz="850" dirty="0">
                <a:solidFill>
                  <a:srgbClr val="000000"/>
                </a:solidFill>
                <a:latin typeface="Inter" pitchFamily="34" charset="0"/>
                <a:ea typeface="Inter" pitchFamily="34" charset="-122"/>
                <a:cs typeface="Inter" pitchFamily="34" charset="-120"/>
              </a:rPr>
              <a:t>.</a:t>
            </a:r>
            <a:endParaRPr lang="en-US" sz="850" dirty="0"/>
          </a:p>
        </p:txBody>
      </p:sp>
      <p:pic>
        <p:nvPicPr>
          <p:cNvPr id="12" name="Image 1" descr="preencoded.png">    </p:cNvPr>
          <p:cNvPicPr>
            <a:picLocks noChangeAspect="1"/>
          </p:cNvPicPr>
          <p:nvPr/>
        </p:nvPicPr>
        <p:blipFill>
          <a:blip r:embed="rId2"/>
          <a:stretch>
            <a:fillRect/>
          </a:stretch>
        </p:blipFill>
        <p:spPr>
          <a:xfrm>
            <a:off x="1514475" y="1098352"/>
            <a:ext cx="11144250" cy="5572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8829675"/>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Simulation Results</a:t>
            </a:r>
            <a:endParaRPr lang="en-US" sz="1800" dirty="0"/>
          </a:p>
        </p:txBody>
      </p:sp>
      <p:sp>
        <p:nvSpPr>
          <p:cNvPr id="7" name="Text 3"/>
          <p:cNvSpPr/>
          <p:nvPr/>
        </p:nvSpPr>
        <p:spPr>
          <a:xfrm>
            <a:off x="571500" y="1098352"/>
            <a:ext cx="692944" cy="1512689"/>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Time-</a:t>
            </a:r>
            <a:r>
              <a:rPr lang="en-US" sz="850" dirty="0">
                <a:solidFill>
                  <a:srgbClr val="000000"/>
                </a:solidFill>
                <a:latin typeface="Inter" pitchFamily="34" charset="0"/>
                <a:ea typeface="Inter" pitchFamily="34" charset="-122"/>
                <a:cs typeface="Inter" pitchFamily="34" charset="-120"/>
              </a:rPr>
              <a:t>domain </a:t>
            </a:r>
            <a:r>
              <a:rPr lang="en-US" sz="850" dirty="0">
                <a:solidFill>
                  <a:srgbClr val="000000"/>
                </a:solidFill>
                <a:latin typeface="Inter" pitchFamily="34" charset="0"/>
                <a:ea typeface="Inter" pitchFamily="34" charset="-122"/>
                <a:cs typeface="Inter" pitchFamily="34" charset="-120"/>
              </a:rPr>
              <a:t>simulation </a:t>
            </a:r>
            <a:r>
              <a:rPr lang="en-US" sz="850" dirty="0">
                <a:solidFill>
                  <a:srgbClr val="000000"/>
                </a:solidFill>
                <a:latin typeface="Inter" pitchFamily="34" charset="0"/>
                <a:ea typeface="Inter" pitchFamily="34" charset="-122"/>
                <a:cs typeface="Inter" pitchFamily="34" charset="-120"/>
              </a:rPr>
              <a:t>confirms </a:t>
            </a:r>
            <a:r>
              <a:rPr lang="en-US" sz="850" dirty="0">
                <a:solidFill>
                  <a:srgbClr val="000000"/>
                </a:solidFill>
                <a:latin typeface="Inter" pitchFamily="34" charset="0"/>
                <a:ea typeface="Inter" pitchFamily="34" charset="-122"/>
                <a:cs typeface="Inter" pitchFamily="34" charset="-120"/>
              </a:rPr>
              <a:t>proper </a:t>
            </a:r>
            <a:r>
              <a:rPr lang="en-US" sz="800" b="1" dirty="0">
                <a:solidFill>
                  <a:srgbClr val="000000"/>
                </a:solidFill>
                <a:latin typeface="Inter Bold" pitchFamily="34" charset="0"/>
                <a:ea typeface="Inter Bold" pitchFamily="34" charset="-122"/>
                <a:cs typeface="Inter Bold" pitchFamily="34" charset="-120"/>
              </a:rPr>
              <a:t>3-</a:t>
            </a:r>
            <a:r>
              <a:rPr lang="en-US" sz="800" b="1" dirty="0">
                <a:solidFill>
                  <a:srgbClr val="000000"/>
                </a:solidFill>
                <a:latin typeface="Inter Bold" pitchFamily="34" charset="0"/>
                <a:ea typeface="Inter Bold" pitchFamily="34" charset="-122"/>
                <a:cs typeface="Inter Bold" pitchFamily="34" charset="-120"/>
              </a:rPr>
              <a:t>level output </a:t>
            </a:r>
            <a:r>
              <a:rPr lang="en-US" sz="800" b="1" dirty="0">
                <a:solidFill>
                  <a:srgbClr val="000000"/>
                </a:solidFill>
                <a:latin typeface="Inter Bold" pitchFamily="34" charset="0"/>
                <a:ea typeface="Inter Bold" pitchFamily="34" charset="-122"/>
                <a:cs typeface="Inter Bold" pitchFamily="34" charset="-120"/>
              </a:rPr>
              <a:t>voltage</a:t>
            </a:r>
            <a:r>
              <a:rPr lang="en-US" sz="850" dirty="0">
                <a:solidFill>
                  <a:srgbClr val="000000"/>
                </a:solidFill>
                <a:latin typeface="Inter" pitchFamily="34" charset="0"/>
                <a:ea typeface="Inter" pitchFamily="34" charset="-122"/>
                <a:cs typeface="Inter" pitchFamily="34" charset="-120"/>
              </a:rPr>
              <a:t> synthesis at </a:t>
            </a:r>
            <a:r>
              <a:rPr lang="en-US" sz="850" dirty="0">
                <a:solidFill>
                  <a:srgbClr val="000000"/>
                </a:solidFill>
                <a:latin typeface="Inter" pitchFamily="34" charset="0"/>
                <a:ea typeface="Inter" pitchFamily="34" charset="-122"/>
                <a:cs typeface="Inter" pitchFamily="34" charset="-120"/>
              </a:rPr>
              <a:t>both urban </a:t>
            </a:r>
            <a:r>
              <a:rPr lang="en-US" sz="850" dirty="0">
                <a:solidFill>
                  <a:srgbClr val="000000"/>
                </a:solidFill>
                <a:latin typeface="Inter" pitchFamily="34" charset="0"/>
                <a:ea typeface="Inter" pitchFamily="34" charset="-122"/>
                <a:cs typeface="Inter" pitchFamily="34" charset="-120"/>
              </a:rPr>
              <a:t>and highway </a:t>
            </a:r>
            <a:r>
              <a:rPr lang="en-US" sz="850" dirty="0">
                <a:solidFill>
                  <a:srgbClr val="000000"/>
                </a:solidFill>
                <a:latin typeface="Inter" pitchFamily="34" charset="0"/>
                <a:ea typeface="Inter" pitchFamily="34" charset="-122"/>
                <a:cs typeface="Inter" pitchFamily="34" charset="-120"/>
              </a:rPr>
              <a:t>speeds.</a:t>
            </a:r>
            <a:endParaRPr lang="en-US" sz="850" dirty="0"/>
          </a:p>
        </p:txBody>
      </p:sp>
      <p:sp>
        <p:nvSpPr>
          <p:cNvPr id="8" name="Text 4"/>
          <p:cNvSpPr/>
          <p:nvPr/>
        </p:nvSpPr>
        <p:spPr>
          <a:xfrm>
            <a:off x="571500" y="2611041"/>
            <a:ext cx="692944" cy="1375172"/>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Phase </a:t>
            </a:r>
            <a:r>
              <a:rPr lang="en-US" sz="850" dirty="0">
                <a:solidFill>
                  <a:srgbClr val="000000"/>
                </a:solidFill>
                <a:latin typeface="Inter" pitchFamily="34" charset="0"/>
                <a:ea typeface="Inter" pitchFamily="34" charset="-122"/>
                <a:cs typeface="Inter" pitchFamily="34" charset="-120"/>
              </a:rPr>
              <a:t>currents are </a:t>
            </a:r>
            <a:r>
              <a:rPr lang="en-US" sz="850" dirty="0">
                <a:solidFill>
                  <a:srgbClr val="000000"/>
                </a:solidFill>
                <a:latin typeface="Inter" pitchFamily="34" charset="0"/>
                <a:ea typeface="Inter" pitchFamily="34" charset="-122"/>
                <a:cs typeface="Inter" pitchFamily="34" charset="-120"/>
              </a:rPr>
              <a:t>clean </a:t>
            </a:r>
            <a:r>
              <a:rPr lang="en-US" sz="850" dirty="0">
                <a:solidFill>
                  <a:srgbClr val="000000"/>
                </a:solidFill>
                <a:latin typeface="Inter" pitchFamily="34" charset="0"/>
                <a:ea typeface="Inter" pitchFamily="34" charset="-122"/>
                <a:cs typeface="Inter" pitchFamily="34" charset="-120"/>
              </a:rPr>
              <a:t>sinusoids </a:t>
            </a:r>
            <a:r>
              <a:rPr lang="en-US" sz="850" dirty="0">
                <a:solidFill>
                  <a:srgbClr val="000000"/>
                </a:solidFill>
                <a:latin typeface="Inter" pitchFamily="34" charset="0"/>
                <a:ea typeface="Inter" pitchFamily="34" charset="-122"/>
                <a:cs typeface="Inter" pitchFamily="34" charset="-120"/>
              </a:rPr>
              <a:t>with </a:t>
            </a:r>
            <a:r>
              <a:rPr lang="en-US" sz="800" b="1" dirty="0">
                <a:solidFill>
                  <a:srgbClr val="000000"/>
                </a:solidFill>
                <a:latin typeface="Inter Bold" pitchFamily="34" charset="0"/>
                <a:ea typeface="Inter Bold" pitchFamily="34" charset="-122"/>
                <a:cs typeface="Inter Bold" pitchFamily="34" charset="-120"/>
              </a:rPr>
              <a:t>THD &lt; </a:t>
            </a:r>
            <a:r>
              <a:rPr lang="en-US" sz="800" b="1" dirty="0">
                <a:solidFill>
                  <a:srgbClr val="000000"/>
                </a:solidFill>
                <a:latin typeface="Inter Bold" pitchFamily="34" charset="0"/>
                <a:ea typeface="Inter Bold" pitchFamily="34" charset="-122"/>
                <a:cs typeface="Inter Bold" pitchFamily="34" charset="-120"/>
              </a:rPr>
              <a:t>2%</a:t>
            </a:r>
            <a:r>
              <a:rPr lang="en-US" sz="850" dirty="0">
                <a:solidFill>
                  <a:srgbClr val="000000"/>
                </a:solidFill>
                <a:latin typeface="Inter" pitchFamily="34" charset="0"/>
                <a:ea typeface="Inter" pitchFamily="34" charset="-122"/>
                <a:cs typeface="Inter" pitchFamily="34" charset="-120"/>
              </a:rPr>
              <a:t> (1.92% </a:t>
            </a:r>
            <a:r>
              <a:rPr lang="en-US" sz="850" dirty="0">
                <a:solidFill>
                  <a:srgbClr val="000000"/>
                </a:solidFill>
                <a:latin typeface="Inter" pitchFamily="34" charset="0"/>
                <a:ea typeface="Inter" pitchFamily="34" charset="-122"/>
                <a:cs typeface="Inter" pitchFamily="34" charset="-120"/>
              </a:rPr>
              <a:t>at 5 kHz </a:t>
            </a:r>
            <a:r>
              <a:rPr lang="en-US" sz="850" dirty="0">
                <a:solidFill>
                  <a:srgbClr val="000000"/>
                </a:solidFill>
                <a:latin typeface="Inter" pitchFamily="34" charset="0"/>
                <a:ea typeface="Inter" pitchFamily="34" charset="-122"/>
                <a:cs typeface="Inter" pitchFamily="34" charset="-120"/>
              </a:rPr>
              <a:t>urban, 1.13% </a:t>
            </a:r>
            <a:r>
              <a:rPr lang="en-US" sz="850" dirty="0">
                <a:solidFill>
                  <a:srgbClr val="000000"/>
                </a:solidFill>
                <a:latin typeface="Inter" pitchFamily="34" charset="0"/>
                <a:ea typeface="Inter" pitchFamily="34" charset="-122"/>
                <a:cs typeface="Inter" pitchFamily="34" charset="-120"/>
              </a:rPr>
              <a:t>at 20 kHz </a:t>
            </a:r>
            <a:r>
              <a:rPr lang="en-US" sz="850" dirty="0">
                <a:solidFill>
                  <a:srgbClr val="000000"/>
                </a:solidFill>
                <a:latin typeface="Inter" pitchFamily="34" charset="0"/>
                <a:ea typeface="Inter" pitchFamily="34" charset="-122"/>
                <a:cs typeface="Inter" pitchFamily="34" charset="-120"/>
              </a:rPr>
              <a:t>highway).</a:t>
            </a:r>
            <a:endParaRPr lang="en-US" sz="850" dirty="0"/>
          </a:p>
        </p:txBody>
      </p:sp>
      <p:sp>
        <p:nvSpPr>
          <p:cNvPr id="9" name="Text 5"/>
          <p:cNvSpPr/>
          <p:nvPr/>
        </p:nvSpPr>
        <p:spPr>
          <a:xfrm>
            <a:off x="571500" y="3986213"/>
            <a:ext cx="692944" cy="1512689"/>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FC voltage </a:t>
            </a:r>
            <a:r>
              <a:rPr lang="en-US" sz="850" dirty="0">
                <a:solidFill>
                  <a:srgbClr val="000000"/>
                </a:solidFill>
                <a:latin typeface="Inter" pitchFamily="34" charset="0"/>
                <a:ea typeface="Inter" pitchFamily="34" charset="-122"/>
                <a:cs typeface="Inter" pitchFamily="34" charset="-120"/>
              </a:rPr>
              <a:t>is </a:t>
            </a:r>
            <a:r>
              <a:rPr lang="en-US" sz="850" dirty="0">
                <a:solidFill>
                  <a:srgbClr val="000000"/>
                </a:solidFill>
                <a:latin typeface="Inter" pitchFamily="34" charset="0"/>
                <a:ea typeface="Inter" pitchFamily="34" charset="-122"/>
                <a:cs typeface="Inter" pitchFamily="34" charset="-120"/>
              </a:rPr>
              <a:t>successfully </a:t>
            </a:r>
            <a:r>
              <a:rPr lang="en-US" sz="850" dirty="0">
                <a:solidFill>
                  <a:srgbClr val="000000"/>
                </a:solidFill>
                <a:latin typeface="Inter" pitchFamily="34" charset="0"/>
                <a:ea typeface="Inter" pitchFamily="34" charset="-122"/>
                <a:cs typeface="Inter" pitchFamily="34" charset="-120"/>
              </a:rPr>
              <a:t>maintained </a:t>
            </a:r>
            <a:r>
              <a:rPr lang="en-US" sz="850" dirty="0">
                <a:solidFill>
                  <a:srgbClr val="000000"/>
                </a:solidFill>
                <a:latin typeface="Inter" pitchFamily="34" charset="0"/>
                <a:ea typeface="Inter" pitchFamily="34" charset="-122"/>
                <a:cs typeface="Inter" pitchFamily="34" charset="-120"/>
              </a:rPr>
              <a:t>at 400V with </a:t>
            </a:r>
            <a:r>
              <a:rPr lang="en-US" sz="800" b="1" dirty="0">
                <a:solidFill>
                  <a:srgbClr val="000000"/>
                </a:solidFill>
                <a:latin typeface="Inter Bold" pitchFamily="34" charset="0"/>
                <a:ea typeface="Inter Bold" pitchFamily="34" charset="-122"/>
                <a:cs typeface="Inter Bold" pitchFamily="34" charset="-120"/>
              </a:rPr>
              <a:t>± 0.04V </a:t>
            </a:r>
            <a:r>
              <a:rPr lang="en-US" sz="800" b="1" dirty="0">
                <a:solidFill>
                  <a:srgbClr val="000000"/>
                </a:solidFill>
                <a:latin typeface="Inter Bold" pitchFamily="34" charset="0"/>
                <a:ea typeface="Inter Bold" pitchFamily="34" charset="-122"/>
                <a:cs typeface="Inter Bold" pitchFamily="34" charset="-120"/>
              </a:rPr>
              <a:t>mean error</a:t>
            </a:r>
            <a:r>
              <a:rPr lang="en-US" sz="850" dirty="0">
                <a:solidFill>
                  <a:srgbClr val="000000"/>
                </a:solidFill>
                <a:latin typeface="Inter" pitchFamily="34" charset="0"/>
                <a:ea typeface="Inter" pitchFamily="34" charset="-122"/>
                <a:cs typeface="Inter" pitchFamily="34" charset="-120"/>
              </a:rPr>
              <a:t> using PD-</a:t>
            </a:r>
            <a:r>
              <a:rPr lang="en-US" sz="850" dirty="0">
                <a:solidFill>
                  <a:srgbClr val="000000"/>
                </a:solidFill>
                <a:latin typeface="Inter" pitchFamily="34" charset="0"/>
                <a:ea typeface="Inter" pitchFamily="34" charset="-122"/>
                <a:cs typeface="Inter" pitchFamily="34" charset="-120"/>
              </a:rPr>
              <a:t>PWM active </a:t>
            </a:r>
            <a:r>
              <a:rPr lang="en-US" sz="850" dirty="0">
                <a:solidFill>
                  <a:srgbClr val="000000"/>
                </a:solidFill>
                <a:latin typeface="Inter" pitchFamily="34" charset="0"/>
                <a:ea typeface="Inter" pitchFamily="34" charset="-122"/>
                <a:cs typeface="Inter" pitchFamily="34" charset="-120"/>
              </a:rPr>
              <a:t>state </a:t>
            </a:r>
            <a:r>
              <a:rPr lang="en-US" sz="850" dirty="0">
                <a:solidFill>
                  <a:srgbClr val="000000"/>
                </a:solidFill>
                <a:latin typeface="Inter" pitchFamily="34" charset="0"/>
                <a:ea typeface="Inter" pitchFamily="34" charset="-122"/>
                <a:cs typeface="Inter" pitchFamily="34" charset="-120"/>
              </a:rPr>
              <a:t>selection.</a:t>
            </a:r>
            <a:endParaRPr lang="en-US" sz="850" dirty="0"/>
          </a:p>
        </p:txBody>
      </p:sp>
      <p:sp>
        <p:nvSpPr>
          <p:cNvPr id="10" name="Text 6"/>
          <p:cNvSpPr/>
          <p:nvPr/>
        </p:nvSpPr>
        <p:spPr>
          <a:xfrm>
            <a:off x="571500" y="5498902"/>
            <a:ext cx="692944" cy="1375172"/>
          </a:xfrm>
          <a:prstGeom prst="rect">
            <a:avLst/>
          </a:prstGeom>
          <a:noFill/>
          <a:ln/>
        </p:spPr>
        <p:txBody>
          <a:bodyPr wrap="none" lIns="0" tIns="0" rIns="0" bIns="0" rtlCol="0" anchor="t">
            <a:spAutoFit/>
          </a:bodyPr>
          <a:lstStyle/>
          <a:p>
            <a:pPr algn="l" indent="0" marL="0">
              <a:buNone/>
            </a:pPr>
            <a:r>
              <a:rPr lang="en-US" sz="850" dirty="0">
                <a:solidFill>
                  <a:srgbClr val="000000"/>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a:t>
            </a:r>
            <a:r>
              <a:rPr lang="en-US" sz="800" b="1" dirty="0">
                <a:solidFill>
                  <a:srgbClr val="000000"/>
                </a:solidFill>
                <a:latin typeface="Inter Bold" pitchFamily="34" charset="0"/>
                <a:ea typeface="Inter Bold" pitchFamily="34" charset="-122"/>
                <a:cs typeface="Inter Bold" pitchFamily="34" charset="-120"/>
              </a:rPr>
              <a:t>simulated</a:t>
            </a:r>
            <a:r>
              <a:rPr lang="en-US" sz="850" dirty="0">
                <a:solidFill>
                  <a:srgbClr val="000000"/>
                </a:solidFill>
                <a:latin typeface="Inter" pitchFamily="34" charset="0"/>
                <a:ea typeface="Inter" pitchFamily="34" charset="-122"/>
                <a:cs typeface="Inter" pitchFamily="34" charset="-120"/>
              </a:rPr>
              <a:t> vs 20V </a:t>
            </a:r>
            <a:r>
              <a:rPr lang="en-US" sz="850" dirty="0">
                <a:solidFill>
                  <a:srgbClr val="000000"/>
                </a:solidFill>
                <a:latin typeface="Inter" pitchFamily="34" charset="0"/>
                <a:ea typeface="Inter" pitchFamily="34" charset="-122"/>
                <a:cs typeface="Inter" pitchFamily="34" charset="-120"/>
              </a:rPr>
              <a:t>analytical </a:t>
            </a:r>
            <a:r>
              <a:rPr lang="en-US" sz="850" dirty="0">
                <a:solidFill>
                  <a:srgbClr val="000000"/>
                </a:solidFill>
                <a:latin typeface="Inter" pitchFamily="34" charset="0"/>
                <a:ea typeface="Inter" pitchFamily="34" charset="-122"/>
                <a:cs typeface="Inter" pitchFamily="34" charset="-120"/>
              </a:rPr>
              <a:t>budget — </a:t>
            </a:r>
            <a:r>
              <a:rPr lang="en-US" sz="850" dirty="0">
                <a:solidFill>
                  <a:srgbClr val="000000"/>
                </a:solidFill>
                <a:latin typeface="Inter" pitchFamily="34" charset="0"/>
                <a:ea typeface="Inter" pitchFamily="34" charset="-122"/>
                <a:cs typeface="Inter" pitchFamily="34" charset="-120"/>
              </a:rPr>
              <a:t>excellent </a:t>
            </a:r>
            <a:r>
              <a:rPr lang="en-US" sz="850" dirty="0">
                <a:solidFill>
                  <a:srgbClr val="000000"/>
                </a:solidFill>
                <a:latin typeface="Inter" pitchFamily="34" charset="0"/>
                <a:ea typeface="Inter" pitchFamily="34" charset="-122"/>
                <a:cs typeface="Inter" pitchFamily="34" charset="-120"/>
              </a:rPr>
              <a:t>agreement </a:t>
            </a:r>
            <a:r>
              <a:rPr lang="en-US" sz="850" dirty="0">
                <a:solidFill>
                  <a:srgbClr val="000000"/>
                </a:solidFill>
                <a:latin typeface="Inter" pitchFamily="34" charset="0"/>
                <a:ea typeface="Inter" pitchFamily="34" charset="-122"/>
                <a:cs typeface="Inter" pitchFamily="34" charset="-120"/>
              </a:rPr>
              <a:t>with design </a:t>
            </a:r>
            <a:r>
              <a:rPr lang="en-US" sz="850" dirty="0">
                <a:solidFill>
                  <a:srgbClr val="000000"/>
                </a:solidFill>
                <a:latin typeface="Inter" pitchFamily="34" charset="0"/>
                <a:ea typeface="Inter" pitchFamily="34" charset="-122"/>
                <a:cs typeface="Inter" pitchFamily="34" charset="-120"/>
              </a:rPr>
              <a:t>calculations.</a:t>
            </a:r>
            <a:endParaRPr lang="en-US" sz="850" dirty="0"/>
          </a:p>
        </p:txBody>
      </p:sp>
      <p:sp>
        <p:nvSpPr>
          <p:cNvPr id="11" name="Text 7"/>
          <p:cNvSpPr/>
          <p:nvPr/>
        </p:nvSpPr>
        <p:spPr>
          <a:xfrm>
            <a:off x="571500" y="6874073"/>
            <a:ext cx="692944" cy="1512689"/>
          </a:xfrm>
          <a:prstGeom prst="rect">
            <a:avLst/>
          </a:prstGeom>
          <a:noFill/>
          <a:ln/>
        </p:spPr>
        <p:txBody>
          <a:bodyPr wrap="non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Pre-charge </a:t>
            </a:r>
            <a:r>
              <a:rPr lang="en-US" sz="800" b="1" dirty="0">
                <a:solidFill>
                  <a:srgbClr val="000000"/>
                </a:solidFill>
                <a:latin typeface="Inter Bold" pitchFamily="34" charset="0"/>
                <a:ea typeface="Inter Bold" pitchFamily="34" charset="-122"/>
                <a:cs typeface="Inter Bold" pitchFamily="34" charset="-120"/>
              </a:rPr>
              <a:t>transient:</a:t>
            </a:r>
            <a:r>
              <a:rPr lang="en-US" sz="850" dirty="0">
                <a:solidFill>
                  <a:srgbClr val="000000"/>
                </a:solidFill>
                <a:latin typeface="Inter" pitchFamily="34" charset="0"/>
                <a:ea typeface="Inter" pitchFamily="34" charset="-122"/>
                <a:cs typeface="Inter" pitchFamily="34" charset="-120"/>
              </a:rPr>
              <a:t> 20ms linear </a:t>
            </a:r>
            <a:r>
              <a:rPr lang="en-US" sz="850" dirty="0">
                <a:solidFill>
                  <a:srgbClr val="000000"/>
                </a:solidFill>
                <a:latin typeface="Inter" pitchFamily="34" charset="0"/>
                <a:ea typeface="Inter" pitchFamily="34" charset="-122"/>
                <a:cs typeface="Inter" pitchFamily="34" charset="-120"/>
              </a:rPr>
              <a:t>ramp from </a:t>
            </a:r>
            <a:r>
              <a:rPr lang="en-US" sz="850" dirty="0">
                <a:solidFill>
                  <a:srgbClr val="000000"/>
                </a:solidFill>
                <a:latin typeface="Inter" pitchFamily="34" charset="0"/>
                <a:ea typeface="Inter" pitchFamily="34" charset="-122"/>
                <a:cs typeface="Inter" pitchFamily="34" charset="-120"/>
              </a:rPr>
              <a:t>0V to 400V </a:t>
            </a:r>
            <a:r>
              <a:rPr lang="en-US" sz="850" dirty="0">
                <a:solidFill>
                  <a:srgbClr val="000000"/>
                </a:solidFill>
                <a:latin typeface="Inter" pitchFamily="34" charset="0"/>
                <a:ea typeface="Inter" pitchFamily="34" charset="-122"/>
                <a:cs typeface="Inter" pitchFamily="34" charset="-120"/>
              </a:rPr>
              <a:t>successfully </a:t>
            </a:r>
            <a:r>
              <a:rPr lang="en-US" sz="850" dirty="0">
                <a:solidFill>
                  <a:srgbClr val="000000"/>
                </a:solidFill>
                <a:latin typeface="Inter" pitchFamily="34" charset="0"/>
                <a:ea typeface="Inter" pitchFamily="34" charset="-122"/>
                <a:cs typeface="Inter" pitchFamily="34" charset="-120"/>
              </a:rPr>
              <a:t>executed </a:t>
            </a:r>
            <a:r>
              <a:rPr lang="en-US" sz="850" dirty="0">
                <a:solidFill>
                  <a:srgbClr val="000000"/>
                </a:solidFill>
                <a:latin typeface="Inter" pitchFamily="34" charset="0"/>
                <a:ea typeface="Inter" pitchFamily="34" charset="-122"/>
                <a:cs typeface="Inter" pitchFamily="34" charset="-120"/>
              </a:rPr>
              <a:t>before </a:t>
            </a:r>
            <a:r>
              <a:rPr lang="en-US" sz="850" dirty="0">
                <a:solidFill>
                  <a:srgbClr val="000000"/>
                </a:solidFill>
                <a:latin typeface="Inter" pitchFamily="34" charset="0"/>
                <a:ea typeface="Inter" pitchFamily="34" charset="-122"/>
                <a:cs typeface="Inter" pitchFamily="34" charset="-120"/>
              </a:rPr>
              <a:t>active </a:t>
            </a:r>
            <a:r>
              <a:rPr lang="en-US" sz="850" dirty="0">
                <a:solidFill>
                  <a:srgbClr val="000000"/>
                </a:solidFill>
                <a:latin typeface="Inter" pitchFamily="34" charset="0"/>
                <a:ea typeface="Inter" pitchFamily="34" charset="-122"/>
                <a:cs typeface="Inter" pitchFamily="34" charset="-120"/>
              </a:rPr>
              <a:t>switching </a:t>
            </a:r>
            <a:r>
              <a:rPr lang="en-US" sz="850" dirty="0">
                <a:solidFill>
                  <a:srgbClr val="000000"/>
                </a:solidFill>
                <a:latin typeface="Inter" pitchFamily="34" charset="0"/>
                <a:ea typeface="Inter" pitchFamily="34" charset="-122"/>
                <a:cs typeface="Inter" pitchFamily="34" charset="-120"/>
              </a:rPr>
              <a:t>commences.</a:t>
            </a:r>
            <a:endParaRPr lang="en-US" sz="800" dirty="0"/>
          </a:p>
        </p:txBody>
      </p:sp>
      <p:pic>
        <p:nvPicPr>
          <p:cNvPr id="12" name="Image 1" descr="preencoded.png">    </p:cNvPr>
          <p:cNvPicPr>
            <a:picLocks noChangeAspect="1"/>
          </p:cNvPicPr>
          <p:nvPr/>
        </p:nvPicPr>
        <p:blipFill>
          <a:blip r:embed="rId2"/>
          <a:stretch>
            <a:fillRect/>
          </a:stretch>
        </p:blipFill>
        <p:spPr>
          <a:xfrm>
            <a:off x="1550194" y="1098352"/>
            <a:ext cx="11144250" cy="509349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571500" y="428625"/>
            <a:ext cx="8001000" cy="398264"/>
          </a:xfrm>
          <a:prstGeom prst="rect">
            <a:avLst/>
          </a:prstGeom>
          <a:solidFill>
            <a:srgbClr val="000000">
              <a:alpha val="0"/>
            </a:srgbClr>
          </a:solidFill>
          <a:ln/>
        </p:spPr>
      </p:sp>
      <p:sp>
        <p:nvSpPr>
          <p:cNvPr id="5" name="Shape 1"/>
          <p:cNvSpPr/>
          <p:nvPr/>
        </p:nvSpPr>
        <p:spPr>
          <a:xfrm>
            <a:off x="571500" y="812602"/>
            <a:ext cx="8001000" cy="14288"/>
          </a:xfrm>
          <a:prstGeom prst="rect">
            <a:avLst/>
          </a:prstGeom>
          <a:solidFill>
            <a:srgbClr val="000000"/>
          </a:solidFill>
          <a:ln/>
        </p:spPr>
      </p:sp>
      <p:sp>
        <p:nvSpPr>
          <p:cNvPr id="6" name="Text 2"/>
          <p:cNvSpPr/>
          <p:nvPr/>
        </p:nvSpPr>
        <p:spPr>
          <a:xfrm>
            <a:off x="571500" y="428625"/>
            <a:ext cx="8001000" cy="398264"/>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Conclusion</a:t>
            </a:r>
            <a:endParaRPr lang="en-US" sz="1800" dirty="0"/>
          </a:p>
        </p:txBody>
      </p:sp>
      <p:sp>
        <p:nvSpPr>
          <p:cNvPr id="7" name="Text 3"/>
          <p:cNvSpPr/>
          <p:nvPr/>
        </p:nvSpPr>
        <p:spPr>
          <a:xfrm>
            <a:off x="571500" y="1098352"/>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800V architecture</a:t>
            </a:r>
            <a:r>
              <a:rPr lang="en-US" sz="850" dirty="0">
                <a:solidFill>
                  <a:srgbClr val="000000"/>
                </a:solidFill>
                <a:latin typeface="Inter" pitchFamily="34" charset="0"/>
                <a:ea typeface="Inter" pitchFamily="34" charset="-122"/>
                <a:cs typeface="Inter" pitchFamily="34" charset="-120"/>
              </a:rPr>
              <a:t> is justified by ultra-fast charging speed, reduced cable weight, and overall efficiency gains.</a:t>
            </a:r>
            <a:endParaRPr lang="en-US" sz="800" dirty="0"/>
          </a:p>
        </p:txBody>
      </p:sp>
      <p:sp>
        <p:nvSpPr>
          <p:cNvPr id="8" name="Text 4"/>
          <p:cNvSpPr/>
          <p:nvPr/>
        </p:nvSpPr>
        <p:spPr>
          <a:xfrm>
            <a:off x="571500" y="1235869"/>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FC topology</a:t>
            </a:r>
            <a:r>
              <a:rPr lang="en-US" sz="850" dirty="0">
                <a:solidFill>
                  <a:srgbClr val="000000"/>
                </a:solidFill>
                <a:latin typeface="Inter" pitchFamily="34" charset="0"/>
                <a:ea typeface="Inter" pitchFamily="34" charset="-122"/>
                <a:cs typeface="Inter" pitchFamily="34" charset="-120"/>
              </a:rPr>
              <a:t> was selected over NPC for its superior thermal symmetry and natural balancing capabilities under dynamic EV loads.</a:t>
            </a:r>
            <a:endParaRPr lang="en-US" sz="800" dirty="0"/>
          </a:p>
        </p:txBody>
      </p:sp>
      <p:sp>
        <p:nvSpPr>
          <p:cNvPr id="9" name="Text 5"/>
          <p:cNvSpPr/>
          <p:nvPr/>
        </p:nvSpPr>
        <p:spPr>
          <a:xfrm>
            <a:off x="571500" y="1373386"/>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Adaptive fsw schedule:</a:t>
            </a:r>
            <a:r>
              <a:rPr lang="en-US" sz="850" dirty="0">
                <a:solidFill>
                  <a:srgbClr val="000000"/>
                </a:solidFill>
                <a:latin typeface="Inter" pitchFamily="34" charset="0"/>
                <a:ea typeface="Inter" pitchFamily="34" charset="-122"/>
                <a:cs typeface="Inter" pitchFamily="34" charset="-120"/>
              </a:rPr>
              <a:t> Achieved a </a:t>
            </a:r>
            <a:r>
              <a:rPr lang="en-US" sz="850" dirty="0">
                <a:solidFill>
                  <a:srgbClr val="000000"/>
                </a:solidFill>
                <a:latin typeface="Inter" pitchFamily="34" charset="0"/>
                <a:ea typeface="Inter" pitchFamily="34" charset="-122"/>
                <a:cs typeface="Inter" pitchFamily="34" charset="-120"/>
              </a:rPr>
              <a:t>75% switching loss reduction</a:t>
            </a:r>
            <a:r>
              <a:rPr lang="en-US" sz="850" dirty="0">
                <a:solidFill>
                  <a:srgbClr val="000000"/>
                </a:solidFill>
                <a:latin typeface="Inter" pitchFamily="34" charset="0"/>
                <a:ea typeface="Inter" pitchFamily="34" charset="-122"/>
                <a:cs typeface="Inter" pitchFamily="34" charset="-120"/>
              </a:rPr>
              <a:t> in urban driving, saving 190W (3-phase) compared to a fixed 20 kHz baseline.</a:t>
            </a:r>
            <a:endParaRPr lang="en-US" sz="800" dirty="0"/>
          </a:p>
        </p:txBody>
      </p:sp>
      <p:sp>
        <p:nvSpPr>
          <p:cNvPr id="10" name="Text 6"/>
          <p:cNvSpPr/>
          <p:nvPr/>
        </p:nvSpPr>
        <p:spPr>
          <a:xfrm>
            <a:off x="571500" y="1510903"/>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Thermal benefit:</a:t>
            </a:r>
            <a:r>
              <a:rPr lang="en-US" sz="850" dirty="0">
                <a:solidFill>
                  <a:srgbClr val="000000"/>
                </a:solidFill>
                <a:latin typeface="Inter" pitchFamily="34" charset="0"/>
                <a:ea typeface="Inter" pitchFamily="34" charset="-122"/>
                <a:cs typeface="Inter" pitchFamily="34" charset="-120"/>
              </a:rPr>
              <a:t> Delivered a </a:t>
            </a:r>
            <a:r>
              <a:rPr lang="en-US" sz="850" dirty="0">
                <a:solidFill>
                  <a:srgbClr val="000000"/>
                </a:solidFill>
                <a:latin typeface="Inter" pitchFamily="34" charset="0"/>
                <a:ea typeface="Inter" pitchFamily="34" charset="-122"/>
                <a:cs typeface="Inter" pitchFamily="34" charset="-120"/>
              </a:rPr>
              <a:t>9.7°C Tj reduction</a:t>
            </a:r>
            <a:r>
              <a:rPr lang="en-US" sz="850" dirty="0">
                <a:solidFill>
                  <a:srgbClr val="000000"/>
                </a:solidFill>
                <a:latin typeface="Inter" pitchFamily="34" charset="0"/>
                <a:ea typeface="Inter" pitchFamily="34" charset="-122"/>
                <a:cs typeface="Inter" pitchFamily="34" charset="-120"/>
              </a:rPr>
              <a:t> and 53% less thermal cycling, directly extending the power module's fatigue lifetime.</a:t>
            </a:r>
            <a:endParaRPr lang="en-US" sz="800" dirty="0"/>
          </a:p>
        </p:txBody>
      </p:sp>
      <p:sp>
        <p:nvSpPr>
          <p:cNvPr id="11" name="Text 7"/>
          <p:cNvSpPr/>
          <p:nvPr/>
        </p:nvSpPr>
        <p:spPr>
          <a:xfrm>
            <a:off x="571500" y="1648420"/>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All metrics validated:</a:t>
            </a:r>
            <a:r>
              <a:rPr lang="en-US" sz="850" dirty="0">
                <a:solidFill>
                  <a:srgbClr val="000000"/>
                </a:solidFill>
                <a:latin typeface="Inter" pitchFamily="34" charset="0"/>
                <a:ea typeface="Inter" pitchFamily="34" charset="-122"/>
                <a:cs typeface="Inter" pitchFamily="34" charset="-120"/>
              </a:rPr>
              <a:t> Time-domain simulation confirmed THD &lt; 2%, FC balance &lt; 0.04V error, and Tj &lt; 54°C with &gt;120°C thermal margin.</a:t>
            </a:r>
            <a:endParaRPr lang="en-US" sz="800" dirty="0"/>
          </a:p>
        </p:txBody>
      </p:sp>
      <p:sp>
        <p:nvSpPr>
          <p:cNvPr id="12" name="Text 8"/>
          <p:cNvSpPr/>
          <p:nvPr/>
        </p:nvSpPr>
        <p:spPr>
          <a:xfrm>
            <a:off x="571500" y="1785938"/>
            <a:ext cx="8001000" cy="137517"/>
          </a:xfrm>
          <a:prstGeom prst="rect">
            <a:avLst/>
          </a:prstGeom>
          <a:noFill/>
          <a:ln/>
        </p:spPr>
        <p:txBody>
          <a:bodyPr wrap="square" lIns="0" tIns="0" rIns="0" bIns="0" rtlCol="0" anchor="t">
            <a:spAutoFit/>
          </a:bodyPr>
          <a:lstStyle/>
          <a:p>
            <a:pPr algn="l" indent="0" marL="0">
              <a:buNone/>
            </a:pPr>
            <a:r>
              <a:rPr lang="en-US" sz="800" b="1" dirty="0">
                <a:solidFill>
                  <a:srgbClr val="000000"/>
                </a:solidFill>
                <a:latin typeface="Inter Bold" pitchFamily="34" charset="0"/>
                <a:ea typeface="Inter Bold" pitchFamily="34" charset="-122"/>
                <a:cs typeface="Inter Bold" pitchFamily="34" charset="-120"/>
              </a:rPr>
              <a:t>Future work:</a:t>
            </a:r>
            <a:r>
              <a:rPr lang="en-US" sz="850" dirty="0">
                <a:solidFill>
                  <a:srgbClr val="000000"/>
                </a:solidFill>
                <a:latin typeface="Inter" pitchFamily="34" charset="0"/>
                <a:ea typeface="Inter" pitchFamily="34" charset="-122"/>
                <a:cs typeface="Inter" pitchFamily="34" charset="-120"/>
              </a:rPr>
              <a:t> Experimental validation of the adaptive schedule and thermal models on a hardware prototype.</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2026-05-04T14:33:43Z</dcterms:created>
  <dcterms:modified xsi:type="dcterms:W3CDTF">2026-05-04T14:33:43Z</dcterms:modified>
</cp:coreProperties>
</file>